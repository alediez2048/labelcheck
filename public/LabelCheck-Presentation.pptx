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6858000" cx="12191675"/>
  <p:notesSz cx="6858000" cy="121916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74EB4E3-7090-4C59-A1C6-0D85AFD94D89}">
  <a:tblStyle styleId="{E74EB4E3-7090-4C59-A1C6-0D85AFD94D8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presentation covers a take-home design exercise: a tool for TTB that verifies alcohol labels against their applications. I will walk through the problem, the design decisions and their trade-offs, a working prototype, and a credible path to production. Throughout I will be explicit about what is prototype scope versus what a real production deployment would require, because that distinction shapes nearly every decision that follows.</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Before the content, one framing point everything depends on. There are two deployment targets and they are deliberately different. For the prototype, the demo, ordinary modern hosting is fine: a small always-on container on a service like Railway, the Anthropic API for the model, and optionally a hosted Postgres for the fuller demo. For production inside the agency, none of that is permitted, because the agency operates behind a firewall in an Azure FedRAMP boundary that blocks outside services. That firewall is exactly what caused a previous vendor's tool to fail. The design consequence is that the architecture makes the model, the database, and the observability each swappable pieces, so moving from the demo stack to the locked-down agency stack is a configuration change at known seams, not a rewrite.</a:t>
            </a:r>
            <a:endParaRPr/>
          </a:p>
        </p:txBody>
      </p:sp>
      <p:sp>
        <p:nvSpPr>
          <p:cNvPr id="27" name="Google Shape;2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core problem is a workload mismatch. TTB reviews about 150,000 label applications a year with only 47 agents. Today the review is fully manual: an agent compares the typed application against the label artwork, field by field, by eye, and by the agency's own estimate about half of an agent's day goes to this routine matching rather than to judgment. Speed is the decisive variable: a prior scanning vendor took 30 to 40 seconds per label and agents abandoned it, so the working assumption is that anything slower than roughly 5 seconds will not be adopted no matter how accurate it is.</a:t>
            </a:r>
            <a:endParaRPr/>
          </a:p>
        </p:txBody>
      </p:sp>
      <p:sp>
        <p:nvSpPr>
          <p:cNvPr id="54" name="Google Shape;5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requirements come from the discovery interviews, not from assumptions. Sarah, the deputy director, set the under-5-second speed bar and noted that importers submit 200 to 300 applications at once in peak season. Marcus in IT established that this is a standalone proof of concept with no COLA integration, and that the firewall blocks external services, which defines the entire production story. Dave, a 28-year agent, made the judgment point: STONE'S THROW and Stone's Throw are the same product, so matching cannot be naive. Jenny, a junior agent, flagged that the government warning must be exact, all caps and bold, and that photos are often imperfect. Each of these became a concrete design decision.</a:t>
            </a:r>
            <a:endParaRPr/>
          </a:p>
        </p:txBody>
      </p:sp>
      <p:sp>
        <p:nvSpPr>
          <p:cNvPr id="76" name="Google Shape;7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central insight is to separate two things that are currently fused: verifying and approving. The agents' pain is not approving, it is the grind of manually verifying the obvious matches. So the tool takes over the verification and leaves the decision with the human. This matters for two reasons. First, it is what makes 47 agents against 150,000 applications tractable, because the tool clears the easy majority and agents only handle exceptions. Second, the agency carries legal liability for what it approves, so a human must stay accountable. This is decision support, not automation.</a:t>
            </a:r>
            <a:endParaRPr/>
          </a:p>
        </p:txBody>
      </p:sp>
      <p:sp>
        <p:nvSpPr>
          <p:cNvPr id="101" name="Google Shape;10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tool verifies every application the moment it arrives and sorts it into one of three lanes. Match means every field agrees and it can be cleared in bulk. Mismatch means a field disagrees, and it is flagged with the exact field that is wrong. Review means the tool is not confident, an unreadable photo or a borderline near-match, so it goes to a person. The design choice behind this: a false match, letting a non-compliant label through, is the costly error in a compliance setting, so the logic is deliberately conservative and anything uncertain is escalated rather than passed. Whether clean matches auto-approve or need a one-click confirmation is a policy setting the agency controls.</a:t>
            </a:r>
            <a:endParaRPr/>
          </a:p>
        </p:txBody>
      </p:sp>
      <p:sp>
        <p:nvSpPr>
          <p:cNvPr id="125" name="Google Shape;12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same flow as the process slide, drawn as a pipeline. On the left, applications enter through COLAs Online, the system of record, across the beverage lines we serve, wine, distilled spirits, malt, and imports, at roughly 150,000 a year. In the middle, LabelCheck verifies each one and sorts it into a lane. On the right, the result flows back into the TTB system: the agent's disposition, either approve and issue the COLA or return for correction, is written back to COLAs Online, which then notifies the applicant and publishes approved certificates to the Public COLA Registry. Rejection is the clock running out, an automatic outcome after the 30-day correction window. The point of the picture is that LabelCheck sits inside the existing pipeline, it does not replace COLAs Online and it never contacts applicants directly.</a:t>
            </a:r>
            <a:endParaRPr/>
          </a:p>
        </p:txBody>
      </p:sp>
      <p:sp>
        <p:nvSpPr>
          <p:cNvPr id="154" name="Google Shape;15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central engineering decision: the model only reads the label, and the comparison is done in ordinary code. The model transcribes the text it sees; it does not decide whether anything matches. That is deliberate, because keeping the matching logic in code makes it testable, tunable, and inspectable by a compliance reviewer, rather than hidden inside a model's judgment. Confidence is also computed in code from how close the match is, not taken from the model, because models are poorly calibrated and will report high confidence on a misread. The hardest single check is the government warning: the exact wording and all-caps are verified strictly in code, but whether the text is bold cannot be read reliably from a photo, so if bold is uncertain the item is sent to a human rather than auto-failed.</a:t>
            </a:r>
            <a:endParaRPr/>
          </a:p>
        </p:txBody>
      </p:sp>
      <p:sp>
        <p:nvSpPr>
          <p:cNvPr id="222" name="Google Shape;22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end-to-end path of an application. It is submitted through COLAs Online, auto-verified by the tool, and triaged into a lane. From there the work splits: a supervisor approves the clean match lane in bulk, while the mismatch and review lanes go to specialist agents. The agent has exactly two decisions, approve, or return for correction. There is no manual reject button, and that is intentional: it matches the real TTB process, where an application becomes rejected automatically if the applicant does not fix it within a 30-day correction window. So rejection happens by the clock running out, not by an agent pressing reject.</a:t>
            </a:r>
            <a:endParaRPr/>
          </a:p>
        </p:txBody>
      </p:sp>
      <p:sp>
        <p:nvSpPr>
          <p:cNvPr id="251" name="Google Shape;25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Adoption depends on this being effortless for agents who are not all comfortable with technology; the benchmark the agency gave was a 73-year-old. So the design uses one obvious action, an inbox-style queue that auto-advances from one exception to the next, and status shown three ways at once, colour, an icon, and text, so it never depends on colour alone. The scoping point: an agent only ever sees the exceptions assigned to them. They never scroll through the clean majority, because those were already cleared.</a:t>
            </a:r>
            <a:endParaRPr/>
          </a:p>
        </p:txBody>
      </p:sp>
      <p:sp>
        <p:nvSpPr>
          <p:cNvPr id="320" name="Google Shape;32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note on these two screens: they are faithful recreations of the working clickable prototype, rebuilt in the slide, not live screenshots, because the build environment had no browser; the real HTML version is clickable if anyone wants to try it. This is the supervisor's view. It shows the day's intake as a funnel, 600 received, auto-verified, 420 clean, 180 exceptions, the shared pool of clean applications they approve in bulk, and the distribution board showing the exceptions spread across the specialist agents with a pool still waiting. This is where the routing becomes visible at a glance.</a:t>
            </a:r>
            <a:endParaRPr/>
          </a:p>
        </p:txBody>
      </p:sp>
      <p:sp>
        <p:nvSpPr>
          <p:cNvPr id="357" name="Google Shape;35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2" name="Google Shape;44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agent's view, again a recreation of the prototype. It is a focused list of the exceptions this agent has pulled from their specialty's pool, with a button to pull the next one. The contrast with the previous screen is the point: an agent sees only their own work, scoped by their role, while a supervisor sees the whole division. It is the same underlying data, presented through a different shell depending on who is logged in.</a:t>
            </a:r>
            <a:endParaRPr/>
          </a:p>
        </p:txBody>
      </p:sp>
      <p:sp>
        <p:nvSpPr>
          <p:cNvPr id="443" name="Google Shape;44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7" name="Google Shape;50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additions that make the product scale. First, beverage specialists: exceptions route to the agent who specializes in that label type, wine, spirits, or malt beverage, with overflow so a thin team never stalls the queue, because a specialist reads their own type faster and more accurately. Second, a read-only assistant in the corner that answers questions, onboards new agents, and summarizes a user's own numbers, but never makes or changes a decision, which keeps it safe in a regulated setting. Third, a knowledge base an admin fills by uploading documents, so the assistant can only answer from approved sources, and the observability layer measures whether it stays grounded in them.</a:t>
            </a:r>
            <a:endParaRPr/>
          </a:p>
        </p:txBody>
      </p:sp>
      <p:sp>
        <p:nvSpPr>
          <p:cNvPr id="508" name="Google Shape;50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9" name="Google Shape;52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most important integration fact. COLAs Online is the official system of record, and it already owns the entire applicant relationship, including all email notifications. Our tool does not replace it. It reads applications from COLAs Online and writes the agent's decision back to it, and COLAs Online handles notifying the applicant and publishing approved certificates. So our tool sends no email and publishes nothing itself. This is verified against TTB's own documentation. It is also the concrete reason production cannot use outside services: everything has to happen inside the agency's boundary.</a:t>
            </a:r>
            <a:endParaRPr/>
          </a:p>
        </p:txBody>
      </p:sp>
      <p:sp>
        <p:nvSpPr>
          <p:cNvPr id="530" name="Google Shape;530;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9" name="Google Shape;55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architecture is deliberately simple, which for a solo, one-week build in a regulated domain is the right call. One language and one codebase, TypeScript and Next.js. The AI model sits behind a swappable adapter, with a mock version so the app runs and is testable offline without calling a real model, and that adapter is the seam where the production in-boundary model later drops in. The default model for the prototype is Claude Sonnet 4.6, and a thin router distributes the exception work. Nothing here is exotic, because the value is in the matching logic and the workflow, not the plumbing.</a:t>
            </a:r>
            <a:endParaRPr/>
          </a:p>
        </p:txBody>
      </p:sp>
      <p:sp>
        <p:nvSpPr>
          <p:cNvPr id="560" name="Google Shape;560;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2" name="Google Shape;592;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production-model question, and it cleanly resolves the firewall problem. Because the model only reads and the code does the comparison, the model is a swappable, benchmarked component. The honest finding: the highest-accuracy open OCR models are mostly Chinese in origin, GLM-OCR, Qwen, and others, which is a real procurement and security flag for a Treasury system even though the weights are openly licensed, so I would not lead with self-hosting one of those. The cleanest answer is that the agency is already on Azure FedRAMP, and Azure's OpenAI vision service is authorized at FedRAMP High and at DoD impact levels 4 and 5, so the model runs inside their boundary, from a US vendor, with no external call. If they want a fully air-gapped option on their own hardware, the provenance-safe US-origin choice is olmOCR from the Allen Institute, which is fully open and auditable, and these models are small and cheap to run. Whichever path, the final model is chosen by testing on real TTB labels, not by trusting a public benchmark.</a:t>
            </a:r>
            <a:endParaRPr/>
          </a:p>
        </p:txBody>
      </p:sp>
      <p:sp>
        <p:nvSpPr>
          <p:cNvPr id="593" name="Google Shape;593;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7" name="Google Shape;61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backbone concerns for a regulated AI system, on one slide. On data: the production store is PostgreSQL, with images kept in object storage, and the load-bearing choice is that the decision and audit records are append-only, an unalterable trail, which is the property a compliance system most needs. The prototype itself stores nothing, because it carries applicant personal data and IT asked that nothing sensitive be stored. On observability: this is how we prove the AI is accurate rather than assume it. We trace every verification, run the model against a known-answer test set drawn from the Public COLA Registry, and, most usefully, treat every time an agent overrides the tool as a free expert-labeled example that continuously measures and improves accuracy. The headline metric is the false-negative rate, how often a genuinely bad label slips through, because that is the costly error. The assistant has hard guardrails: it must never leak another user's data, and it must stay grounded in approved sources. The next slide details exactly how that test set is built and scored.</a:t>
            </a:r>
            <a:endParaRPr/>
          </a:p>
        </p:txBody>
      </p:sp>
      <p:sp>
        <p:nvSpPr>
          <p:cNvPr id="618" name="Google Shape;618;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2" name="Google Shape;642;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is how we prove the tool actually finds errors instead of assuming it does. The test data comes from TTB's own Public COLA Registry, which is free, public, and holds every approved label back to 1999. The catch is that the registry contains only approved applications, where the form and the label already agree, so every real case we pull is a should-pass case. That gives us the first bucket: feed a few hundred real approved pairs and the tool should clear nearly all of them, which measures the false-positive rate, how often it cries wolf on a clean label. To test that it catches problems, we manufacture the second bucket: take real labels and either change a form field so it disagrees with the artwork, or generate a defective label with an AI image tool, and we record the planted defect as the known correct answer. Because every case is labeled, an offline harness scores the tool automatically on lane accuracy, per-field precision and recall, warning-check accuracy, and latency. The number that matters most is the false-negative rate, how often a genuinely bad label slips through, because that is the costly error in a compliance setting. For the demo itself the most convincing version is a single mixed batch, roughly a hundred and fifty real approved applications plus fifty planted defects, run at once: the tool groups them by lane and then we show the scorecard, of the fifty planted errors it caught forty-eight, and here are the two it missed and why. Once the system is live, every time an agent overrides the tool becomes a fresh expert-labeled example, so the test set grows for free. The one honest open item is that the exact accuracy bar, the error rate the agency will accept, is theirs to set, and this harness is how we then hold the tool to it.</a:t>
            </a:r>
            <a:endParaRPr/>
          </a:p>
        </p:txBody>
      </p:sp>
      <p:sp>
        <p:nvSpPr>
          <p:cNvPr id="643" name="Google Shape;643;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0" name="Google Shape;670;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Four hard constraints shaped everything: the 5-second speed limit, accessibility for an older workforce, an in-boundary model for production, and storing no personal data in the prototype. The requirements are written as testable acceptance criteria, and they map to a test set, real approved label-and-application pairs that should pass, and deliberately broken ones that should fail. One honest open item: the exact accuracy bar, what error rate is acceptable, is a decision for the agency, and the observability framework is how that bar is then enforced.</a:t>
            </a:r>
            <a:endParaRPr/>
          </a:p>
        </p:txBody>
      </p:sp>
      <p:sp>
        <p:nvSpPr>
          <p:cNvPr id="671" name="Google Shape;671;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2" name="Google Shape;702;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table is the set of genuine trade-offs, each recorded as a decision record. Model reads and code decides: we accept more code in exchange for testable logic. Confidence computed in code: because model self-confidence is unreliable. Full-resolution images: this costs more per call, but it is necessary because the government warning is the smallest text on the label and shrinking the image would make the most important check illegible, and that is the one a future engineer is most likely to optimize away, so it is worth defending. Pull-based routing, which self-balances across agents. And no data storage in the prototype, per the privacy instruction. Each row names the cost we accepted, not just the choice.</a:t>
            </a:r>
            <a:endParaRPr/>
          </a:p>
        </p:txBody>
      </p:sp>
      <p:sp>
        <p:nvSpPr>
          <p:cNvPr id="703" name="Google Shape;703;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3" name="Google Shape;713;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numbers are deliberately asymmetric. Running the AI costs on the order of 3,800 dollars a year at full national volume, essentially a rounding error. Against that, the agent time saved is worth roughly 690,000 to 960,000 dollars a year, about seven agents' worth of capacity freed for higher-value work. So the technology is effectively free and the entire return is reclaimed labor. The honest caveats: these savings depend on agents adopting the tool, on real-world accuracy, and on how aggressively the agency lets clean matches auto-clear. The salary figure is grounded at roughly a federal GS-12 with locality.</a:t>
            </a:r>
            <a:endParaRPr/>
          </a:p>
        </p:txBody>
      </p:sp>
      <p:sp>
        <p:nvSpPr>
          <p:cNvPr id="714" name="Google Shape;714;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7" name="Google Shape;73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path forward in three steps. Now is the prototype: standalone, storing nothing, with the core verification and the workflow. Next is the obvious hardening: batch handling for peak season, robustness to bad photos, and the evaluation harness. Later is the production move into the agency's Azure boundary: the in-boundary model, the connection to COLA, real logins and audit, the governed database, and self-hosted observability. The key message is that because the architecture isolated the seams, each later item is additive, attached at a known interface rather than rebuilt. This ties back to the framing slide at the start.</a:t>
            </a:r>
            <a:endParaRPr/>
          </a:p>
        </p:txBody>
      </p:sp>
      <p:sp>
        <p:nvSpPr>
          <p:cNvPr id="738" name="Google Shape;738;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7" name="Google Shape;76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summarize in one line: this is a second set of eyes that does the boring matching in seconds, so agents can focus on judgment. If I were building it for real, I would build the core single-application verification flow first and get it solid, then add batch and imperfect-image handling, because a working core beats an ambitious but incomplete demo. And there are a few questions I would want answered by the team before going further: which beverage types to prioritize, the exact warning text to match, the acceptable accuracy bar, and whether even the prototype should run inside the agency boundary. Happy to take questions.</a:t>
            </a:r>
            <a:endParaRPr/>
          </a:p>
        </p:txBody>
      </p:sp>
      <p:sp>
        <p:nvSpPr>
          <p:cNvPr id="768" name="Google Shape;768;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233B"/>
        </a:solidFill>
      </p:bgPr>
    </p:bg>
    <p:spTree>
      <p:nvGrpSpPr>
        <p:cNvPr id="15" name="Shape 15"/>
        <p:cNvGrpSpPr/>
        <p:nvPr/>
      </p:nvGrpSpPr>
      <p:grpSpPr>
        <a:xfrm>
          <a:off x="0" y="0"/>
          <a:ext cx="0" cy="0"/>
          <a:chOff x="0" y="0"/>
          <a:chExt cx="0" cy="0"/>
        </a:xfrm>
      </p:grpSpPr>
      <p:sp>
        <p:nvSpPr>
          <p:cNvPr id="16" name="Google Shape;16;p3"/>
          <p:cNvSpPr/>
          <p:nvPr/>
        </p:nvSpPr>
        <p:spPr>
          <a:xfrm>
            <a:off x="0" y="0"/>
            <a:ext cx="256032" cy="6858000"/>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8229600" y="640080"/>
            <a:ext cx="310896" cy="310896"/>
          </a:xfrm>
          <a:prstGeom prst="ellipse">
            <a:avLst/>
          </a:prstGeom>
          <a:solidFill>
            <a:srgbClr val="1580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8796528" y="640080"/>
            <a:ext cx="310896" cy="310896"/>
          </a:xfrm>
          <a:prstGeom prst="ellipse">
            <a:avLst/>
          </a:prstGeom>
          <a:solidFill>
            <a:srgbClr val="B45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9363456" y="640080"/>
            <a:ext cx="310896" cy="310896"/>
          </a:xfrm>
          <a:prstGeom prst="ellipse">
            <a:avLst/>
          </a:prstGeom>
          <a:solidFill>
            <a:srgbClr val="B91C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a:off x="868680" y="1554480"/>
            <a:ext cx="10058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FB4CE"/>
              </a:buClr>
              <a:buSzPts val="1300"/>
              <a:buFont typeface="Calibri"/>
              <a:buNone/>
            </a:pPr>
            <a:r>
              <a:rPr b="1" i="0" lang="en-US" sz="1300" u="none" cap="none" strike="noStrike">
                <a:solidFill>
                  <a:srgbClr val="9FB4CE"/>
                </a:solidFill>
                <a:latin typeface="Calibri"/>
                <a:ea typeface="Calibri"/>
                <a:cs typeface="Calibri"/>
                <a:sym typeface="Calibri"/>
              </a:rPr>
              <a:t>TTB · CERTIFICATE OF LABEL APPROVAL</a:t>
            </a:r>
            <a:endParaRPr b="0" i="0" sz="1300" u="none" cap="none" strike="noStrike">
              <a:solidFill>
                <a:schemeClr val="dk1"/>
              </a:solidFill>
              <a:latin typeface="Calibri"/>
              <a:ea typeface="Calibri"/>
              <a:cs typeface="Calibri"/>
              <a:sym typeface="Calibri"/>
            </a:endParaRPr>
          </a:p>
        </p:txBody>
      </p:sp>
      <p:sp>
        <p:nvSpPr>
          <p:cNvPr id="21" name="Google Shape;21;p3"/>
          <p:cNvSpPr/>
          <p:nvPr/>
        </p:nvSpPr>
        <p:spPr>
          <a:xfrm>
            <a:off x="850392" y="2011680"/>
            <a:ext cx="10515600" cy="1737360"/>
          </a:xfrm>
          <a:prstGeom prst="rect">
            <a:avLst/>
          </a:prstGeom>
          <a:noFill/>
          <a:ln>
            <a:noFill/>
          </a:ln>
        </p:spPr>
        <p:txBody>
          <a:bodyPr anchorCtr="0" anchor="ctr" bIns="0" lIns="0" spcFirstLastPara="1" rIns="0" wrap="square" tIns="0">
            <a:noAutofit/>
          </a:bodyPr>
          <a:lstStyle/>
          <a:p>
            <a:pPr indent="0" lvl="0" marL="0" marR="0" rtl="0" algn="l">
              <a:lnSpc>
                <a:spcPct val="98000"/>
              </a:lnSpc>
              <a:spcBef>
                <a:spcPts val="0"/>
              </a:spcBef>
              <a:spcAft>
                <a:spcPts val="0"/>
              </a:spcAft>
              <a:buClr>
                <a:srgbClr val="FFFFFF"/>
              </a:buClr>
              <a:buSzPts val="5000"/>
              <a:buFont typeface="Georgia"/>
              <a:buNone/>
            </a:pPr>
            <a:r>
              <a:rPr b="1" i="0" lang="en-US" sz="5000" u="none" cap="none" strike="noStrike">
                <a:solidFill>
                  <a:srgbClr val="FFFFFF"/>
                </a:solidFill>
                <a:latin typeface="Georgia"/>
                <a:ea typeface="Georgia"/>
                <a:cs typeface="Georgia"/>
                <a:sym typeface="Georgia"/>
              </a:rPr>
              <a:t>AI-Powered Alcohol</a:t>
            </a:r>
            <a:endParaRPr b="0" i="0" sz="5000" u="none" cap="none" strike="noStrike">
              <a:solidFill>
                <a:schemeClr val="dk1"/>
              </a:solidFill>
              <a:latin typeface="Calibri"/>
              <a:ea typeface="Calibri"/>
              <a:cs typeface="Calibri"/>
              <a:sym typeface="Calibri"/>
            </a:endParaRPr>
          </a:p>
          <a:p>
            <a:pPr indent="0" lvl="0" marL="0" marR="0" rtl="0" algn="l">
              <a:lnSpc>
                <a:spcPct val="98000"/>
              </a:lnSpc>
              <a:spcBef>
                <a:spcPts val="0"/>
              </a:spcBef>
              <a:spcAft>
                <a:spcPts val="0"/>
              </a:spcAft>
              <a:buClr>
                <a:srgbClr val="FFFFFF"/>
              </a:buClr>
              <a:buSzPts val="5000"/>
              <a:buFont typeface="Georgia"/>
              <a:buNone/>
            </a:pPr>
            <a:r>
              <a:rPr b="1" i="0" lang="en-US" sz="5000" u="none" cap="none" strike="noStrike">
                <a:solidFill>
                  <a:srgbClr val="FFFFFF"/>
                </a:solidFill>
                <a:latin typeface="Georgia"/>
                <a:ea typeface="Georgia"/>
                <a:cs typeface="Georgia"/>
                <a:sym typeface="Georgia"/>
              </a:rPr>
              <a:t>Label Verification</a:t>
            </a:r>
            <a:endParaRPr b="0" i="0" sz="5000" u="none" cap="none" strike="noStrike">
              <a:solidFill>
                <a:schemeClr val="dk1"/>
              </a:solidFill>
              <a:latin typeface="Calibri"/>
              <a:ea typeface="Calibri"/>
              <a:cs typeface="Calibri"/>
              <a:sym typeface="Calibri"/>
            </a:endParaRPr>
          </a:p>
        </p:txBody>
      </p:sp>
      <p:sp>
        <p:nvSpPr>
          <p:cNvPr id="22" name="Google Shape;22;p3"/>
          <p:cNvSpPr/>
          <p:nvPr/>
        </p:nvSpPr>
        <p:spPr>
          <a:xfrm>
            <a:off x="868680" y="3977640"/>
            <a:ext cx="9601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8E8"/>
              </a:buClr>
              <a:buSzPts val="1700"/>
              <a:buFont typeface="Calibri"/>
              <a:buNone/>
            </a:pPr>
            <a:r>
              <a:rPr b="0" i="0" lang="en-US" sz="1700" u="none" cap="none" strike="noStrike">
                <a:solidFill>
                  <a:srgbClr val="CBD8E8"/>
                </a:solidFill>
                <a:latin typeface="Calibri"/>
                <a:ea typeface="Calibri"/>
                <a:cs typeface="Calibri"/>
                <a:sym typeface="Calibri"/>
              </a:rPr>
              <a:t>Verifying that a label matches its application — in seconds, at agency scale.</a:t>
            </a:r>
            <a:endParaRPr b="0" i="0" sz="1700" u="none" cap="none" strike="noStrike">
              <a:solidFill>
                <a:schemeClr val="dk1"/>
              </a:solidFill>
              <a:latin typeface="Calibri"/>
              <a:ea typeface="Calibri"/>
              <a:cs typeface="Calibri"/>
              <a:sym typeface="Calibri"/>
            </a:endParaRPr>
          </a:p>
        </p:txBody>
      </p:sp>
      <p:sp>
        <p:nvSpPr>
          <p:cNvPr id="23" name="Google Shape;23;p3"/>
          <p:cNvSpPr/>
          <p:nvPr/>
        </p:nvSpPr>
        <p:spPr>
          <a:xfrm>
            <a:off x="868680" y="5212080"/>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Approach &amp; Design</a:t>
            </a:r>
            <a:r>
              <a:rPr b="0" i="0" lang="en-US" sz="1400" u="none" cap="none" strike="noStrike">
                <a:solidFill>
                  <a:srgbClr val="9FB4CE"/>
                </a:solidFill>
                <a:latin typeface="Calibri"/>
                <a:ea typeface="Calibri"/>
                <a:cs typeface="Calibri"/>
                <a:sym typeface="Calibri"/>
              </a:rPr>
              <a:t>     Alex  ·  June 2026</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28" name="Shape 28"/>
        <p:cNvGrpSpPr/>
        <p:nvPr/>
      </p:nvGrpSpPr>
      <p:grpSpPr>
        <a:xfrm>
          <a:off x="0" y="0"/>
          <a:ext cx="0" cy="0"/>
          <a:chOff x="0" y="0"/>
          <a:chExt cx="0" cy="0"/>
        </a:xfrm>
      </p:grpSpPr>
      <p:sp>
        <p:nvSpPr>
          <p:cNvPr id="29" name="Google Shape;29;p4"/>
          <p:cNvSpPr/>
          <p:nvPr/>
        </p:nvSpPr>
        <p:spPr>
          <a:xfrm>
            <a:off x="685800" y="457200"/>
            <a:ext cx="107899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63EB"/>
              </a:buClr>
              <a:buSzPts val="1200"/>
              <a:buFont typeface="Calibri"/>
              <a:buNone/>
            </a:pPr>
            <a:r>
              <a:rPr b="1" i="0" lang="en-US" sz="1200" u="none" cap="none" strike="noStrike">
                <a:solidFill>
                  <a:srgbClr val="2563EB"/>
                </a:solidFill>
                <a:latin typeface="Calibri"/>
                <a:ea typeface="Calibri"/>
                <a:cs typeface="Calibri"/>
                <a:sym typeface="Calibri"/>
              </a:rPr>
              <a:t>READ THIS FIRST</a:t>
            </a:r>
            <a:endParaRPr b="0" i="0" sz="1200" u="none" cap="none" strike="noStrike">
              <a:solidFill>
                <a:schemeClr val="dk1"/>
              </a:solidFill>
              <a:latin typeface="Calibri"/>
              <a:ea typeface="Calibri"/>
              <a:cs typeface="Calibri"/>
              <a:sym typeface="Calibri"/>
            </a:endParaRPr>
          </a:p>
        </p:txBody>
      </p:sp>
      <p:sp>
        <p:nvSpPr>
          <p:cNvPr id="30" name="Google Shape;30;p4"/>
          <p:cNvSpPr/>
          <p:nvPr/>
        </p:nvSpPr>
        <p:spPr>
          <a:xfrm>
            <a:off x="685800" y="749808"/>
            <a:ext cx="107899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Georgia"/>
              <a:buNone/>
            </a:pPr>
            <a:r>
              <a:rPr b="1" i="0" lang="en-US" sz="3200" u="none" cap="none" strike="noStrike">
                <a:solidFill>
                  <a:srgbClr val="0F172A"/>
                </a:solidFill>
                <a:latin typeface="Georgia"/>
                <a:ea typeface="Georgia"/>
                <a:cs typeface="Georgia"/>
                <a:sym typeface="Georgia"/>
              </a:rPr>
              <a:t>A prototype now, an in-boundary system later</a:t>
            </a:r>
            <a:endParaRPr b="0" i="0" sz="3200" u="none" cap="none" strike="noStrike">
              <a:solidFill>
                <a:schemeClr val="dk1"/>
              </a:solidFill>
              <a:latin typeface="Calibri"/>
              <a:ea typeface="Calibri"/>
              <a:cs typeface="Calibri"/>
              <a:sym typeface="Calibri"/>
            </a:endParaRPr>
          </a:p>
        </p:txBody>
      </p:sp>
      <p:sp>
        <p:nvSpPr>
          <p:cNvPr id="31" name="Google Shape;31;p4"/>
          <p:cNvSpPr/>
          <p:nvPr/>
        </p:nvSpPr>
        <p:spPr>
          <a:xfrm>
            <a:off x="685800" y="1627632"/>
            <a:ext cx="10789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400"/>
              <a:buFont typeface="Calibri"/>
              <a:buNone/>
            </a:pPr>
            <a:r>
              <a:rPr b="0" i="0" lang="en-US" sz="1400" u="none" cap="none" strike="noStrike">
                <a:solidFill>
                  <a:srgbClr val="5B6B7F"/>
                </a:solidFill>
                <a:latin typeface="Calibri"/>
                <a:ea typeface="Calibri"/>
                <a:cs typeface="Calibri"/>
                <a:sym typeface="Calibri"/>
              </a:rPr>
              <a:t>The demo stack and the production stack are deliberately different, because the agency's firewall and FedRAMP boundary rule out public cloud services in production.</a:t>
            </a:r>
            <a:endParaRPr b="0" i="0" sz="1400" u="none" cap="none" strike="noStrike">
              <a:solidFill>
                <a:schemeClr val="dk1"/>
              </a:solidFill>
              <a:latin typeface="Calibri"/>
              <a:ea typeface="Calibri"/>
              <a:cs typeface="Calibri"/>
              <a:sym typeface="Calibri"/>
            </a:endParaRPr>
          </a:p>
        </p:txBody>
      </p:sp>
      <p:sp>
        <p:nvSpPr>
          <p:cNvPr id="32" name="Google Shape;32;p4"/>
          <p:cNvSpPr/>
          <p:nvPr/>
        </p:nvSpPr>
        <p:spPr>
          <a:xfrm>
            <a:off x="685800" y="2240280"/>
            <a:ext cx="5166360" cy="320040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a:off x="685800" y="2240280"/>
            <a:ext cx="5166360" cy="109728"/>
          </a:xfrm>
          <a:prstGeom prst="rect">
            <a:avLst/>
          </a:prstGeom>
          <a:solidFill>
            <a:srgbClr val="1580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1005840" y="2487168"/>
            <a:ext cx="4572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803D"/>
              </a:buClr>
              <a:buSzPts val="1200"/>
              <a:buFont typeface="Calibri"/>
              <a:buNone/>
            </a:pPr>
            <a:r>
              <a:rPr b="1" i="0" lang="en-US" sz="1200" u="none" cap="none" strike="noStrike">
                <a:solidFill>
                  <a:srgbClr val="15803D"/>
                </a:solidFill>
                <a:latin typeface="Calibri"/>
                <a:ea typeface="Calibri"/>
                <a:cs typeface="Calibri"/>
                <a:sym typeface="Calibri"/>
              </a:rPr>
              <a:t>PROTOTYPE · THE TAKE-HOME</a:t>
            </a:r>
            <a:endParaRPr b="0" i="0" sz="1200" u="none" cap="none" strike="noStrike">
              <a:solidFill>
                <a:schemeClr val="dk1"/>
              </a:solidFill>
              <a:latin typeface="Calibri"/>
              <a:ea typeface="Calibri"/>
              <a:cs typeface="Calibri"/>
              <a:sym typeface="Calibri"/>
            </a:endParaRPr>
          </a:p>
        </p:txBody>
      </p:sp>
      <p:sp>
        <p:nvSpPr>
          <p:cNvPr id="35" name="Google Shape;35;p4"/>
          <p:cNvSpPr/>
          <p:nvPr/>
        </p:nvSpPr>
        <p:spPr>
          <a:xfrm>
            <a:off x="1005840" y="2788920"/>
            <a:ext cx="4572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800"/>
              <a:buFont typeface="Georgia"/>
              <a:buNone/>
            </a:pPr>
            <a:r>
              <a:rPr b="1" i="0" lang="en-US" sz="1800" u="none" cap="none" strike="noStrike">
                <a:solidFill>
                  <a:srgbClr val="0F172A"/>
                </a:solidFill>
                <a:latin typeface="Georgia"/>
                <a:ea typeface="Georgia"/>
                <a:cs typeface="Georgia"/>
                <a:sym typeface="Georgia"/>
              </a:rPr>
              <a:t>Modern indie stack</a:t>
            </a:r>
            <a:endParaRPr b="0" i="0" sz="1800" u="none" cap="none" strike="noStrike">
              <a:solidFill>
                <a:schemeClr val="dk1"/>
              </a:solidFill>
              <a:latin typeface="Calibri"/>
              <a:ea typeface="Calibri"/>
              <a:cs typeface="Calibri"/>
              <a:sym typeface="Calibri"/>
            </a:endParaRPr>
          </a:p>
        </p:txBody>
      </p:sp>
      <p:sp>
        <p:nvSpPr>
          <p:cNvPr id="36" name="Google Shape;36;p4"/>
          <p:cNvSpPr/>
          <p:nvPr/>
        </p:nvSpPr>
        <p:spPr>
          <a:xfrm>
            <a:off x="1005840" y="3310128"/>
            <a:ext cx="4572000" cy="457200"/>
          </a:xfrm>
          <a:prstGeom prst="rect">
            <a:avLst/>
          </a:prstGeom>
          <a:noFill/>
          <a:ln>
            <a:noFill/>
          </a:ln>
        </p:spPr>
        <p:txBody>
          <a:bodyPr anchorCtr="0" anchor="ctr" bIns="0" lIns="0" spcFirstLastPara="1" rIns="0" wrap="square" tIns="0">
            <a:noAutofit/>
          </a:bodyPr>
          <a:lstStyle/>
          <a:p>
            <a:pPr indent="-165100" lvl="0" marL="165100" marR="0" rtl="0" algn="l">
              <a:spcBef>
                <a:spcPts val="0"/>
              </a:spcBef>
              <a:spcAft>
                <a:spcPts val="0"/>
              </a:spcAft>
              <a:buClr>
                <a:srgbClr val="5B6B7F"/>
              </a:buClr>
              <a:buSzPts val="1300"/>
              <a:buFont typeface="Calibri"/>
              <a:buChar char="•"/>
            </a:pPr>
            <a:r>
              <a:rPr b="0" i="0" lang="en-US" sz="1300" u="none" cap="none" strike="noStrike">
                <a:solidFill>
                  <a:srgbClr val="5B6B7F"/>
                </a:solidFill>
                <a:latin typeface="Calibri"/>
                <a:ea typeface="Calibri"/>
                <a:cs typeface="Calibri"/>
                <a:sym typeface="Calibri"/>
              </a:rPr>
              <a:t>Warm container on Railway / Render / Fly</a:t>
            </a:r>
            <a:endParaRPr b="0" i="0" sz="1300" u="none" cap="none" strike="noStrike">
              <a:solidFill>
                <a:schemeClr val="dk1"/>
              </a:solidFill>
              <a:latin typeface="Calibri"/>
              <a:ea typeface="Calibri"/>
              <a:cs typeface="Calibri"/>
              <a:sym typeface="Calibri"/>
            </a:endParaRPr>
          </a:p>
        </p:txBody>
      </p:sp>
      <p:sp>
        <p:nvSpPr>
          <p:cNvPr id="37" name="Google Shape;37;p4"/>
          <p:cNvSpPr/>
          <p:nvPr/>
        </p:nvSpPr>
        <p:spPr>
          <a:xfrm>
            <a:off x="1005840" y="3813048"/>
            <a:ext cx="4572000" cy="457200"/>
          </a:xfrm>
          <a:prstGeom prst="rect">
            <a:avLst/>
          </a:prstGeom>
          <a:noFill/>
          <a:ln>
            <a:noFill/>
          </a:ln>
        </p:spPr>
        <p:txBody>
          <a:bodyPr anchorCtr="0" anchor="ctr" bIns="0" lIns="0" spcFirstLastPara="1" rIns="0" wrap="square" tIns="0">
            <a:noAutofit/>
          </a:bodyPr>
          <a:lstStyle/>
          <a:p>
            <a:pPr indent="-165100" lvl="0" marL="165100" marR="0" rtl="0" algn="l">
              <a:spcBef>
                <a:spcPts val="0"/>
              </a:spcBef>
              <a:spcAft>
                <a:spcPts val="0"/>
              </a:spcAft>
              <a:buClr>
                <a:srgbClr val="5B6B7F"/>
              </a:buClr>
              <a:buSzPts val="1300"/>
              <a:buFont typeface="Calibri"/>
              <a:buChar char="•"/>
            </a:pPr>
            <a:r>
              <a:rPr b="0" i="0" lang="en-US" sz="1300" u="none" cap="none" strike="noStrike">
                <a:solidFill>
                  <a:srgbClr val="5B6B7F"/>
                </a:solidFill>
                <a:latin typeface="Calibri"/>
                <a:ea typeface="Calibri"/>
                <a:cs typeface="Calibri"/>
                <a:sym typeface="Calibri"/>
              </a:rPr>
              <a:t>Supabase (Postgres + pgvector) for the full demo</a:t>
            </a:r>
            <a:endParaRPr b="0" i="0" sz="1300" u="none" cap="none" strike="noStrike">
              <a:solidFill>
                <a:schemeClr val="dk1"/>
              </a:solidFill>
              <a:latin typeface="Calibri"/>
              <a:ea typeface="Calibri"/>
              <a:cs typeface="Calibri"/>
              <a:sym typeface="Calibri"/>
            </a:endParaRPr>
          </a:p>
        </p:txBody>
      </p:sp>
      <p:sp>
        <p:nvSpPr>
          <p:cNvPr id="38" name="Google Shape;38;p4"/>
          <p:cNvSpPr/>
          <p:nvPr/>
        </p:nvSpPr>
        <p:spPr>
          <a:xfrm>
            <a:off x="1005840" y="4315968"/>
            <a:ext cx="4572000" cy="457200"/>
          </a:xfrm>
          <a:prstGeom prst="rect">
            <a:avLst/>
          </a:prstGeom>
          <a:noFill/>
          <a:ln>
            <a:noFill/>
          </a:ln>
        </p:spPr>
        <p:txBody>
          <a:bodyPr anchorCtr="0" anchor="ctr" bIns="0" lIns="0" spcFirstLastPara="1" rIns="0" wrap="square" tIns="0">
            <a:noAutofit/>
          </a:bodyPr>
          <a:lstStyle/>
          <a:p>
            <a:pPr indent="-165100" lvl="0" marL="165100" marR="0" rtl="0" algn="l">
              <a:spcBef>
                <a:spcPts val="0"/>
              </a:spcBef>
              <a:spcAft>
                <a:spcPts val="0"/>
              </a:spcAft>
              <a:buClr>
                <a:srgbClr val="5B6B7F"/>
              </a:buClr>
              <a:buSzPts val="1300"/>
              <a:buFont typeface="Calibri"/>
              <a:buChar char="•"/>
            </a:pPr>
            <a:r>
              <a:rPr b="0" i="0" lang="en-US" sz="1300" u="none" cap="none" strike="noStrike">
                <a:solidFill>
                  <a:srgbClr val="5B6B7F"/>
                </a:solidFill>
                <a:latin typeface="Calibri"/>
                <a:ea typeface="Calibri"/>
                <a:cs typeface="Calibri"/>
                <a:sym typeface="Calibri"/>
              </a:rPr>
              <a:t>Anthropic API for the model</a:t>
            </a:r>
            <a:endParaRPr b="0" i="0" sz="1300" u="none" cap="none" strike="noStrike">
              <a:solidFill>
                <a:schemeClr val="dk1"/>
              </a:solidFill>
              <a:latin typeface="Calibri"/>
              <a:ea typeface="Calibri"/>
              <a:cs typeface="Calibri"/>
              <a:sym typeface="Calibri"/>
            </a:endParaRPr>
          </a:p>
        </p:txBody>
      </p:sp>
      <p:sp>
        <p:nvSpPr>
          <p:cNvPr id="39" name="Google Shape;39;p4"/>
          <p:cNvSpPr/>
          <p:nvPr/>
        </p:nvSpPr>
        <p:spPr>
          <a:xfrm>
            <a:off x="1005840" y="4818888"/>
            <a:ext cx="4572000" cy="457200"/>
          </a:xfrm>
          <a:prstGeom prst="rect">
            <a:avLst/>
          </a:prstGeom>
          <a:noFill/>
          <a:ln>
            <a:noFill/>
          </a:ln>
        </p:spPr>
        <p:txBody>
          <a:bodyPr anchorCtr="0" anchor="ctr" bIns="0" lIns="0" spcFirstLastPara="1" rIns="0" wrap="square" tIns="0">
            <a:noAutofit/>
          </a:bodyPr>
          <a:lstStyle/>
          <a:p>
            <a:pPr indent="-165100" lvl="0" marL="165100" marR="0" rtl="0" algn="l">
              <a:spcBef>
                <a:spcPts val="0"/>
              </a:spcBef>
              <a:spcAft>
                <a:spcPts val="0"/>
              </a:spcAft>
              <a:buClr>
                <a:srgbClr val="5B6B7F"/>
              </a:buClr>
              <a:buSzPts val="1300"/>
              <a:buFont typeface="Calibri"/>
              <a:buChar char="•"/>
            </a:pPr>
            <a:r>
              <a:rPr b="0" i="0" lang="en-US" sz="1300" u="none" cap="none" strike="noStrike">
                <a:solidFill>
                  <a:srgbClr val="5B6B7F"/>
                </a:solidFill>
                <a:latin typeface="Calibri"/>
                <a:ea typeface="Calibri"/>
                <a:cs typeface="Calibri"/>
                <a:sym typeface="Calibri"/>
              </a:rPr>
              <a:t>Shared-passcode gate, nothing sensitive stored</a:t>
            </a:r>
            <a:endParaRPr b="0" i="0" sz="1300" u="none" cap="none" strike="noStrike">
              <a:solidFill>
                <a:schemeClr val="dk1"/>
              </a:solidFill>
              <a:latin typeface="Calibri"/>
              <a:ea typeface="Calibri"/>
              <a:cs typeface="Calibri"/>
              <a:sym typeface="Calibri"/>
            </a:endParaRPr>
          </a:p>
        </p:txBody>
      </p:sp>
      <p:sp>
        <p:nvSpPr>
          <p:cNvPr id="40" name="Google Shape;40;p4"/>
          <p:cNvSpPr/>
          <p:nvPr/>
        </p:nvSpPr>
        <p:spPr>
          <a:xfrm>
            <a:off x="6126480" y="2240280"/>
            <a:ext cx="5166360" cy="320040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a:off x="6126480" y="2240280"/>
            <a:ext cx="5166360" cy="109728"/>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a:off x="6446520" y="2487168"/>
            <a:ext cx="4572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A5E"/>
              </a:buClr>
              <a:buSzPts val="1200"/>
              <a:buFont typeface="Calibri"/>
              <a:buNone/>
            </a:pPr>
            <a:r>
              <a:rPr b="1" i="0" lang="en-US" sz="1200" u="none" cap="none" strike="noStrike">
                <a:solidFill>
                  <a:srgbClr val="1C3A5E"/>
                </a:solidFill>
                <a:latin typeface="Calibri"/>
                <a:ea typeface="Calibri"/>
                <a:cs typeface="Calibri"/>
                <a:sym typeface="Calibri"/>
              </a:rPr>
              <a:t>PRODUCTION · IN THE AGENCY</a:t>
            </a:r>
            <a:endParaRPr b="0" i="0" sz="1200" u="none" cap="none" strike="noStrike">
              <a:solidFill>
                <a:schemeClr val="dk1"/>
              </a:solidFill>
              <a:latin typeface="Calibri"/>
              <a:ea typeface="Calibri"/>
              <a:cs typeface="Calibri"/>
              <a:sym typeface="Calibri"/>
            </a:endParaRPr>
          </a:p>
        </p:txBody>
      </p:sp>
      <p:sp>
        <p:nvSpPr>
          <p:cNvPr id="43" name="Google Shape;43;p4"/>
          <p:cNvSpPr/>
          <p:nvPr/>
        </p:nvSpPr>
        <p:spPr>
          <a:xfrm>
            <a:off x="6446520" y="2788920"/>
            <a:ext cx="4572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800"/>
              <a:buFont typeface="Georgia"/>
              <a:buNone/>
            </a:pPr>
            <a:r>
              <a:rPr b="1" i="0" lang="en-US" sz="1800" u="none" cap="none" strike="noStrike">
                <a:solidFill>
                  <a:srgbClr val="0F172A"/>
                </a:solidFill>
                <a:latin typeface="Georgia"/>
                <a:ea typeface="Georgia"/>
                <a:cs typeface="Georgia"/>
                <a:sym typeface="Georgia"/>
              </a:rPr>
              <a:t>In-boundary on Azure (FedRAMP)</a:t>
            </a:r>
            <a:endParaRPr b="0" i="0" sz="1800" u="none" cap="none" strike="noStrike">
              <a:solidFill>
                <a:schemeClr val="dk1"/>
              </a:solidFill>
              <a:latin typeface="Calibri"/>
              <a:ea typeface="Calibri"/>
              <a:cs typeface="Calibri"/>
              <a:sym typeface="Calibri"/>
            </a:endParaRPr>
          </a:p>
        </p:txBody>
      </p:sp>
      <p:sp>
        <p:nvSpPr>
          <p:cNvPr id="44" name="Google Shape;44;p4"/>
          <p:cNvSpPr/>
          <p:nvPr/>
        </p:nvSpPr>
        <p:spPr>
          <a:xfrm>
            <a:off x="6446520" y="3310128"/>
            <a:ext cx="4572000" cy="457200"/>
          </a:xfrm>
          <a:prstGeom prst="rect">
            <a:avLst/>
          </a:prstGeom>
          <a:noFill/>
          <a:ln>
            <a:noFill/>
          </a:ln>
        </p:spPr>
        <p:txBody>
          <a:bodyPr anchorCtr="0" anchor="ctr" bIns="0" lIns="0" spcFirstLastPara="1" rIns="0" wrap="square" tIns="0">
            <a:noAutofit/>
          </a:bodyPr>
          <a:lstStyle/>
          <a:p>
            <a:pPr indent="-165100" lvl="0" marL="165100" marR="0" rtl="0" algn="l">
              <a:spcBef>
                <a:spcPts val="0"/>
              </a:spcBef>
              <a:spcAft>
                <a:spcPts val="0"/>
              </a:spcAft>
              <a:buClr>
                <a:srgbClr val="5B6B7F"/>
              </a:buClr>
              <a:buSzPts val="1300"/>
              <a:buFont typeface="Calibri"/>
              <a:buChar char="•"/>
            </a:pPr>
            <a:r>
              <a:rPr b="0" i="0" lang="en-US" sz="1300" u="none" cap="none" strike="noStrike">
                <a:solidFill>
                  <a:srgbClr val="5B6B7F"/>
                </a:solidFill>
                <a:latin typeface="Calibri"/>
                <a:ea typeface="Calibri"/>
                <a:cs typeface="Calibri"/>
                <a:sym typeface="Calibri"/>
              </a:rPr>
              <a:t>App Service / AKS · Azure Database for PostgreSQL</a:t>
            </a:r>
            <a:endParaRPr b="0" i="0" sz="1300" u="none" cap="none" strike="noStrike">
              <a:solidFill>
                <a:schemeClr val="dk1"/>
              </a:solidFill>
              <a:latin typeface="Calibri"/>
              <a:ea typeface="Calibri"/>
              <a:cs typeface="Calibri"/>
              <a:sym typeface="Calibri"/>
            </a:endParaRPr>
          </a:p>
        </p:txBody>
      </p:sp>
      <p:sp>
        <p:nvSpPr>
          <p:cNvPr id="45" name="Google Shape;45;p4"/>
          <p:cNvSpPr/>
          <p:nvPr/>
        </p:nvSpPr>
        <p:spPr>
          <a:xfrm>
            <a:off x="6446520" y="3813048"/>
            <a:ext cx="4572000" cy="457200"/>
          </a:xfrm>
          <a:prstGeom prst="rect">
            <a:avLst/>
          </a:prstGeom>
          <a:noFill/>
          <a:ln>
            <a:noFill/>
          </a:ln>
        </p:spPr>
        <p:txBody>
          <a:bodyPr anchorCtr="0" anchor="ctr" bIns="0" lIns="0" spcFirstLastPara="1" rIns="0" wrap="square" tIns="0">
            <a:noAutofit/>
          </a:bodyPr>
          <a:lstStyle/>
          <a:p>
            <a:pPr indent="-165100" lvl="0" marL="165100" marR="0" rtl="0" algn="l">
              <a:spcBef>
                <a:spcPts val="0"/>
              </a:spcBef>
              <a:spcAft>
                <a:spcPts val="0"/>
              </a:spcAft>
              <a:buClr>
                <a:srgbClr val="5B6B7F"/>
              </a:buClr>
              <a:buSzPts val="1300"/>
              <a:buFont typeface="Calibri"/>
              <a:buChar char="•"/>
            </a:pPr>
            <a:r>
              <a:rPr b="0" i="0" lang="en-US" sz="1300" u="none" cap="none" strike="noStrike">
                <a:solidFill>
                  <a:srgbClr val="5B6B7F"/>
                </a:solidFill>
                <a:latin typeface="Calibri"/>
                <a:ea typeface="Calibri"/>
                <a:cs typeface="Calibri"/>
                <a:sym typeface="Calibri"/>
              </a:rPr>
              <a:t>Azure Blob for label images</a:t>
            </a:r>
            <a:endParaRPr b="0" i="0" sz="1300" u="none" cap="none" strike="noStrike">
              <a:solidFill>
                <a:schemeClr val="dk1"/>
              </a:solidFill>
              <a:latin typeface="Calibri"/>
              <a:ea typeface="Calibri"/>
              <a:cs typeface="Calibri"/>
              <a:sym typeface="Calibri"/>
            </a:endParaRPr>
          </a:p>
        </p:txBody>
      </p:sp>
      <p:sp>
        <p:nvSpPr>
          <p:cNvPr id="46" name="Google Shape;46;p4"/>
          <p:cNvSpPr/>
          <p:nvPr/>
        </p:nvSpPr>
        <p:spPr>
          <a:xfrm>
            <a:off x="6446520" y="4315968"/>
            <a:ext cx="4572000" cy="457200"/>
          </a:xfrm>
          <a:prstGeom prst="rect">
            <a:avLst/>
          </a:prstGeom>
          <a:noFill/>
          <a:ln>
            <a:noFill/>
          </a:ln>
        </p:spPr>
        <p:txBody>
          <a:bodyPr anchorCtr="0" anchor="ctr" bIns="0" lIns="0" spcFirstLastPara="1" rIns="0" wrap="square" tIns="0">
            <a:noAutofit/>
          </a:bodyPr>
          <a:lstStyle/>
          <a:p>
            <a:pPr indent="-165100" lvl="0" marL="165100" marR="0" rtl="0" algn="l">
              <a:spcBef>
                <a:spcPts val="0"/>
              </a:spcBef>
              <a:spcAft>
                <a:spcPts val="0"/>
              </a:spcAft>
              <a:buClr>
                <a:srgbClr val="5B6B7F"/>
              </a:buClr>
              <a:buSzPts val="1300"/>
              <a:buFont typeface="Calibri"/>
              <a:buChar char="•"/>
            </a:pPr>
            <a:r>
              <a:rPr b="0" i="0" lang="en-US" sz="1300" u="none" cap="none" strike="noStrike">
                <a:solidFill>
                  <a:srgbClr val="5B6B7F"/>
                </a:solidFill>
                <a:latin typeface="Calibri"/>
                <a:ea typeface="Calibri"/>
                <a:cs typeface="Calibri"/>
                <a:sym typeface="Calibri"/>
              </a:rPr>
              <a:t>In-boundary model, no public model APIs</a:t>
            </a:r>
            <a:endParaRPr b="0" i="0" sz="1300" u="none" cap="none" strike="noStrike">
              <a:solidFill>
                <a:schemeClr val="dk1"/>
              </a:solidFill>
              <a:latin typeface="Calibri"/>
              <a:ea typeface="Calibri"/>
              <a:cs typeface="Calibri"/>
              <a:sym typeface="Calibri"/>
            </a:endParaRPr>
          </a:p>
        </p:txBody>
      </p:sp>
      <p:sp>
        <p:nvSpPr>
          <p:cNvPr id="47" name="Google Shape;47;p4"/>
          <p:cNvSpPr/>
          <p:nvPr/>
        </p:nvSpPr>
        <p:spPr>
          <a:xfrm>
            <a:off x="6446520" y="4818888"/>
            <a:ext cx="4572000" cy="457200"/>
          </a:xfrm>
          <a:prstGeom prst="rect">
            <a:avLst/>
          </a:prstGeom>
          <a:noFill/>
          <a:ln>
            <a:noFill/>
          </a:ln>
        </p:spPr>
        <p:txBody>
          <a:bodyPr anchorCtr="0" anchor="ctr" bIns="0" lIns="0" spcFirstLastPara="1" rIns="0" wrap="square" tIns="0">
            <a:noAutofit/>
          </a:bodyPr>
          <a:lstStyle/>
          <a:p>
            <a:pPr indent="-165100" lvl="0" marL="165100" marR="0" rtl="0" algn="l">
              <a:spcBef>
                <a:spcPts val="0"/>
              </a:spcBef>
              <a:spcAft>
                <a:spcPts val="0"/>
              </a:spcAft>
              <a:buClr>
                <a:srgbClr val="5B6B7F"/>
              </a:buClr>
              <a:buSzPts val="1300"/>
              <a:buFont typeface="Calibri"/>
              <a:buChar char="•"/>
            </a:pPr>
            <a:r>
              <a:rPr b="0" i="0" lang="en-US" sz="1300" u="none" cap="none" strike="noStrike">
                <a:solidFill>
                  <a:srgbClr val="5B6B7F"/>
                </a:solidFill>
                <a:latin typeface="Calibri"/>
                <a:ea typeface="Calibri"/>
                <a:cs typeface="Calibri"/>
                <a:sym typeface="Calibri"/>
              </a:rPr>
              <a:t>Self-hosted observability, no external SaaS</a:t>
            </a:r>
            <a:endParaRPr b="0" i="0" sz="1300" u="none" cap="none" strike="noStrike">
              <a:solidFill>
                <a:schemeClr val="dk1"/>
              </a:solidFill>
              <a:latin typeface="Calibri"/>
              <a:ea typeface="Calibri"/>
              <a:cs typeface="Calibri"/>
              <a:sym typeface="Calibri"/>
            </a:endParaRPr>
          </a:p>
        </p:txBody>
      </p:sp>
      <p:sp>
        <p:nvSpPr>
          <p:cNvPr id="48" name="Google Shape;48;p4"/>
          <p:cNvSpPr/>
          <p:nvPr/>
        </p:nvSpPr>
        <p:spPr>
          <a:xfrm>
            <a:off x="685800" y="5623560"/>
            <a:ext cx="107899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3A5E"/>
              </a:buClr>
              <a:buSzPts val="1250"/>
              <a:buFont typeface="Calibri"/>
              <a:buNone/>
            </a:pPr>
            <a:r>
              <a:rPr b="0" i="1" lang="en-US" sz="1250" u="none" cap="none" strike="noStrike">
                <a:solidFill>
                  <a:srgbClr val="1C3A5E"/>
                </a:solidFill>
                <a:latin typeface="Calibri"/>
                <a:ea typeface="Calibri"/>
                <a:cs typeface="Calibri"/>
                <a:sym typeface="Calibri"/>
              </a:rPr>
              <a:t>The firewall that killed the prior vendor is why production can't use Vercel, Supabase, or Railway. The architecture isolates the model, datastore, and observability seams so the swap is cheap.</a:t>
            </a:r>
            <a:endParaRPr b="0" i="0" sz="1250" u="none" cap="none" strike="noStrike">
              <a:solidFill>
                <a:schemeClr val="dk1"/>
              </a:solidFill>
              <a:latin typeface="Calibri"/>
              <a:ea typeface="Calibri"/>
              <a:cs typeface="Calibri"/>
              <a:sym typeface="Calibri"/>
            </a:endParaRPr>
          </a:p>
        </p:txBody>
      </p:sp>
      <p:sp>
        <p:nvSpPr>
          <p:cNvPr id="49" name="Google Shape;49;p4"/>
          <p:cNvSpPr/>
          <p:nvPr/>
        </p:nvSpPr>
        <p:spPr>
          <a:xfrm>
            <a:off x="685800" y="6446520"/>
            <a:ext cx="6400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AI Label Verification · Approach &amp; Design</a:t>
            </a:r>
            <a:endParaRPr b="0" i="0" sz="900" u="none" cap="none" strike="noStrike">
              <a:solidFill>
                <a:schemeClr val="dk1"/>
              </a:solidFill>
              <a:latin typeface="Calibri"/>
              <a:ea typeface="Calibri"/>
              <a:cs typeface="Calibri"/>
              <a:sym typeface="Calibri"/>
            </a:endParaRPr>
          </a:p>
        </p:txBody>
      </p:sp>
      <p:sp>
        <p:nvSpPr>
          <p:cNvPr id="50" name="Google Shape;50;p4"/>
          <p:cNvSpPr/>
          <p:nvPr/>
        </p:nvSpPr>
        <p:spPr>
          <a:xfrm>
            <a:off x="11185855" y="6446520"/>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55" name="Shape 55"/>
        <p:cNvGrpSpPr/>
        <p:nvPr/>
      </p:nvGrpSpPr>
      <p:grpSpPr>
        <a:xfrm>
          <a:off x="0" y="0"/>
          <a:ext cx="0" cy="0"/>
          <a:chOff x="0" y="0"/>
          <a:chExt cx="0" cy="0"/>
        </a:xfrm>
      </p:grpSpPr>
      <p:sp>
        <p:nvSpPr>
          <p:cNvPr id="56" name="Google Shape;56;p5"/>
          <p:cNvSpPr/>
          <p:nvPr/>
        </p:nvSpPr>
        <p:spPr>
          <a:xfrm>
            <a:off x="685800" y="457200"/>
            <a:ext cx="107899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63EB"/>
              </a:buClr>
              <a:buSzPts val="1200"/>
              <a:buFont typeface="Calibri"/>
              <a:buNone/>
            </a:pPr>
            <a:r>
              <a:rPr b="1" i="0" lang="en-US" sz="1200" u="none" cap="none" strike="noStrike">
                <a:solidFill>
                  <a:srgbClr val="2563EB"/>
                </a:solidFill>
                <a:latin typeface="Calibri"/>
                <a:ea typeface="Calibri"/>
                <a:cs typeface="Calibri"/>
                <a:sym typeface="Calibri"/>
              </a:rPr>
              <a:t>THE PROBLEM</a:t>
            </a:r>
            <a:endParaRPr b="0" i="0" sz="1200" u="none" cap="none" strike="noStrike">
              <a:solidFill>
                <a:schemeClr val="dk1"/>
              </a:solidFill>
              <a:latin typeface="Calibri"/>
              <a:ea typeface="Calibri"/>
              <a:cs typeface="Calibri"/>
              <a:sym typeface="Calibri"/>
            </a:endParaRPr>
          </a:p>
        </p:txBody>
      </p:sp>
      <p:sp>
        <p:nvSpPr>
          <p:cNvPr id="57" name="Google Shape;57;p5"/>
          <p:cNvSpPr/>
          <p:nvPr/>
        </p:nvSpPr>
        <p:spPr>
          <a:xfrm>
            <a:off x="685800" y="749808"/>
            <a:ext cx="107899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Georgia"/>
              <a:buNone/>
            </a:pPr>
            <a:r>
              <a:rPr b="1" i="0" lang="en-US" sz="3200" u="none" cap="none" strike="noStrike">
                <a:solidFill>
                  <a:srgbClr val="0F172A"/>
                </a:solidFill>
                <a:latin typeface="Georgia"/>
                <a:ea typeface="Georgia"/>
                <a:cs typeface="Georgia"/>
                <a:sym typeface="Georgia"/>
              </a:rPr>
              <a:t>Skilled agents, buried in routine matching</a:t>
            </a:r>
            <a:endParaRPr b="0" i="0" sz="3200" u="none" cap="none" strike="noStrike">
              <a:solidFill>
                <a:schemeClr val="dk1"/>
              </a:solidFill>
              <a:latin typeface="Calibri"/>
              <a:ea typeface="Calibri"/>
              <a:cs typeface="Calibri"/>
              <a:sym typeface="Calibri"/>
            </a:endParaRPr>
          </a:p>
        </p:txBody>
      </p:sp>
      <p:sp>
        <p:nvSpPr>
          <p:cNvPr id="58" name="Google Shape;58;p5"/>
          <p:cNvSpPr/>
          <p:nvPr/>
        </p:nvSpPr>
        <p:spPr>
          <a:xfrm>
            <a:off x="685800" y="1874520"/>
            <a:ext cx="3383280" cy="182880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685800" y="1874520"/>
            <a:ext cx="91440" cy="1828800"/>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p:nvPr/>
        </p:nvSpPr>
        <p:spPr>
          <a:xfrm>
            <a:off x="960120" y="2103120"/>
            <a:ext cx="292608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4000"/>
              <a:buFont typeface="Georgia"/>
              <a:buNone/>
            </a:pPr>
            <a:r>
              <a:rPr b="1" i="0" lang="en-US" sz="4000" u="none" cap="none" strike="noStrike">
                <a:solidFill>
                  <a:srgbClr val="2563EB"/>
                </a:solidFill>
                <a:latin typeface="Georgia"/>
                <a:ea typeface="Georgia"/>
                <a:cs typeface="Georgia"/>
                <a:sym typeface="Georgia"/>
              </a:rPr>
              <a:t>150,000</a:t>
            </a:r>
            <a:endParaRPr b="0" i="0" sz="4000" u="none" cap="none" strike="noStrike">
              <a:solidFill>
                <a:schemeClr val="dk1"/>
              </a:solidFill>
              <a:latin typeface="Calibri"/>
              <a:ea typeface="Calibri"/>
              <a:cs typeface="Calibri"/>
              <a:sym typeface="Calibri"/>
            </a:endParaRPr>
          </a:p>
        </p:txBody>
      </p:sp>
      <p:sp>
        <p:nvSpPr>
          <p:cNvPr id="61" name="Google Shape;61;p5"/>
          <p:cNvSpPr/>
          <p:nvPr/>
        </p:nvSpPr>
        <p:spPr>
          <a:xfrm>
            <a:off x="960120" y="3017520"/>
            <a:ext cx="29260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350"/>
              <a:buFont typeface="Calibri"/>
              <a:buNone/>
            </a:pPr>
            <a:r>
              <a:rPr b="0" i="0" lang="en-US" sz="1350" u="none" cap="none" strike="noStrike">
                <a:solidFill>
                  <a:srgbClr val="5B6B7F"/>
                </a:solidFill>
                <a:latin typeface="Calibri"/>
                <a:ea typeface="Calibri"/>
                <a:cs typeface="Calibri"/>
                <a:sym typeface="Calibri"/>
              </a:rPr>
              <a:t>COLA applications reviewed per year</a:t>
            </a:r>
            <a:endParaRPr b="0" i="0" sz="1350" u="none" cap="none" strike="noStrike">
              <a:solidFill>
                <a:schemeClr val="dk1"/>
              </a:solidFill>
              <a:latin typeface="Calibri"/>
              <a:ea typeface="Calibri"/>
              <a:cs typeface="Calibri"/>
              <a:sym typeface="Calibri"/>
            </a:endParaRPr>
          </a:p>
        </p:txBody>
      </p:sp>
      <p:sp>
        <p:nvSpPr>
          <p:cNvPr id="62" name="Google Shape;62;p5"/>
          <p:cNvSpPr/>
          <p:nvPr/>
        </p:nvSpPr>
        <p:spPr>
          <a:xfrm>
            <a:off x="4297680" y="1874520"/>
            <a:ext cx="3383280" cy="182880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5"/>
          <p:cNvSpPr/>
          <p:nvPr/>
        </p:nvSpPr>
        <p:spPr>
          <a:xfrm>
            <a:off x="4297680" y="1874520"/>
            <a:ext cx="91440" cy="1828800"/>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5"/>
          <p:cNvSpPr/>
          <p:nvPr/>
        </p:nvSpPr>
        <p:spPr>
          <a:xfrm>
            <a:off x="4572000" y="2103120"/>
            <a:ext cx="292608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A5E"/>
              </a:buClr>
              <a:buSzPts val="4000"/>
              <a:buFont typeface="Georgia"/>
              <a:buNone/>
            </a:pPr>
            <a:r>
              <a:rPr b="1" i="0" lang="en-US" sz="4000" u="none" cap="none" strike="noStrike">
                <a:solidFill>
                  <a:srgbClr val="1C3A5E"/>
                </a:solidFill>
                <a:latin typeface="Georgia"/>
                <a:ea typeface="Georgia"/>
                <a:cs typeface="Georgia"/>
                <a:sym typeface="Georgia"/>
              </a:rPr>
              <a:t>47</a:t>
            </a:r>
            <a:endParaRPr b="0" i="0" sz="4000" u="none" cap="none" strike="noStrike">
              <a:solidFill>
                <a:schemeClr val="dk1"/>
              </a:solidFill>
              <a:latin typeface="Calibri"/>
              <a:ea typeface="Calibri"/>
              <a:cs typeface="Calibri"/>
              <a:sym typeface="Calibri"/>
            </a:endParaRPr>
          </a:p>
        </p:txBody>
      </p:sp>
      <p:sp>
        <p:nvSpPr>
          <p:cNvPr id="65" name="Google Shape;65;p5"/>
          <p:cNvSpPr/>
          <p:nvPr/>
        </p:nvSpPr>
        <p:spPr>
          <a:xfrm>
            <a:off x="4572000" y="3017520"/>
            <a:ext cx="29260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350"/>
              <a:buFont typeface="Calibri"/>
              <a:buNone/>
            </a:pPr>
            <a:r>
              <a:rPr b="0" i="0" lang="en-US" sz="1350" u="none" cap="none" strike="noStrike">
                <a:solidFill>
                  <a:srgbClr val="5B6B7F"/>
                </a:solidFill>
                <a:latin typeface="Calibri"/>
                <a:ea typeface="Calibri"/>
                <a:cs typeface="Calibri"/>
                <a:sym typeface="Calibri"/>
              </a:rPr>
              <a:t>agents handling the entire queue</a:t>
            </a:r>
            <a:endParaRPr b="0" i="0" sz="1350" u="none" cap="none" strike="noStrike">
              <a:solidFill>
                <a:schemeClr val="dk1"/>
              </a:solidFill>
              <a:latin typeface="Calibri"/>
              <a:ea typeface="Calibri"/>
              <a:cs typeface="Calibri"/>
              <a:sym typeface="Calibri"/>
            </a:endParaRPr>
          </a:p>
        </p:txBody>
      </p:sp>
      <p:sp>
        <p:nvSpPr>
          <p:cNvPr id="66" name="Google Shape;66;p5"/>
          <p:cNvSpPr/>
          <p:nvPr/>
        </p:nvSpPr>
        <p:spPr>
          <a:xfrm>
            <a:off x="7909560" y="1874520"/>
            <a:ext cx="3383280" cy="182880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
          <p:cNvSpPr/>
          <p:nvPr/>
        </p:nvSpPr>
        <p:spPr>
          <a:xfrm>
            <a:off x="7909560" y="1874520"/>
            <a:ext cx="91440" cy="1828800"/>
          </a:xfrm>
          <a:prstGeom prst="rect">
            <a:avLst/>
          </a:prstGeom>
          <a:solidFill>
            <a:srgbClr val="1580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5"/>
          <p:cNvSpPr/>
          <p:nvPr/>
        </p:nvSpPr>
        <p:spPr>
          <a:xfrm>
            <a:off x="8183880" y="2103120"/>
            <a:ext cx="292608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803D"/>
              </a:buClr>
              <a:buSzPts val="4000"/>
              <a:buFont typeface="Georgia"/>
              <a:buNone/>
            </a:pPr>
            <a:r>
              <a:rPr b="1" i="0" lang="en-US" sz="4000" u="none" cap="none" strike="noStrike">
                <a:solidFill>
                  <a:srgbClr val="15803D"/>
                </a:solidFill>
                <a:latin typeface="Georgia"/>
                <a:ea typeface="Georgia"/>
                <a:cs typeface="Georgia"/>
                <a:sym typeface="Georgia"/>
              </a:rPr>
              <a:t>~5 sec</a:t>
            </a:r>
            <a:endParaRPr b="0" i="0" sz="4000" u="none" cap="none" strike="noStrike">
              <a:solidFill>
                <a:schemeClr val="dk1"/>
              </a:solidFill>
              <a:latin typeface="Calibri"/>
              <a:ea typeface="Calibri"/>
              <a:cs typeface="Calibri"/>
              <a:sym typeface="Calibri"/>
            </a:endParaRPr>
          </a:p>
        </p:txBody>
      </p:sp>
      <p:sp>
        <p:nvSpPr>
          <p:cNvPr id="69" name="Google Shape;69;p5"/>
          <p:cNvSpPr/>
          <p:nvPr/>
        </p:nvSpPr>
        <p:spPr>
          <a:xfrm>
            <a:off x="8183880" y="3017520"/>
            <a:ext cx="29260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350"/>
              <a:buFont typeface="Calibri"/>
              <a:buNone/>
            </a:pPr>
            <a:r>
              <a:rPr b="0" i="0" lang="en-US" sz="1350" u="none" cap="none" strike="noStrike">
                <a:solidFill>
                  <a:srgbClr val="5B6B7F"/>
                </a:solidFill>
                <a:latin typeface="Calibri"/>
                <a:ea typeface="Calibri"/>
                <a:cs typeface="Calibri"/>
                <a:sym typeface="Calibri"/>
              </a:rPr>
              <a:t>the speed bar — or the tool goes unused</a:t>
            </a:r>
            <a:endParaRPr b="0" i="0" sz="1350" u="none" cap="none" strike="noStrike">
              <a:solidFill>
                <a:schemeClr val="dk1"/>
              </a:solidFill>
              <a:latin typeface="Calibri"/>
              <a:ea typeface="Calibri"/>
              <a:cs typeface="Calibri"/>
              <a:sym typeface="Calibri"/>
            </a:endParaRPr>
          </a:p>
        </p:txBody>
      </p:sp>
      <p:sp>
        <p:nvSpPr>
          <p:cNvPr id="70" name="Google Shape;70;p5"/>
          <p:cNvSpPr/>
          <p:nvPr/>
        </p:nvSpPr>
        <p:spPr>
          <a:xfrm>
            <a:off x="685800" y="4206240"/>
            <a:ext cx="10789920" cy="12801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F172A"/>
              </a:buClr>
              <a:buSzPts val="1550"/>
              <a:buFont typeface="Calibri"/>
              <a:buNone/>
            </a:pPr>
            <a:r>
              <a:rPr b="1" i="0" lang="en-US" sz="1550" u="none" cap="none" strike="noStrike">
                <a:solidFill>
                  <a:srgbClr val="0F172A"/>
                </a:solidFill>
                <a:latin typeface="Calibri"/>
                <a:ea typeface="Calibri"/>
                <a:cs typeface="Calibri"/>
                <a:sym typeface="Calibri"/>
              </a:rPr>
              <a:t>Verification is manual. </a:t>
            </a:r>
            <a:r>
              <a:rPr b="0" i="0" lang="en-US" sz="1550" u="none" cap="none" strike="noStrike">
                <a:solidFill>
                  <a:srgbClr val="5B6B7F"/>
                </a:solidFill>
                <a:latin typeface="Calibri"/>
                <a:ea typeface="Calibri"/>
                <a:cs typeface="Calibri"/>
                <a:sym typeface="Calibri"/>
              </a:rPr>
              <a:t>An agent eyeballs the label artwork against the typed application, field by field. Roughly half the day is routine matching, not judgment — and the prior scanning vendor was abandoned at 30 to 40 seconds per label.</a:t>
            </a:r>
            <a:endParaRPr b="0" i="0" sz="1550" u="none" cap="none" strike="noStrike">
              <a:solidFill>
                <a:schemeClr val="dk1"/>
              </a:solidFill>
              <a:latin typeface="Calibri"/>
              <a:ea typeface="Calibri"/>
              <a:cs typeface="Calibri"/>
              <a:sym typeface="Calibri"/>
            </a:endParaRPr>
          </a:p>
        </p:txBody>
      </p:sp>
      <p:sp>
        <p:nvSpPr>
          <p:cNvPr id="71" name="Google Shape;71;p5"/>
          <p:cNvSpPr/>
          <p:nvPr/>
        </p:nvSpPr>
        <p:spPr>
          <a:xfrm>
            <a:off x="685800" y="6446520"/>
            <a:ext cx="6400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AI Label Verification · Approach &amp; Design</a:t>
            </a:r>
            <a:endParaRPr b="0" i="0" sz="900" u="none" cap="none" strike="noStrike">
              <a:solidFill>
                <a:schemeClr val="dk1"/>
              </a:solidFill>
              <a:latin typeface="Calibri"/>
              <a:ea typeface="Calibri"/>
              <a:cs typeface="Calibri"/>
              <a:sym typeface="Calibri"/>
            </a:endParaRPr>
          </a:p>
        </p:txBody>
      </p:sp>
      <p:sp>
        <p:nvSpPr>
          <p:cNvPr id="72" name="Google Shape;72;p5"/>
          <p:cNvSpPr/>
          <p:nvPr/>
        </p:nvSpPr>
        <p:spPr>
          <a:xfrm>
            <a:off x="11185855" y="6446520"/>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77" name="Shape 77"/>
        <p:cNvGrpSpPr/>
        <p:nvPr/>
      </p:nvGrpSpPr>
      <p:grpSpPr>
        <a:xfrm>
          <a:off x="0" y="0"/>
          <a:ext cx="0" cy="0"/>
          <a:chOff x="0" y="0"/>
          <a:chExt cx="0" cy="0"/>
        </a:xfrm>
      </p:grpSpPr>
      <p:sp>
        <p:nvSpPr>
          <p:cNvPr id="78" name="Google Shape;78;p6"/>
          <p:cNvSpPr/>
          <p:nvPr/>
        </p:nvSpPr>
        <p:spPr>
          <a:xfrm>
            <a:off x="685800" y="457200"/>
            <a:ext cx="107899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63EB"/>
              </a:buClr>
              <a:buSzPts val="1200"/>
              <a:buFont typeface="Calibri"/>
              <a:buNone/>
            </a:pPr>
            <a:r>
              <a:rPr b="1" i="0" lang="en-US" sz="1200" u="none" cap="none" strike="noStrike">
                <a:solidFill>
                  <a:srgbClr val="2563EB"/>
                </a:solidFill>
                <a:latin typeface="Calibri"/>
                <a:ea typeface="Calibri"/>
                <a:cs typeface="Calibri"/>
                <a:sym typeface="Calibri"/>
              </a:rPr>
              <a:t>DISCOVERY</a:t>
            </a:r>
            <a:endParaRPr b="0" i="0" sz="1200" u="none" cap="none" strike="noStrike">
              <a:solidFill>
                <a:schemeClr val="dk1"/>
              </a:solidFill>
              <a:latin typeface="Calibri"/>
              <a:ea typeface="Calibri"/>
              <a:cs typeface="Calibri"/>
              <a:sym typeface="Calibri"/>
            </a:endParaRPr>
          </a:p>
        </p:txBody>
      </p:sp>
      <p:sp>
        <p:nvSpPr>
          <p:cNvPr id="79" name="Google Shape;79;p6"/>
          <p:cNvSpPr/>
          <p:nvPr/>
        </p:nvSpPr>
        <p:spPr>
          <a:xfrm>
            <a:off x="685800" y="749808"/>
            <a:ext cx="107899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Georgia"/>
              <a:buNone/>
            </a:pPr>
            <a:r>
              <a:rPr b="1" i="0" lang="en-US" sz="3200" u="none" cap="none" strike="noStrike">
                <a:solidFill>
                  <a:srgbClr val="0F172A"/>
                </a:solidFill>
                <a:latin typeface="Georgia"/>
                <a:ea typeface="Georgia"/>
                <a:cs typeface="Georgia"/>
                <a:sym typeface="Georgia"/>
              </a:rPr>
              <a:t>What the people doing the work told us</a:t>
            </a:r>
            <a:endParaRPr b="0" i="0" sz="3200" u="none" cap="none" strike="noStrike">
              <a:solidFill>
                <a:schemeClr val="dk1"/>
              </a:solidFill>
              <a:latin typeface="Calibri"/>
              <a:ea typeface="Calibri"/>
              <a:cs typeface="Calibri"/>
              <a:sym typeface="Calibri"/>
            </a:endParaRPr>
          </a:p>
        </p:txBody>
      </p:sp>
      <p:sp>
        <p:nvSpPr>
          <p:cNvPr id="80" name="Google Shape;80;p6"/>
          <p:cNvSpPr/>
          <p:nvPr/>
        </p:nvSpPr>
        <p:spPr>
          <a:xfrm>
            <a:off x="685800" y="1783080"/>
            <a:ext cx="5166360" cy="182880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6"/>
          <p:cNvSpPr/>
          <p:nvPr/>
        </p:nvSpPr>
        <p:spPr>
          <a:xfrm>
            <a:off x="685800" y="1783080"/>
            <a:ext cx="91440" cy="1828800"/>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6"/>
          <p:cNvSpPr/>
          <p:nvPr/>
        </p:nvSpPr>
        <p:spPr>
          <a:xfrm>
            <a:off x="1005840" y="1984248"/>
            <a:ext cx="4663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400"/>
              <a:buFont typeface="Calibri"/>
              <a:buNone/>
            </a:pPr>
            <a:r>
              <a:rPr b="1" i="0" lang="en-US" sz="1400" u="none" cap="none" strike="noStrike">
                <a:solidFill>
                  <a:srgbClr val="2563EB"/>
                </a:solidFill>
                <a:latin typeface="Calibri"/>
                <a:ea typeface="Calibri"/>
                <a:cs typeface="Calibri"/>
                <a:sym typeface="Calibri"/>
              </a:rPr>
              <a:t>Sarah · Deputy Director</a:t>
            </a:r>
            <a:endParaRPr b="0" i="0" sz="1400" u="none" cap="none" strike="noStrike">
              <a:solidFill>
                <a:schemeClr val="dk1"/>
              </a:solidFill>
              <a:latin typeface="Calibri"/>
              <a:ea typeface="Calibri"/>
              <a:cs typeface="Calibri"/>
              <a:sym typeface="Calibri"/>
            </a:endParaRPr>
          </a:p>
        </p:txBody>
      </p:sp>
      <p:sp>
        <p:nvSpPr>
          <p:cNvPr id="83" name="Google Shape;83;p6"/>
          <p:cNvSpPr/>
          <p:nvPr/>
        </p:nvSpPr>
        <p:spPr>
          <a:xfrm>
            <a:off x="1005840" y="2404872"/>
            <a:ext cx="4617720" cy="10058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F172A"/>
              </a:buClr>
              <a:buSzPts val="1350"/>
              <a:buFont typeface="Calibri"/>
              <a:buNone/>
            </a:pPr>
            <a:r>
              <a:rPr b="0" i="1" lang="en-US" sz="1350" u="none" cap="none" strike="noStrike">
                <a:solidFill>
                  <a:srgbClr val="0F172A"/>
                </a:solidFill>
                <a:latin typeface="Calibri"/>
                <a:ea typeface="Calibri"/>
                <a:cs typeface="Calibri"/>
                <a:sym typeface="Calibri"/>
              </a:rPr>
              <a:t>Under ~5 seconds or agents abandon it. Peak-season batches of 200–300 are a real bottleneck.</a:t>
            </a:r>
            <a:endParaRPr b="0" i="0" sz="1350" u="none" cap="none" strike="noStrike">
              <a:solidFill>
                <a:schemeClr val="dk1"/>
              </a:solidFill>
              <a:latin typeface="Calibri"/>
              <a:ea typeface="Calibri"/>
              <a:cs typeface="Calibri"/>
              <a:sym typeface="Calibri"/>
            </a:endParaRPr>
          </a:p>
        </p:txBody>
      </p:sp>
      <p:sp>
        <p:nvSpPr>
          <p:cNvPr id="84" name="Google Shape;84;p6"/>
          <p:cNvSpPr/>
          <p:nvPr/>
        </p:nvSpPr>
        <p:spPr>
          <a:xfrm>
            <a:off x="6126480" y="1783080"/>
            <a:ext cx="5166360" cy="182880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6"/>
          <p:cNvSpPr/>
          <p:nvPr/>
        </p:nvSpPr>
        <p:spPr>
          <a:xfrm>
            <a:off x="6126480" y="1783080"/>
            <a:ext cx="91440" cy="1828800"/>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6"/>
          <p:cNvSpPr/>
          <p:nvPr/>
        </p:nvSpPr>
        <p:spPr>
          <a:xfrm>
            <a:off x="6446520" y="1984248"/>
            <a:ext cx="4663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A5E"/>
              </a:buClr>
              <a:buSzPts val="1400"/>
              <a:buFont typeface="Calibri"/>
              <a:buNone/>
            </a:pPr>
            <a:r>
              <a:rPr b="1" i="0" lang="en-US" sz="1400" u="none" cap="none" strike="noStrike">
                <a:solidFill>
                  <a:srgbClr val="1C3A5E"/>
                </a:solidFill>
                <a:latin typeface="Calibri"/>
                <a:ea typeface="Calibri"/>
                <a:cs typeface="Calibri"/>
                <a:sym typeface="Calibri"/>
              </a:rPr>
              <a:t>Marcus · IT</a:t>
            </a:r>
            <a:endParaRPr b="0" i="0" sz="1400" u="none" cap="none" strike="noStrike">
              <a:solidFill>
                <a:schemeClr val="dk1"/>
              </a:solidFill>
              <a:latin typeface="Calibri"/>
              <a:ea typeface="Calibri"/>
              <a:cs typeface="Calibri"/>
              <a:sym typeface="Calibri"/>
            </a:endParaRPr>
          </a:p>
        </p:txBody>
      </p:sp>
      <p:sp>
        <p:nvSpPr>
          <p:cNvPr id="87" name="Google Shape;87;p6"/>
          <p:cNvSpPr/>
          <p:nvPr/>
        </p:nvSpPr>
        <p:spPr>
          <a:xfrm>
            <a:off x="6446520" y="2404872"/>
            <a:ext cx="4617720" cy="10058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F172A"/>
              </a:buClr>
              <a:buSzPts val="1350"/>
              <a:buFont typeface="Calibri"/>
              <a:buNone/>
            </a:pPr>
            <a:r>
              <a:rPr b="0" i="1" lang="en-US" sz="1350" u="none" cap="none" strike="noStrike">
                <a:solidFill>
                  <a:srgbClr val="0F172A"/>
                </a:solidFill>
                <a:latin typeface="Calibri"/>
                <a:ea typeface="Calibri"/>
                <a:cs typeface="Calibri"/>
                <a:sym typeface="Calibri"/>
              </a:rPr>
              <a:t>Standalone proof-of-concept, no COLA integration. The firewall blocks external ML endpoints.</a:t>
            </a:r>
            <a:endParaRPr b="0" i="0" sz="1350" u="none" cap="none" strike="noStrike">
              <a:solidFill>
                <a:schemeClr val="dk1"/>
              </a:solidFill>
              <a:latin typeface="Calibri"/>
              <a:ea typeface="Calibri"/>
              <a:cs typeface="Calibri"/>
              <a:sym typeface="Calibri"/>
            </a:endParaRPr>
          </a:p>
        </p:txBody>
      </p:sp>
      <p:sp>
        <p:nvSpPr>
          <p:cNvPr id="88" name="Google Shape;88;p6"/>
          <p:cNvSpPr/>
          <p:nvPr/>
        </p:nvSpPr>
        <p:spPr>
          <a:xfrm>
            <a:off x="685800" y="3840480"/>
            <a:ext cx="5166360" cy="182880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6"/>
          <p:cNvSpPr/>
          <p:nvPr/>
        </p:nvSpPr>
        <p:spPr>
          <a:xfrm>
            <a:off x="685800" y="3840480"/>
            <a:ext cx="91440" cy="1828800"/>
          </a:xfrm>
          <a:prstGeom prst="rect">
            <a:avLst/>
          </a:prstGeom>
          <a:solidFill>
            <a:srgbClr val="B45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6"/>
          <p:cNvSpPr/>
          <p:nvPr/>
        </p:nvSpPr>
        <p:spPr>
          <a:xfrm>
            <a:off x="1005840" y="4041648"/>
            <a:ext cx="4663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400"/>
              <a:buFont typeface="Calibri"/>
              <a:buNone/>
            </a:pPr>
            <a:r>
              <a:rPr b="1" i="0" lang="en-US" sz="1400" u="none" cap="none" strike="noStrike">
                <a:solidFill>
                  <a:srgbClr val="B45309"/>
                </a:solidFill>
                <a:latin typeface="Calibri"/>
                <a:ea typeface="Calibri"/>
                <a:cs typeface="Calibri"/>
                <a:sym typeface="Calibri"/>
              </a:rPr>
              <a:t>Dave · Senior agent (28 yrs)</a:t>
            </a:r>
            <a:endParaRPr b="0" i="0" sz="1400" u="none" cap="none" strike="noStrike">
              <a:solidFill>
                <a:schemeClr val="dk1"/>
              </a:solidFill>
              <a:latin typeface="Calibri"/>
              <a:ea typeface="Calibri"/>
              <a:cs typeface="Calibri"/>
              <a:sym typeface="Calibri"/>
            </a:endParaRPr>
          </a:p>
        </p:txBody>
      </p:sp>
      <p:sp>
        <p:nvSpPr>
          <p:cNvPr id="91" name="Google Shape;91;p6"/>
          <p:cNvSpPr/>
          <p:nvPr/>
        </p:nvSpPr>
        <p:spPr>
          <a:xfrm>
            <a:off x="1005840" y="4462272"/>
            <a:ext cx="4617720" cy="10058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F172A"/>
              </a:buClr>
              <a:buSzPts val="1350"/>
              <a:buFont typeface="Calibri"/>
              <a:buNone/>
            </a:pPr>
            <a:r>
              <a:rPr b="0" i="1" lang="en-US" sz="1350" u="none" cap="none" strike="noStrike">
                <a:solidFill>
                  <a:srgbClr val="0F172A"/>
                </a:solidFill>
                <a:latin typeface="Calibri"/>
                <a:ea typeface="Calibri"/>
                <a:cs typeface="Calibri"/>
                <a:sym typeface="Calibri"/>
              </a:rPr>
              <a:t>Judgment is real. ‘STONE’S THROW’ and ‘Stone’s Throw’ are the same product.</a:t>
            </a:r>
            <a:endParaRPr b="0" i="0" sz="1350" u="none" cap="none" strike="noStrike">
              <a:solidFill>
                <a:schemeClr val="dk1"/>
              </a:solidFill>
              <a:latin typeface="Calibri"/>
              <a:ea typeface="Calibri"/>
              <a:cs typeface="Calibri"/>
              <a:sym typeface="Calibri"/>
            </a:endParaRPr>
          </a:p>
        </p:txBody>
      </p:sp>
      <p:sp>
        <p:nvSpPr>
          <p:cNvPr id="92" name="Google Shape;92;p6"/>
          <p:cNvSpPr/>
          <p:nvPr/>
        </p:nvSpPr>
        <p:spPr>
          <a:xfrm>
            <a:off x="6126480" y="3840480"/>
            <a:ext cx="5166360" cy="182880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6"/>
          <p:cNvSpPr/>
          <p:nvPr/>
        </p:nvSpPr>
        <p:spPr>
          <a:xfrm>
            <a:off x="6126480" y="3840480"/>
            <a:ext cx="91440" cy="1828800"/>
          </a:xfrm>
          <a:prstGeom prst="rect">
            <a:avLst/>
          </a:prstGeom>
          <a:solidFill>
            <a:srgbClr val="1580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6"/>
          <p:cNvSpPr/>
          <p:nvPr/>
        </p:nvSpPr>
        <p:spPr>
          <a:xfrm>
            <a:off x="6446520" y="4041648"/>
            <a:ext cx="4663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803D"/>
              </a:buClr>
              <a:buSzPts val="1400"/>
              <a:buFont typeface="Calibri"/>
              <a:buNone/>
            </a:pPr>
            <a:r>
              <a:rPr b="1" i="0" lang="en-US" sz="1400" u="none" cap="none" strike="noStrike">
                <a:solidFill>
                  <a:srgbClr val="15803D"/>
                </a:solidFill>
                <a:latin typeface="Calibri"/>
                <a:ea typeface="Calibri"/>
                <a:cs typeface="Calibri"/>
                <a:sym typeface="Calibri"/>
              </a:rPr>
              <a:t>Jenny · Junior agent</a:t>
            </a:r>
            <a:endParaRPr b="0" i="0" sz="1400" u="none" cap="none" strike="noStrike">
              <a:solidFill>
                <a:schemeClr val="dk1"/>
              </a:solidFill>
              <a:latin typeface="Calibri"/>
              <a:ea typeface="Calibri"/>
              <a:cs typeface="Calibri"/>
              <a:sym typeface="Calibri"/>
            </a:endParaRPr>
          </a:p>
        </p:txBody>
      </p:sp>
      <p:sp>
        <p:nvSpPr>
          <p:cNvPr id="95" name="Google Shape;95;p6"/>
          <p:cNvSpPr/>
          <p:nvPr/>
        </p:nvSpPr>
        <p:spPr>
          <a:xfrm>
            <a:off x="6446520" y="4462272"/>
            <a:ext cx="4617720" cy="10058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F172A"/>
              </a:buClr>
              <a:buSzPts val="1350"/>
              <a:buFont typeface="Calibri"/>
              <a:buNone/>
            </a:pPr>
            <a:r>
              <a:rPr b="0" i="1" lang="en-US" sz="1350" u="none" cap="none" strike="noStrike">
                <a:solidFill>
                  <a:srgbClr val="0F172A"/>
                </a:solidFill>
                <a:latin typeface="Calibri"/>
                <a:ea typeface="Calibri"/>
                <a:cs typeface="Calibri"/>
                <a:sym typeface="Calibri"/>
              </a:rPr>
              <a:t>The government warning must be exact — caps and bold. Photos are often imperfect.</a:t>
            </a:r>
            <a:endParaRPr b="0" i="0" sz="1350" u="none" cap="none" strike="noStrike">
              <a:solidFill>
                <a:schemeClr val="dk1"/>
              </a:solidFill>
              <a:latin typeface="Calibri"/>
              <a:ea typeface="Calibri"/>
              <a:cs typeface="Calibri"/>
              <a:sym typeface="Calibri"/>
            </a:endParaRPr>
          </a:p>
        </p:txBody>
      </p:sp>
      <p:sp>
        <p:nvSpPr>
          <p:cNvPr id="96" name="Google Shape;96;p6"/>
          <p:cNvSpPr/>
          <p:nvPr/>
        </p:nvSpPr>
        <p:spPr>
          <a:xfrm>
            <a:off x="685800" y="6446520"/>
            <a:ext cx="6400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AI Label Verification · Approach &amp; Design</a:t>
            </a:r>
            <a:endParaRPr b="0" i="0" sz="900" u="none" cap="none" strike="noStrike">
              <a:solidFill>
                <a:schemeClr val="dk1"/>
              </a:solidFill>
              <a:latin typeface="Calibri"/>
              <a:ea typeface="Calibri"/>
              <a:cs typeface="Calibri"/>
              <a:sym typeface="Calibri"/>
            </a:endParaRPr>
          </a:p>
        </p:txBody>
      </p:sp>
      <p:sp>
        <p:nvSpPr>
          <p:cNvPr id="97" name="Google Shape;97;p6"/>
          <p:cNvSpPr/>
          <p:nvPr/>
        </p:nvSpPr>
        <p:spPr>
          <a:xfrm>
            <a:off x="11185855" y="6446520"/>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102" name="Shape 102"/>
        <p:cNvGrpSpPr/>
        <p:nvPr/>
      </p:nvGrpSpPr>
      <p:grpSpPr>
        <a:xfrm>
          <a:off x="0" y="0"/>
          <a:ext cx="0" cy="0"/>
          <a:chOff x="0" y="0"/>
          <a:chExt cx="0" cy="0"/>
        </a:xfrm>
      </p:grpSpPr>
      <p:sp>
        <p:nvSpPr>
          <p:cNvPr id="103" name="Google Shape;103;p7"/>
          <p:cNvSpPr/>
          <p:nvPr/>
        </p:nvSpPr>
        <p:spPr>
          <a:xfrm>
            <a:off x="685800" y="457200"/>
            <a:ext cx="107899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63EB"/>
              </a:buClr>
              <a:buSzPts val="1200"/>
              <a:buFont typeface="Calibri"/>
              <a:buNone/>
            </a:pPr>
            <a:r>
              <a:rPr b="1" i="0" lang="en-US" sz="1200" u="none" cap="none" strike="noStrike">
                <a:solidFill>
                  <a:srgbClr val="2563EB"/>
                </a:solidFill>
                <a:latin typeface="Calibri"/>
                <a:ea typeface="Calibri"/>
                <a:cs typeface="Calibri"/>
                <a:sym typeface="Calibri"/>
              </a:rPr>
              <a:t>THE REFRAME</a:t>
            </a:r>
            <a:endParaRPr b="0" i="0" sz="1200" u="none" cap="none" strike="noStrike">
              <a:solidFill>
                <a:schemeClr val="dk1"/>
              </a:solidFill>
              <a:latin typeface="Calibri"/>
              <a:ea typeface="Calibri"/>
              <a:cs typeface="Calibri"/>
              <a:sym typeface="Calibri"/>
            </a:endParaRPr>
          </a:p>
        </p:txBody>
      </p:sp>
      <p:sp>
        <p:nvSpPr>
          <p:cNvPr id="104" name="Google Shape;104;p7"/>
          <p:cNvSpPr/>
          <p:nvPr/>
        </p:nvSpPr>
        <p:spPr>
          <a:xfrm>
            <a:off x="685800" y="749808"/>
            <a:ext cx="107899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Georgia"/>
              <a:buNone/>
            </a:pPr>
            <a:r>
              <a:rPr b="1" i="0" lang="en-US" sz="3200" u="none" cap="none" strike="noStrike">
                <a:solidFill>
                  <a:srgbClr val="0F172A"/>
                </a:solidFill>
                <a:latin typeface="Georgia"/>
                <a:ea typeface="Georgia"/>
                <a:cs typeface="Georgia"/>
                <a:sym typeface="Georgia"/>
              </a:rPr>
              <a:t>Remove the grind, not the decision</a:t>
            </a:r>
            <a:endParaRPr b="0" i="0" sz="3200" u="none" cap="none" strike="noStrike">
              <a:solidFill>
                <a:schemeClr val="dk1"/>
              </a:solidFill>
              <a:latin typeface="Calibri"/>
              <a:ea typeface="Calibri"/>
              <a:cs typeface="Calibri"/>
              <a:sym typeface="Calibri"/>
            </a:endParaRPr>
          </a:p>
        </p:txBody>
      </p:sp>
      <p:sp>
        <p:nvSpPr>
          <p:cNvPr id="105" name="Google Shape;105;p7"/>
          <p:cNvSpPr/>
          <p:nvPr/>
        </p:nvSpPr>
        <p:spPr>
          <a:xfrm>
            <a:off x="685800" y="1828800"/>
            <a:ext cx="5166360" cy="338328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7"/>
          <p:cNvSpPr/>
          <p:nvPr/>
        </p:nvSpPr>
        <p:spPr>
          <a:xfrm>
            <a:off x="685800" y="1828800"/>
            <a:ext cx="5166360" cy="109728"/>
          </a:xfrm>
          <a:prstGeom prst="rect">
            <a:avLst/>
          </a:prstGeom>
          <a:solidFill>
            <a:srgbClr val="B91C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7"/>
          <p:cNvSpPr/>
          <p:nvPr/>
        </p:nvSpPr>
        <p:spPr>
          <a:xfrm>
            <a:off x="1005840" y="2084832"/>
            <a:ext cx="4572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1C1C"/>
              </a:buClr>
              <a:buSzPts val="1200"/>
              <a:buFont typeface="Calibri"/>
              <a:buNone/>
            </a:pPr>
            <a:r>
              <a:rPr b="1" i="0" lang="en-US" sz="1200" u="none" cap="none" strike="noStrike">
                <a:solidFill>
                  <a:srgbClr val="B91C1C"/>
                </a:solidFill>
                <a:latin typeface="Calibri"/>
                <a:ea typeface="Calibri"/>
                <a:cs typeface="Calibri"/>
                <a:sym typeface="Calibri"/>
              </a:rPr>
              <a:t>TODAY</a:t>
            </a:r>
            <a:endParaRPr b="0" i="0" sz="1200" u="none" cap="none" strike="noStrike">
              <a:solidFill>
                <a:schemeClr val="dk1"/>
              </a:solidFill>
              <a:latin typeface="Calibri"/>
              <a:ea typeface="Calibri"/>
              <a:cs typeface="Calibri"/>
              <a:sym typeface="Calibri"/>
            </a:endParaRPr>
          </a:p>
        </p:txBody>
      </p:sp>
      <p:sp>
        <p:nvSpPr>
          <p:cNvPr id="108" name="Google Shape;108;p7"/>
          <p:cNvSpPr/>
          <p:nvPr/>
        </p:nvSpPr>
        <p:spPr>
          <a:xfrm>
            <a:off x="1005840" y="2395728"/>
            <a:ext cx="4572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900"/>
              <a:buFont typeface="Georgia"/>
              <a:buNone/>
            </a:pPr>
            <a:r>
              <a:rPr b="1" i="0" lang="en-US" sz="1900" u="none" cap="none" strike="noStrike">
                <a:solidFill>
                  <a:srgbClr val="0F172A"/>
                </a:solidFill>
                <a:latin typeface="Georgia"/>
                <a:ea typeface="Georgia"/>
                <a:cs typeface="Georgia"/>
                <a:sym typeface="Georgia"/>
              </a:rPr>
              <a:t>Verification and approval are fused</a:t>
            </a:r>
            <a:endParaRPr b="0" i="0" sz="1900" u="none" cap="none" strike="noStrike">
              <a:solidFill>
                <a:schemeClr val="dk1"/>
              </a:solidFill>
              <a:latin typeface="Calibri"/>
              <a:ea typeface="Calibri"/>
              <a:cs typeface="Calibri"/>
              <a:sym typeface="Calibri"/>
            </a:endParaRPr>
          </a:p>
        </p:txBody>
      </p:sp>
      <p:sp>
        <p:nvSpPr>
          <p:cNvPr id="109" name="Google Shape;109;p7"/>
          <p:cNvSpPr/>
          <p:nvPr/>
        </p:nvSpPr>
        <p:spPr>
          <a:xfrm>
            <a:off x="1005840" y="3090672"/>
            <a:ext cx="4572000" cy="502920"/>
          </a:xfrm>
          <a:prstGeom prst="rect">
            <a:avLst/>
          </a:prstGeom>
          <a:noFill/>
          <a:ln>
            <a:noFill/>
          </a:ln>
        </p:spPr>
        <p:txBody>
          <a:bodyPr anchorCtr="0" anchor="ctr" bIns="0" lIns="0" spcFirstLastPara="1" rIns="0" wrap="square" tIns="0">
            <a:noAutofit/>
          </a:bodyPr>
          <a:lstStyle/>
          <a:p>
            <a:pPr indent="-177800" lvl="0" marL="177800" marR="0" rtl="0" algn="l">
              <a:spcBef>
                <a:spcPts val="0"/>
              </a:spcBef>
              <a:spcAft>
                <a:spcPts val="0"/>
              </a:spcAft>
              <a:buClr>
                <a:srgbClr val="5B6B7F"/>
              </a:buClr>
              <a:buSzPts val="1400"/>
              <a:buFont typeface="Calibri"/>
              <a:buChar char="•"/>
            </a:pPr>
            <a:r>
              <a:rPr b="0" i="0" lang="en-US" sz="1400" u="none" cap="none" strike="noStrike">
                <a:solidFill>
                  <a:srgbClr val="5B6B7F"/>
                </a:solidFill>
                <a:latin typeface="Calibri"/>
                <a:ea typeface="Calibri"/>
                <a:cs typeface="Calibri"/>
                <a:sym typeface="Calibri"/>
              </a:rPr>
              <a:t>Check every field by eye, every time</a:t>
            </a:r>
            <a:endParaRPr b="0" i="0" sz="1400" u="none" cap="none" strike="noStrike">
              <a:solidFill>
                <a:schemeClr val="dk1"/>
              </a:solidFill>
              <a:latin typeface="Calibri"/>
              <a:ea typeface="Calibri"/>
              <a:cs typeface="Calibri"/>
              <a:sym typeface="Calibri"/>
            </a:endParaRPr>
          </a:p>
        </p:txBody>
      </p:sp>
      <p:sp>
        <p:nvSpPr>
          <p:cNvPr id="110" name="Google Shape;110;p7"/>
          <p:cNvSpPr/>
          <p:nvPr/>
        </p:nvSpPr>
        <p:spPr>
          <a:xfrm>
            <a:off x="1005840" y="3657600"/>
            <a:ext cx="4572000" cy="502920"/>
          </a:xfrm>
          <a:prstGeom prst="rect">
            <a:avLst/>
          </a:prstGeom>
          <a:noFill/>
          <a:ln>
            <a:noFill/>
          </a:ln>
        </p:spPr>
        <p:txBody>
          <a:bodyPr anchorCtr="0" anchor="ctr" bIns="0" lIns="0" spcFirstLastPara="1" rIns="0" wrap="square" tIns="0">
            <a:noAutofit/>
          </a:bodyPr>
          <a:lstStyle/>
          <a:p>
            <a:pPr indent="-177800" lvl="0" marL="177800" marR="0" rtl="0" algn="l">
              <a:spcBef>
                <a:spcPts val="0"/>
              </a:spcBef>
              <a:spcAft>
                <a:spcPts val="0"/>
              </a:spcAft>
              <a:buClr>
                <a:srgbClr val="5B6B7F"/>
              </a:buClr>
              <a:buSzPts val="1400"/>
              <a:buFont typeface="Calibri"/>
              <a:buChar char="•"/>
            </a:pPr>
            <a:r>
              <a:rPr b="0" i="0" lang="en-US" sz="1400" u="none" cap="none" strike="noStrike">
                <a:solidFill>
                  <a:srgbClr val="5B6B7F"/>
                </a:solidFill>
                <a:latin typeface="Calibri"/>
                <a:ea typeface="Calibri"/>
                <a:cs typeface="Calibri"/>
                <a:sym typeface="Calibri"/>
              </a:rPr>
              <a:t>Half the day on routine matching</a:t>
            </a:r>
            <a:endParaRPr b="0" i="0" sz="1400" u="none" cap="none" strike="noStrike">
              <a:solidFill>
                <a:schemeClr val="dk1"/>
              </a:solidFill>
              <a:latin typeface="Calibri"/>
              <a:ea typeface="Calibri"/>
              <a:cs typeface="Calibri"/>
              <a:sym typeface="Calibri"/>
            </a:endParaRPr>
          </a:p>
        </p:txBody>
      </p:sp>
      <p:sp>
        <p:nvSpPr>
          <p:cNvPr id="111" name="Google Shape;111;p7"/>
          <p:cNvSpPr/>
          <p:nvPr/>
        </p:nvSpPr>
        <p:spPr>
          <a:xfrm>
            <a:off x="1005840" y="4224528"/>
            <a:ext cx="4572000" cy="502920"/>
          </a:xfrm>
          <a:prstGeom prst="rect">
            <a:avLst/>
          </a:prstGeom>
          <a:noFill/>
          <a:ln>
            <a:noFill/>
          </a:ln>
        </p:spPr>
        <p:txBody>
          <a:bodyPr anchorCtr="0" anchor="ctr" bIns="0" lIns="0" spcFirstLastPara="1" rIns="0" wrap="square" tIns="0">
            <a:noAutofit/>
          </a:bodyPr>
          <a:lstStyle/>
          <a:p>
            <a:pPr indent="-177800" lvl="0" marL="177800" marR="0" rtl="0" algn="l">
              <a:spcBef>
                <a:spcPts val="0"/>
              </a:spcBef>
              <a:spcAft>
                <a:spcPts val="0"/>
              </a:spcAft>
              <a:buClr>
                <a:srgbClr val="5B6B7F"/>
              </a:buClr>
              <a:buSzPts val="1400"/>
              <a:buFont typeface="Calibri"/>
              <a:buChar char="•"/>
            </a:pPr>
            <a:r>
              <a:rPr b="0" i="0" lang="en-US" sz="1400" u="none" cap="none" strike="noStrike">
                <a:solidFill>
                  <a:srgbClr val="5B6B7F"/>
                </a:solidFill>
                <a:latin typeface="Calibri"/>
                <a:ea typeface="Calibri"/>
                <a:cs typeface="Calibri"/>
                <a:sym typeface="Calibri"/>
              </a:rPr>
              <a:t>No time for the cases that need judgment</a:t>
            </a:r>
            <a:endParaRPr b="0" i="0" sz="1400" u="none" cap="none" strike="noStrike">
              <a:solidFill>
                <a:schemeClr val="dk1"/>
              </a:solidFill>
              <a:latin typeface="Calibri"/>
              <a:ea typeface="Calibri"/>
              <a:cs typeface="Calibri"/>
              <a:sym typeface="Calibri"/>
            </a:endParaRPr>
          </a:p>
        </p:txBody>
      </p:sp>
      <p:sp>
        <p:nvSpPr>
          <p:cNvPr id="112" name="Google Shape;112;p7"/>
          <p:cNvSpPr/>
          <p:nvPr/>
        </p:nvSpPr>
        <p:spPr>
          <a:xfrm>
            <a:off x="6126480" y="1828800"/>
            <a:ext cx="5166360" cy="338328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7"/>
          <p:cNvSpPr/>
          <p:nvPr/>
        </p:nvSpPr>
        <p:spPr>
          <a:xfrm>
            <a:off x="6126480" y="1828800"/>
            <a:ext cx="5166360" cy="109728"/>
          </a:xfrm>
          <a:prstGeom prst="rect">
            <a:avLst/>
          </a:prstGeom>
          <a:solidFill>
            <a:srgbClr val="1580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7"/>
          <p:cNvSpPr/>
          <p:nvPr/>
        </p:nvSpPr>
        <p:spPr>
          <a:xfrm>
            <a:off x="6446520" y="2084832"/>
            <a:ext cx="4572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803D"/>
              </a:buClr>
              <a:buSzPts val="1200"/>
              <a:buFont typeface="Calibri"/>
              <a:buNone/>
            </a:pPr>
            <a:r>
              <a:rPr b="1" i="0" lang="en-US" sz="1200" u="none" cap="none" strike="noStrike">
                <a:solidFill>
                  <a:srgbClr val="15803D"/>
                </a:solidFill>
                <a:latin typeface="Calibri"/>
                <a:ea typeface="Calibri"/>
                <a:cs typeface="Calibri"/>
                <a:sym typeface="Calibri"/>
              </a:rPr>
              <a:t>WITH THE TOOL</a:t>
            </a:r>
            <a:endParaRPr b="0" i="0" sz="1200" u="none" cap="none" strike="noStrike">
              <a:solidFill>
                <a:schemeClr val="dk1"/>
              </a:solidFill>
              <a:latin typeface="Calibri"/>
              <a:ea typeface="Calibri"/>
              <a:cs typeface="Calibri"/>
              <a:sym typeface="Calibri"/>
            </a:endParaRPr>
          </a:p>
        </p:txBody>
      </p:sp>
      <p:sp>
        <p:nvSpPr>
          <p:cNvPr id="115" name="Google Shape;115;p7"/>
          <p:cNvSpPr/>
          <p:nvPr/>
        </p:nvSpPr>
        <p:spPr>
          <a:xfrm>
            <a:off x="6446520" y="2395728"/>
            <a:ext cx="4572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900"/>
              <a:buFont typeface="Georgia"/>
              <a:buNone/>
            </a:pPr>
            <a:r>
              <a:rPr b="1" i="0" lang="en-US" sz="1900" u="none" cap="none" strike="noStrike">
                <a:solidFill>
                  <a:srgbClr val="0F172A"/>
                </a:solidFill>
                <a:latin typeface="Georgia"/>
                <a:ea typeface="Georgia"/>
                <a:cs typeface="Georgia"/>
                <a:sym typeface="Georgia"/>
              </a:rPr>
              <a:t>The tool matches; the agent judges</a:t>
            </a:r>
            <a:endParaRPr b="0" i="0" sz="1900" u="none" cap="none" strike="noStrike">
              <a:solidFill>
                <a:schemeClr val="dk1"/>
              </a:solidFill>
              <a:latin typeface="Calibri"/>
              <a:ea typeface="Calibri"/>
              <a:cs typeface="Calibri"/>
              <a:sym typeface="Calibri"/>
            </a:endParaRPr>
          </a:p>
        </p:txBody>
      </p:sp>
      <p:sp>
        <p:nvSpPr>
          <p:cNvPr id="116" name="Google Shape;116;p7"/>
          <p:cNvSpPr/>
          <p:nvPr/>
        </p:nvSpPr>
        <p:spPr>
          <a:xfrm>
            <a:off x="6446520" y="3090672"/>
            <a:ext cx="4572000" cy="502920"/>
          </a:xfrm>
          <a:prstGeom prst="rect">
            <a:avLst/>
          </a:prstGeom>
          <a:noFill/>
          <a:ln>
            <a:noFill/>
          </a:ln>
        </p:spPr>
        <p:txBody>
          <a:bodyPr anchorCtr="0" anchor="ctr" bIns="0" lIns="0" spcFirstLastPara="1" rIns="0" wrap="square" tIns="0">
            <a:noAutofit/>
          </a:bodyPr>
          <a:lstStyle/>
          <a:p>
            <a:pPr indent="-177800" lvl="0" marL="177800" marR="0" rtl="0" algn="l">
              <a:spcBef>
                <a:spcPts val="0"/>
              </a:spcBef>
              <a:spcAft>
                <a:spcPts val="0"/>
              </a:spcAft>
              <a:buClr>
                <a:srgbClr val="5B6B7F"/>
              </a:buClr>
              <a:buSzPts val="1400"/>
              <a:buFont typeface="Calibri"/>
              <a:buChar char="•"/>
            </a:pPr>
            <a:r>
              <a:rPr b="0" i="0" lang="en-US" sz="1400" u="none" cap="none" strike="noStrike">
                <a:solidFill>
                  <a:srgbClr val="5B6B7F"/>
                </a:solidFill>
                <a:latin typeface="Calibri"/>
                <a:ea typeface="Calibri"/>
                <a:cs typeface="Calibri"/>
                <a:sym typeface="Calibri"/>
              </a:rPr>
              <a:t>Auto-verify every application at intake</a:t>
            </a:r>
            <a:endParaRPr b="0" i="0" sz="1400" u="none" cap="none" strike="noStrike">
              <a:solidFill>
                <a:schemeClr val="dk1"/>
              </a:solidFill>
              <a:latin typeface="Calibri"/>
              <a:ea typeface="Calibri"/>
              <a:cs typeface="Calibri"/>
              <a:sym typeface="Calibri"/>
            </a:endParaRPr>
          </a:p>
        </p:txBody>
      </p:sp>
      <p:sp>
        <p:nvSpPr>
          <p:cNvPr id="117" name="Google Shape;117;p7"/>
          <p:cNvSpPr/>
          <p:nvPr/>
        </p:nvSpPr>
        <p:spPr>
          <a:xfrm>
            <a:off x="6446520" y="3657600"/>
            <a:ext cx="4572000" cy="502920"/>
          </a:xfrm>
          <a:prstGeom prst="rect">
            <a:avLst/>
          </a:prstGeom>
          <a:noFill/>
          <a:ln>
            <a:noFill/>
          </a:ln>
        </p:spPr>
        <p:txBody>
          <a:bodyPr anchorCtr="0" anchor="ctr" bIns="0" lIns="0" spcFirstLastPara="1" rIns="0" wrap="square" tIns="0">
            <a:noAutofit/>
          </a:bodyPr>
          <a:lstStyle/>
          <a:p>
            <a:pPr indent="-177800" lvl="0" marL="177800" marR="0" rtl="0" algn="l">
              <a:spcBef>
                <a:spcPts val="0"/>
              </a:spcBef>
              <a:spcAft>
                <a:spcPts val="0"/>
              </a:spcAft>
              <a:buClr>
                <a:srgbClr val="5B6B7F"/>
              </a:buClr>
              <a:buSzPts val="1400"/>
              <a:buFont typeface="Calibri"/>
              <a:buChar char="•"/>
            </a:pPr>
            <a:r>
              <a:rPr b="0" i="0" lang="en-US" sz="1400" u="none" cap="none" strike="noStrike">
                <a:solidFill>
                  <a:srgbClr val="5B6B7F"/>
                </a:solidFill>
                <a:latin typeface="Calibri"/>
                <a:ea typeface="Calibri"/>
                <a:cs typeface="Calibri"/>
                <a:sym typeface="Calibri"/>
              </a:rPr>
              <a:t>Triage by confidence into three lanes</a:t>
            </a:r>
            <a:endParaRPr b="0" i="0" sz="1400" u="none" cap="none" strike="noStrike">
              <a:solidFill>
                <a:schemeClr val="dk1"/>
              </a:solidFill>
              <a:latin typeface="Calibri"/>
              <a:ea typeface="Calibri"/>
              <a:cs typeface="Calibri"/>
              <a:sym typeface="Calibri"/>
            </a:endParaRPr>
          </a:p>
        </p:txBody>
      </p:sp>
      <p:sp>
        <p:nvSpPr>
          <p:cNvPr id="118" name="Google Shape;118;p7"/>
          <p:cNvSpPr/>
          <p:nvPr/>
        </p:nvSpPr>
        <p:spPr>
          <a:xfrm>
            <a:off x="6446520" y="4224528"/>
            <a:ext cx="4572000" cy="502920"/>
          </a:xfrm>
          <a:prstGeom prst="rect">
            <a:avLst/>
          </a:prstGeom>
          <a:noFill/>
          <a:ln>
            <a:noFill/>
          </a:ln>
        </p:spPr>
        <p:txBody>
          <a:bodyPr anchorCtr="0" anchor="ctr" bIns="0" lIns="0" spcFirstLastPara="1" rIns="0" wrap="square" tIns="0">
            <a:noAutofit/>
          </a:bodyPr>
          <a:lstStyle/>
          <a:p>
            <a:pPr indent="-177800" lvl="0" marL="177800" marR="0" rtl="0" algn="l">
              <a:spcBef>
                <a:spcPts val="0"/>
              </a:spcBef>
              <a:spcAft>
                <a:spcPts val="0"/>
              </a:spcAft>
              <a:buClr>
                <a:srgbClr val="5B6B7F"/>
              </a:buClr>
              <a:buSzPts val="1400"/>
              <a:buFont typeface="Calibri"/>
              <a:buChar char="•"/>
            </a:pPr>
            <a:r>
              <a:rPr b="0" i="0" lang="en-US" sz="1400" u="none" cap="none" strike="noStrike">
                <a:solidFill>
                  <a:srgbClr val="5B6B7F"/>
                </a:solidFill>
                <a:latin typeface="Calibri"/>
                <a:ea typeface="Calibri"/>
                <a:cs typeface="Calibri"/>
                <a:sym typeface="Calibri"/>
              </a:rPr>
              <a:t>Agent resolves the exceptions, owns the call</a:t>
            </a:r>
            <a:endParaRPr b="0" i="0" sz="1400" u="none" cap="none" strike="noStrike">
              <a:solidFill>
                <a:schemeClr val="dk1"/>
              </a:solidFill>
              <a:latin typeface="Calibri"/>
              <a:ea typeface="Calibri"/>
              <a:cs typeface="Calibri"/>
              <a:sym typeface="Calibri"/>
            </a:endParaRPr>
          </a:p>
        </p:txBody>
      </p:sp>
      <p:sp>
        <p:nvSpPr>
          <p:cNvPr id="119" name="Google Shape;119;p7"/>
          <p:cNvSpPr/>
          <p:nvPr/>
        </p:nvSpPr>
        <p:spPr>
          <a:xfrm>
            <a:off x="685800" y="5440680"/>
            <a:ext cx="107899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3A5E"/>
              </a:buClr>
              <a:buSzPts val="1400"/>
              <a:buFont typeface="Calibri"/>
              <a:buNone/>
            </a:pPr>
            <a:r>
              <a:rPr b="0" i="1" lang="en-US" sz="1400" u="none" cap="none" strike="noStrike">
                <a:solidFill>
                  <a:srgbClr val="1C3A5E"/>
                </a:solidFill>
                <a:latin typeface="Calibri"/>
                <a:ea typeface="Calibri"/>
                <a:cs typeface="Calibri"/>
                <a:sym typeface="Calibri"/>
              </a:rPr>
              <a:t>The human keeps the decision and the legal accountability.</a:t>
            </a:r>
            <a:endParaRPr b="0" i="0" sz="1400" u="none" cap="none" strike="noStrike">
              <a:solidFill>
                <a:schemeClr val="dk1"/>
              </a:solidFill>
              <a:latin typeface="Calibri"/>
              <a:ea typeface="Calibri"/>
              <a:cs typeface="Calibri"/>
              <a:sym typeface="Calibri"/>
            </a:endParaRPr>
          </a:p>
        </p:txBody>
      </p:sp>
      <p:sp>
        <p:nvSpPr>
          <p:cNvPr id="120" name="Google Shape;120;p7"/>
          <p:cNvSpPr/>
          <p:nvPr/>
        </p:nvSpPr>
        <p:spPr>
          <a:xfrm>
            <a:off x="685800" y="6446520"/>
            <a:ext cx="6400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AI Label Verification · Approach &amp; Design</a:t>
            </a:r>
            <a:endParaRPr b="0" i="0" sz="900" u="none" cap="none" strike="noStrike">
              <a:solidFill>
                <a:schemeClr val="dk1"/>
              </a:solidFill>
              <a:latin typeface="Calibri"/>
              <a:ea typeface="Calibri"/>
              <a:cs typeface="Calibri"/>
              <a:sym typeface="Calibri"/>
            </a:endParaRPr>
          </a:p>
        </p:txBody>
      </p:sp>
      <p:sp>
        <p:nvSpPr>
          <p:cNvPr id="121" name="Google Shape;121;p7"/>
          <p:cNvSpPr/>
          <p:nvPr/>
        </p:nvSpPr>
        <p:spPr>
          <a:xfrm>
            <a:off x="11185855" y="6446520"/>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126" name="Shape 126"/>
        <p:cNvGrpSpPr/>
        <p:nvPr/>
      </p:nvGrpSpPr>
      <p:grpSpPr>
        <a:xfrm>
          <a:off x="0" y="0"/>
          <a:ext cx="0" cy="0"/>
          <a:chOff x="0" y="0"/>
          <a:chExt cx="0" cy="0"/>
        </a:xfrm>
      </p:grpSpPr>
      <p:sp>
        <p:nvSpPr>
          <p:cNvPr id="127" name="Google Shape;127;p8"/>
          <p:cNvSpPr/>
          <p:nvPr/>
        </p:nvSpPr>
        <p:spPr>
          <a:xfrm>
            <a:off x="685800" y="457200"/>
            <a:ext cx="107899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63EB"/>
              </a:buClr>
              <a:buSzPts val="1200"/>
              <a:buFont typeface="Calibri"/>
              <a:buNone/>
            </a:pPr>
            <a:r>
              <a:rPr b="1" i="0" lang="en-US" sz="1200" u="none" cap="none" strike="noStrike">
                <a:solidFill>
                  <a:srgbClr val="2563EB"/>
                </a:solidFill>
                <a:latin typeface="Calibri"/>
                <a:ea typeface="Calibri"/>
                <a:cs typeface="Calibri"/>
                <a:sym typeface="Calibri"/>
              </a:rPr>
              <a:t>SOLUTION</a:t>
            </a:r>
            <a:endParaRPr b="0" i="0" sz="1200" u="none" cap="none" strike="noStrike">
              <a:solidFill>
                <a:schemeClr val="dk1"/>
              </a:solidFill>
              <a:latin typeface="Calibri"/>
              <a:ea typeface="Calibri"/>
              <a:cs typeface="Calibri"/>
              <a:sym typeface="Calibri"/>
            </a:endParaRPr>
          </a:p>
        </p:txBody>
      </p:sp>
      <p:sp>
        <p:nvSpPr>
          <p:cNvPr id="128" name="Google Shape;128;p8"/>
          <p:cNvSpPr/>
          <p:nvPr/>
        </p:nvSpPr>
        <p:spPr>
          <a:xfrm>
            <a:off x="685800" y="749808"/>
            <a:ext cx="107899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Georgia"/>
              <a:buNone/>
            </a:pPr>
            <a:r>
              <a:rPr b="1" i="0" lang="en-US" sz="3200" u="none" cap="none" strike="noStrike">
                <a:solidFill>
                  <a:srgbClr val="0F172A"/>
                </a:solidFill>
                <a:latin typeface="Georgia"/>
                <a:ea typeface="Georgia"/>
                <a:cs typeface="Georgia"/>
                <a:sym typeface="Georgia"/>
              </a:rPr>
              <a:t>One queue, three lanes</a:t>
            </a:r>
            <a:endParaRPr b="0" i="0" sz="3200" u="none" cap="none" strike="noStrike">
              <a:solidFill>
                <a:schemeClr val="dk1"/>
              </a:solidFill>
              <a:latin typeface="Calibri"/>
              <a:ea typeface="Calibri"/>
              <a:cs typeface="Calibri"/>
              <a:sym typeface="Calibri"/>
            </a:endParaRPr>
          </a:p>
        </p:txBody>
      </p:sp>
      <p:sp>
        <p:nvSpPr>
          <p:cNvPr id="129" name="Google Shape;129;p8"/>
          <p:cNvSpPr/>
          <p:nvPr/>
        </p:nvSpPr>
        <p:spPr>
          <a:xfrm>
            <a:off x="685800" y="1627632"/>
            <a:ext cx="10789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500"/>
              <a:buFont typeface="Calibri"/>
              <a:buNone/>
            </a:pPr>
            <a:r>
              <a:rPr b="0" i="0" lang="en-US" sz="1500" u="none" cap="none" strike="noStrike">
                <a:solidFill>
                  <a:srgbClr val="5B6B7F"/>
                </a:solidFill>
                <a:latin typeface="Calibri"/>
                <a:ea typeface="Calibri"/>
                <a:cs typeface="Calibri"/>
                <a:sym typeface="Calibri"/>
              </a:rPr>
              <a:t>Every application is verified the moment it arrives and sorted by confidence. The agent works a pre-sorted queue.</a:t>
            </a:r>
            <a:endParaRPr b="0" i="0" sz="1500" u="none" cap="none" strike="noStrike">
              <a:solidFill>
                <a:schemeClr val="dk1"/>
              </a:solidFill>
              <a:latin typeface="Calibri"/>
              <a:ea typeface="Calibri"/>
              <a:cs typeface="Calibri"/>
              <a:sym typeface="Calibri"/>
            </a:endParaRPr>
          </a:p>
        </p:txBody>
      </p:sp>
      <p:sp>
        <p:nvSpPr>
          <p:cNvPr id="130" name="Google Shape;130;p8"/>
          <p:cNvSpPr/>
          <p:nvPr/>
        </p:nvSpPr>
        <p:spPr>
          <a:xfrm>
            <a:off x="685800" y="2286000"/>
            <a:ext cx="3383280" cy="2697480"/>
          </a:xfrm>
          <a:prstGeom prst="rect">
            <a:avLst/>
          </a:prstGeom>
          <a:solidFill>
            <a:srgbClr val="E8F6EE"/>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8"/>
          <p:cNvSpPr/>
          <p:nvPr/>
        </p:nvSpPr>
        <p:spPr>
          <a:xfrm>
            <a:off x="1005840" y="2560320"/>
            <a:ext cx="685800" cy="685800"/>
          </a:xfrm>
          <a:prstGeom prst="ellipse">
            <a:avLst/>
          </a:prstGeom>
          <a:solidFill>
            <a:srgbClr val="1580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8"/>
          <p:cNvSpPr/>
          <p:nvPr/>
        </p:nvSpPr>
        <p:spPr>
          <a:xfrm>
            <a:off x="1005840" y="2560320"/>
            <a:ext cx="6858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a:t>
            </a:r>
            <a:endParaRPr b="0" i="0" sz="2600" u="none" cap="none" strike="noStrike">
              <a:solidFill>
                <a:schemeClr val="dk1"/>
              </a:solidFill>
              <a:latin typeface="Calibri"/>
              <a:ea typeface="Calibri"/>
              <a:cs typeface="Calibri"/>
              <a:sym typeface="Calibri"/>
            </a:endParaRPr>
          </a:p>
        </p:txBody>
      </p:sp>
      <p:sp>
        <p:nvSpPr>
          <p:cNvPr id="133" name="Google Shape;133;p8"/>
          <p:cNvSpPr/>
          <p:nvPr/>
        </p:nvSpPr>
        <p:spPr>
          <a:xfrm>
            <a:off x="1828800" y="2578608"/>
            <a:ext cx="21031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803D"/>
              </a:buClr>
              <a:buSzPts val="2000"/>
              <a:buFont typeface="Georgia"/>
              <a:buNone/>
            </a:pPr>
            <a:r>
              <a:rPr b="1" i="0" lang="en-US" sz="2000" u="none" cap="none" strike="noStrike">
                <a:solidFill>
                  <a:srgbClr val="15803D"/>
                </a:solidFill>
                <a:latin typeface="Georgia"/>
                <a:ea typeface="Georgia"/>
                <a:cs typeface="Georgia"/>
                <a:sym typeface="Georgia"/>
              </a:rPr>
              <a:t>MATCH</a:t>
            </a:r>
            <a:endParaRPr b="0" i="0" sz="2000" u="none" cap="none" strike="noStrike">
              <a:solidFill>
                <a:schemeClr val="dk1"/>
              </a:solidFill>
              <a:latin typeface="Calibri"/>
              <a:ea typeface="Calibri"/>
              <a:cs typeface="Calibri"/>
              <a:sym typeface="Calibri"/>
            </a:endParaRPr>
          </a:p>
        </p:txBody>
      </p:sp>
      <p:sp>
        <p:nvSpPr>
          <p:cNvPr id="134" name="Google Shape;134;p8"/>
          <p:cNvSpPr/>
          <p:nvPr/>
        </p:nvSpPr>
        <p:spPr>
          <a:xfrm>
            <a:off x="1828800" y="2944368"/>
            <a:ext cx="21031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200"/>
              <a:buFont typeface="Calibri"/>
              <a:buNone/>
            </a:pPr>
            <a:r>
              <a:rPr b="1" i="0" lang="en-US" sz="1200" u="none" cap="none" strike="noStrike">
                <a:solidFill>
                  <a:srgbClr val="5B6B7F"/>
                </a:solidFill>
                <a:latin typeface="Calibri"/>
                <a:ea typeface="Calibri"/>
                <a:cs typeface="Calibri"/>
                <a:sym typeface="Calibri"/>
              </a:rPr>
              <a:t>High confidence</a:t>
            </a:r>
            <a:endParaRPr b="0" i="0" sz="1200" u="none" cap="none" strike="noStrike">
              <a:solidFill>
                <a:schemeClr val="dk1"/>
              </a:solidFill>
              <a:latin typeface="Calibri"/>
              <a:ea typeface="Calibri"/>
              <a:cs typeface="Calibri"/>
              <a:sym typeface="Calibri"/>
            </a:endParaRPr>
          </a:p>
        </p:txBody>
      </p:sp>
      <p:sp>
        <p:nvSpPr>
          <p:cNvPr id="135" name="Google Shape;135;p8"/>
          <p:cNvSpPr/>
          <p:nvPr/>
        </p:nvSpPr>
        <p:spPr>
          <a:xfrm>
            <a:off x="1005840" y="3520440"/>
            <a:ext cx="2743200" cy="118872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F172A"/>
              </a:buClr>
              <a:buSzPts val="1400"/>
              <a:buFont typeface="Calibri"/>
              <a:buNone/>
            </a:pPr>
            <a:r>
              <a:rPr b="0" i="0" lang="en-US" sz="1400" u="none" cap="none" strike="noStrike">
                <a:solidFill>
                  <a:srgbClr val="0F172A"/>
                </a:solidFill>
                <a:latin typeface="Calibri"/>
                <a:ea typeface="Calibri"/>
                <a:cs typeface="Calibri"/>
                <a:sym typeface="Calibri"/>
              </a:rPr>
              <a:t>Every field agrees. Bulk-approve in one click.</a:t>
            </a:r>
            <a:endParaRPr b="0" i="0" sz="1400" u="none" cap="none" strike="noStrike">
              <a:solidFill>
                <a:schemeClr val="dk1"/>
              </a:solidFill>
              <a:latin typeface="Calibri"/>
              <a:ea typeface="Calibri"/>
              <a:cs typeface="Calibri"/>
              <a:sym typeface="Calibri"/>
            </a:endParaRPr>
          </a:p>
        </p:txBody>
      </p:sp>
      <p:sp>
        <p:nvSpPr>
          <p:cNvPr id="136" name="Google Shape;136;p8"/>
          <p:cNvSpPr/>
          <p:nvPr/>
        </p:nvSpPr>
        <p:spPr>
          <a:xfrm>
            <a:off x="4297680" y="2286000"/>
            <a:ext cx="3383280" cy="2697480"/>
          </a:xfrm>
          <a:prstGeom prst="rect">
            <a:avLst/>
          </a:prstGeom>
          <a:solidFill>
            <a:srgbClr val="FAEAEA"/>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8"/>
          <p:cNvSpPr/>
          <p:nvPr/>
        </p:nvSpPr>
        <p:spPr>
          <a:xfrm>
            <a:off x="4617720" y="2560320"/>
            <a:ext cx="685800" cy="685800"/>
          </a:xfrm>
          <a:prstGeom prst="ellipse">
            <a:avLst/>
          </a:prstGeom>
          <a:solidFill>
            <a:srgbClr val="B91C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8"/>
          <p:cNvSpPr/>
          <p:nvPr/>
        </p:nvSpPr>
        <p:spPr>
          <a:xfrm>
            <a:off x="4617720" y="2560320"/>
            <a:ext cx="6858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a:t>
            </a:r>
            <a:endParaRPr b="0" i="0" sz="2600" u="none" cap="none" strike="noStrike">
              <a:solidFill>
                <a:schemeClr val="dk1"/>
              </a:solidFill>
              <a:latin typeface="Calibri"/>
              <a:ea typeface="Calibri"/>
              <a:cs typeface="Calibri"/>
              <a:sym typeface="Calibri"/>
            </a:endParaRPr>
          </a:p>
        </p:txBody>
      </p:sp>
      <p:sp>
        <p:nvSpPr>
          <p:cNvPr id="139" name="Google Shape;139;p8"/>
          <p:cNvSpPr/>
          <p:nvPr/>
        </p:nvSpPr>
        <p:spPr>
          <a:xfrm>
            <a:off x="5440680" y="2578608"/>
            <a:ext cx="21031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1C1C"/>
              </a:buClr>
              <a:buSzPts val="2000"/>
              <a:buFont typeface="Georgia"/>
              <a:buNone/>
            </a:pPr>
            <a:r>
              <a:rPr b="1" i="0" lang="en-US" sz="2000" u="none" cap="none" strike="noStrike">
                <a:solidFill>
                  <a:srgbClr val="B91C1C"/>
                </a:solidFill>
                <a:latin typeface="Georgia"/>
                <a:ea typeface="Georgia"/>
                <a:cs typeface="Georgia"/>
                <a:sym typeface="Georgia"/>
              </a:rPr>
              <a:t>MISMATCH</a:t>
            </a:r>
            <a:endParaRPr b="0" i="0" sz="2000" u="none" cap="none" strike="noStrike">
              <a:solidFill>
                <a:schemeClr val="dk1"/>
              </a:solidFill>
              <a:latin typeface="Calibri"/>
              <a:ea typeface="Calibri"/>
              <a:cs typeface="Calibri"/>
              <a:sym typeface="Calibri"/>
            </a:endParaRPr>
          </a:p>
        </p:txBody>
      </p:sp>
      <p:sp>
        <p:nvSpPr>
          <p:cNvPr id="140" name="Google Shape;140;p8"/>
          <p:cNvSpPr/>
          <p:nvPr/>
        </p:nvSpPr>
        <p:spPr>
          <a:xfrm>
            <a:off x="5440680" y="2944368"/>
            <a:ext cx="21031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200"/>
              <a:buFont typeface="Calibri"/>
              <a:buNone/>
            </a:pPr>
            <a:r>
              <a:rPr b="1" i="0" lang="en-US" sz="1200" u="none" cap="none" strike="noStrike">
                <a:solidFill>
                  <a:srgbClr val="5B6B7F"/>
                </a:solidFill>
                <a:latin typeface="Calibri"/>
                <a:ea typeface="Calibri"/>
                <a:cs typeface="Calibri"/>
                <a:sym typeface="Calibri"/>
              </a:rPr>
              <a:t>Clear problem</a:t>
            </a:r>
            <a:endParaRPr b="0" i="0" sz="1200" u="none" cap="none" strike="noStrike">
              <a:solidFill>
                <a:schemeClr val="dk1"/>
              </a:solidFill>
              <a:latin typeface="Calibri"/>
              <a:ea typeface="Calibri"/>
              <a:cs typeface="Calibri"/>
              <a:sym typeface="Calibri"/>
            </a:endParaRPr>
          </a:p>
        </p:txBody>
      </p:sp>
      <p:sp>
        <p:nvSpPr>
          <p:cNvPr id="141" name="Google Shape;141;p8"/>
          <p:cNvSpPr/>
          <p:nvPr/>
        </p:nvSpPr>
        <p:spPr>
          <a:xfrm>
            <a:off x="4617720" y="3520440"/>
            <a:ext cx="2743200" cy="118872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F172A"/>
              </a:buClr>
              <a:buSzPts val="1400"/>
              <a:buFont typeface="Calibri"/>
              <a:buNone/>
            </a:pPr>
            <a:r>
              <a:rPr b="0" i="0" lang="en-US" sz="1400" u="none" cap="none" strike="noStrike">
                <a:solidFill>
                  <a:srgbClr val="0F172A"/>
                </a:solidFill>
                <a:latin typeface="Calibri"/>
                <a:ea typeface="Calibri"/>
                <a:cs typeface="Calibri"/>
                <a:sym typeface="Calibri"/>
              </a:rPr>
              <a:t>A field disagrees — flagged with the exact field.</a:t>
            </a:r>
            <a:endParaRPr b="0" i="0" sz="1400" u="none" cap="none" strike="noStrike">
              <a:solidFill>
                <a:schemeClr val="dk1"/>
              </a:solidFill>
              <a:latin typeface="Calibri"/>
              <a:ea typeface="Calibri"/>
              <a:cs typeface="Calibri"/>
              <a:sym typeface="Calibri"/>
            </a:endParaRPr>
          </a:p>
        </p:txBody>
      </p:sp>
      <p:sp>
        <p:nvSpPr>
          <p:cNvPr id="142" name="Google Shape;142;p8"/>
          <p:cNvSpPr/>
          <p:nvPr/>
        </p:nvSpPr>
        <p:spPr>
          <a:xfrm>
            <a:off x="7909560" y="2286000"/>
            <a:ext cx="3383280" cy="2697480"/>
          </a:xfrm>
          <a:prstGeom prst="rect">
            <a:avLst/>
          </a:prstGeom>
          <a:solidFill>
            <a:srgbClr val="FBF1E0"/>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8"/>
          <p:cNvSpPr/>
          <p:nvPr/>
        </p:nvSpPr>
        <p:spPr>
          <a:xfrm>
            <a:off x="8229600" y="2560320"/>
            <a:ext cx="685800" cy="685800"/>
          </a:xfrm>
          <a:prstGeom prst="ellipse">
            <a:avLst/>
          </a:prstGeom>
          <a:solidFill>
            <a:srgbClr val="B45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8"/>
          <p:cNvSpPr/>
          <p:nvPr/>
        </p:nvSpPr>
        <p:spPr>
          <a:xfrm>
            <a:off x="8229600" y="2560320"/>
            <a:ext cx="6858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a:t>
            </a:r>
            <a:endParaRPr b="0" i="0" sz="2600" u="none" cap="none" strike="noStrike">
              <a:solidFill>
                <a:schemeClr val="dk1"/>
              </a:solidFill>
              <a:latin typeface="Calibri"/>
              <a:ea typeface="Calibri"/>
              <a:cs typeface="Calibri"/>
              <a:sym typeface="Calibri"/>
            </a:endParaRPr>
          </a:p>
        </p:txBody>
      </p:sp>
      <p:sp>
        <p:nvSpPr>
          <p:cNvPr id="145" name="Google Shape;145;p8"/>
          <p:cNvSpPr/>
          <p:nvPr/>
        </p:nvSpPr>
        <p:spPr>
          <a:xfrm>
            <a:off x="9052560" y="2578608"/>
            <a:ext cx="21031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2000"/>
              <a:buFont typeface="Georgia"/>
              <a:buNone/>
            </a:pPr>
            <a:r>
              <a:rPr b="1" i="0" lang="en-US" sz="2000" u="none" cap="none" strike="noStrike">
                <a:solidFill>
                  <a:srgbClr val="B45309"/>
                </a:solidFill>
                <a:latin typeface="Georgia"/>
                <a:ea typeface="Georgia"/>
                <a:cs typeface="Georgia"/>
                <a:sym typeface="Georgia"/>
              </a:rPr>
              <a:t>REVIEW</a:t>
            </a:r>
            <a:endParaRPr b="0" i="0" sz="2000" u="none" cap="none" strike="noStrike">
              <a:solidFill>
                <a:schemeClr val="dk1"/>
              </a:solidFill>
              <a:latin typeface="Calibri"/>
              <a:ea typeface="Calibri"/>
              <a:cs typeface="Calibri"/>
              <a:sym typeface="Calibri"/>
            </a:endParaRPr>
          </a:p>
        </p:txBody>
      </p:sp>
      <p:sp>
        <p:nvSpPr>
          <p:cNvPr id="146" name="Google Shape;146;p8"/>
          <p:cNvSpPr/>
          <p:nvPr/>
        </p:nvSpPr>
        <p:spPr>
          <a:xfrm>
            <a:off x="9052560" y="2944368"/>
            <a:ext cx="21031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200"/>
              <a:buFont typeface="Calibri"/>
              <a:buNone/>
            </a:pPr>
            <a:r>
              <a:rPr b="1" i="0" lang="en-US" sz="1200" u="none" cap="none" strike="noStrike">
                <a:solidFill>
                  <a:srgbClr val="5B6B7F"/>
                </a:solidFill>
                <a:latin typeface="Calibri"/>
                <a:ea typeface="Calibri"/>
                <a:cs typeface="Calibri"/>
                <a:sym typeface="Calibri"/>
              </a:rPr>
              <a:t>Low confidence</a:t>
            </a:r>
            <a:endParaRPr b="0" i="0" sz="1200" u="none" cap="none" strike="noStrike">
              <a:solidFill>
                <a:schemeClr val="dk1"/>
              </a:solidFill>
              <a:latin typeface="Calibri"/>
              <a:ea typeface="Calibri"/>
              <a:cs typeface="Calibri"/>
              <a:sym typeface="Calibri"/>
            </a:endParaRPr>
          </a:p>
        </p:txBody>
      </p:sp>
      <p:sp>
        <p:nvSpPr>
          <p:cNvPr id="147" name="Google Shape;147;p8"/>
          <p:cNvSpPr/>
          <p:nvPr/>
        </p:nvSpPr>
        <p:spPr>
          <a:xfrm>
            <a:off x="8229600" y="3520440"/>
            <a:ext cx="2743200" cy="118872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F172A"/>
              </a:buClr>
              <a:buSzPts val="1400"/>
              <a:buFont typeface="Calibri"/>
              <a:buNone/>
            </a:pPr>
            <a:r>
              <a:rPr b="0" i="0" lang="en-US" sz="1400" u="none" cap="none" strike="noStrike">
                <a:solidFill>
                  <a:srgbClr val="0F172A"/>
                </a:solidFill>
                <a:latin typeface="Calibri"/>
                <a:ea typeface="Calibri"/>
                <a:cs typeface="Calibri"/>
                <a:sym typeface="Calibri"/>
              </a:rPr>
              <a:t>Unreadable or a near-miss. Sent to a human.</a:t>
            </a:r>
            <a:endParaRPr b="0" i="0" sz="1400" u="none" cap="none" strike="noStrike">
              <a:solidFill>
                <a:schemeClr val="dk1"/>
              </a:solidFill>
              <a:latin typeface="Calibri"/>
              <a:ea typeface="Calibri"/>
              <a:cs typeface="Calibri"/>
              <a:sym typeface="Calibri"/>
            </a:endParaRPr>
          </a:p>
        </p:txBody>
      </p:sp>
      <p:sp>
        <p:nvSpPr>
          <p:cNvPr id="148" name="Google Shape;148;p8"/>
          <p:cNvSpPr/>
          <p:nvPr/>
        </p:nvSpPr>
        <p:spPr>
          <a:xfrm>
            <a:off x="685800" y="5212080"/>
            <a:ext cx="107899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3A5E"/>
              </a:buClr>
              <a:buSzPts val="1400"/>
              <a:buFont typeface="Calibri"/>
              <a:buNone/>
            </a:pPr>
            <a:r>
              <a:rPr b="0" i="1" lang="en-US" sz="1400" u="none" cap="none" strike="noStrike">
                <a:solidFill>
                  <a:srgbClr val="1C3A5E"/>
                </a:solidFill>
                <a:latin typeface="Calibri"/>
                <a:ea typeface="Calibri"/>
                <a:cs typeface="Calibri"/>
                <a:sym typeface="Calibri"/>
              </a:rPr>
              <a:t>The agent spends time only in the second and third lanes — that is the time saved.</a:t>
            </a:r>
            <a:endParaRPr b="0" i="0" sz="1400" u="none" cap="none" strike="noStrike">
              <a:solidFill>
                <a:schemeClr val="dk1"/>
              </a:solidFill>
              <a:latin typeface="Calibri"/>
              <a:ea typeface="Calibri"/>
              <a:cs typeface="Calibri"/>
              <a:sym typeface="Calibri"/>
            </a:endParaRPr>
          </a:p>
        </p:txBody>
      </p:sp>
      <p:sp>
        <p:nvSpPr>
          <p:cNvPr id="149" name="Google Shape;149;p8"/>
          <p:cNvSpPr/>
          <p:nvPr/>
        </p:nvSpPr>
        <p:spPr>
          <a:xfrm>
            <a:off x="685800" y="6446520"/>
            <a:ext cx="6400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AI Label Verification · Approach &amp; Design</a:t>
            </a:r>
            <a:endParaRPr b="0" i="0" sz="900" u="none" cap="none" strike="noStrike">
              <a:solidFill>
                <a:schemeClr val="dk1"/>
              </a:solidFill>
              <a:latin typeface="Calibri"/>
              <a:ea typeface="Calibri"/>
              <a:cs typeface="Calibri"/>
              <a:sym typeface="Calibri"/>
            </a:endParaRPr>
          </a:p>
        </p:txBody>
      </p:sp>
      <p:sp>
        <p:nvSpPr>
          <p:cNvPr id="150" name="Google Shape;150;p8"/>
          <p:cNvSpPr/>
          <p:nvPr/>
        </p:nvSpPr>
        <p:spPr>
          <a:xfrm>
            <a:off x="11185855" y="6446520"/>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155" name="Shape 155"/>
        <p:cNvGrpSpPr/>
        <p:nvPr/>
      </p:nvGrpSpPr>
      <p:grpSpPr>
        <a:xfrm>
          <a:off x="0" y="0"/>
          <a:ext cx="0" cy="0"/>
          <a:chOff x="0" y="0"/>
          <a:chExt cx="0" cy="0"/>
        </a:xfrm>
      </p:grpSpPr>
      <p:sp>
        <p:nvSpPr>
          <p:cNvPr id="156" name="Google Shape;156;p9"/>
          <p:cNvSpPr/>
          <p:nvPr/>
        </p:nvSpPr>
        <p:spPr>
          <a:xfrm>
            <a:off x="685800" y="457200"/>
            <a:ext cx="107899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63EB"/>
              </a:buClr>
              <a:buSzPts val="1200"/>
              <a:buFont typeface="Calibri"/>
              <a:buNone/>
            </a:pPr>
            <a:r>
              <a:rPr b="1" i="0" lang="en-US" sz="1200" u="none" cap="none" strike="noStrike">
                <a:solidFill>
                  <a:srgbClr val="2563EB"/>
                </a:solidFill>
                <a:latin typeface="Calibri"/>
                <a:ea typeface="Calibri"/>
                <a:cs typeface="Calibri"/>
                <a:sym typeface="Calibri"/>
              </a:rPr>
              <a:t>THE PIPELINE</a:t>
            </a:r>
            <a:endParaRPr b="0" i="0" sz="1200" u="none" cap="none" strike="noStrike">
              <a:solidFill>
                <a:schemeClr val="dk1"/>
              </a:solidFill>
              <a:latin typeface="Calibri"/>
              <a:ea typeface="Calibri"/>
              <a:cs typeface="Calibri"/>
              <a:sym typeface="Calibri"/>
            </a:endParaRPr>
          </a:p>
        </p:txBody>
      </p:sp>
      <p:sp>
        <p:nvSpPr>
          <p:cNvPr id="157" name="Google Shape;157;p9"/>
          <p:cNvSpPr/>
          <p:nvPr/>
        </p:nvSpPr>
        <p:spPr>
          <a:xfrm>
            <a:off x="685800" y="749808"/>
            <a:ext cx="107899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Georgia"/>
              <a:buNone/>
            </a:pPr>
            <a:r>
              <a:rPr b="1" i="0" lang="en-US" sz="3200" u="none" cap="none" strike="noStrike">
                <a:solidFill>
                  <a:srgbClr val="0F172A"/>
                </a:solidFill>
                <a:latin typeface="Georgia"/>
                <a:ea typeface="Georgia"/>
                <a:cs typeface="Georgia"/>
                <a:sym typeface="Georgia"/>
              </a:rPr>
              <a:t>Submissions in, decisions back to the record</a:t>
            </a:r>
            <a:endParaRPr b="0" i="0" sz="3200" u="none" cap="none" strike="noStrike">
              <a:solidFill>
                <a:schemeClr val="dk1"/>
              </a:solidFill>
              <a:latin typeface="Calibri"/>
              <a:ea typeface="Calibri"/>
              <a:cs typeface="Calibri"/>
              <a:sym typeface="Calibri"/>
            </a:endParaRPr>
          </a:p>
        </p:txBody>
      </p:sp>
      <p:sp>
        <p:nvSpPr>
          <p:cNvPr id="158" name="Google Shape;158;p9"/>
          <p:cNvSpPr/>
          <p:nvPr/>
        </p:nvSpPr>
        <p:spPr>
          <a:xfrm>
            <a:off x="5058004" y="3076956"/>
            <a:ext cx="2075688" cy="2075688"/>
          </a:xfrm>
          <a:prstGeom prst="ellipse">
            <a:avLst/>
          </a:prstGeom>
          <a:solidFill>
            <a:srgbClr val="EAF0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9"/>
          <p:cNvSpPr/>
          <p:nvPr/>
        </p:nvSpPr>
        <p:spPr>
          <a:xfrm>
            <a:off x="5204308" y="3223260"/>
            <a:ext cx="1783080" cy="1783080"/>
          </a:xfrm>
          <a:prstGeom prst="ellipse">
            <a:avLst/>
          </a:prstGeom>
          <a:solidFill>
            <a:srgbClr val="12233B"/>
          </a:solidFill>
          <a:ln cap="flat" cmpd="sng" w="19050">
            <a:solidFill>
              <a:srgbClr val="2563EB"/>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9"/>
          <p:cNvSpPr/>
          <p:nvPr/>
        </p:nvSpPr>
        <p:spPr>
          <a:xfrm>
            <a:off x="5912968" y="3607308"/>
            <a:ext cx="365760" cy="365760"/>
          </a:xfrm>
          <a:prstGeom prst="roundRect">
            <a:avLst>
              <a:gd fmla="val 20000" name="adj"/>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9"/>
          <p:cNvSpPr/>
          <p:nvPr/>
        </p:nvSpPr>
        <p:spPr>
          <a:xfrm>
            <a:off x="5112868" y="4119372"/>
            <a:ext cx="19659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LabelCheck</a:t>
            </a:r>
            <a:endParaRPr b="0" i="0" sz="1800" u="none" cap="none" strike="noStrike">
              <a:solidFill>
                <a:schemeClr val="dk1"/>
              </a:solidFill>
              <a:latin typeface="Calibri"/>
              <a:ea typeface="Calibri"/>
              <a:cs typeface="Calibri"/>
              <a:sym typeface="Calibri"/>
            </a:endParaRPr>
          </a:p>
        </p:txBody>
      </p:sp>
      <p:sp>
        <p:nvSpPr>
          <p:cNvPr id="162" name="Google Shape;162;p9"/>
          <p:cNvSpPr/>
          <p:nvPr/>
        </p:nvSpPr>
        <p:spPr>
          <a:xfrm>
            <a:off x="5112868" y="4466844"/>
            <a:ext cx="19659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FB4CE"/>
              </a:buClr>
              <a:buSzPts val="1100"/>
              <a:buFont typeface="Calibri"/>
              <a:buNone/>
            </a:pPr>
            <a:r>
              <a:rPr b="0" i="0" lang="en-US" sz="1100" u="none" cap="none" strike="noStrike">
                <a:solidFill>
                  <a:srgbClr val="9FB4CE"/>
                </a:solidFill>
                <a:latin typeface="Calibri"/>
                <a:ea typeface="Calibri"/>
                <a:cs typeface="Calibri"/>
                <a:sym typeface="Calibri"/>
              </a:rPr>
              <a:t>verify · triage</a:t>
            </a:r>
            <a:endParaRPr b="0" i="0" sz="1100" u="none" cap="none" strike="noStrike">
              <a:solidFill>
                <a:schemeClr val="dk1"/>
              </a:solidFill>
              <a:latin typeface="Calibri"/>
              <a:ea typeface="Calibri"/>
              <a:cs typeface="Calibri"/>
              <a:sym typeface="Calibri"/>
            </a:endParaRPr>
          </a:p>
        </p:txBody>
      </p:sp>
      <p:sp>
        <p:nvSpPr>
          <p:cNvPr id="163" name="Google Shape;163;p9"/>
          <p:cNvSpPr/>
          <p:nvPr/>
        </p:nvSpPr>
        <p:spPr>
          <a:xfrm>
            <a:off x="685800" y="1847088"/>
            <a:ext cx="35204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950"/>
              <a:buFont typeface="Calibri"/>
              <a:buNone/>
            </a:pPr>
            <a:r>
              <a:rPr b="1" i="0" lang="en-US" sz="950" u="none" cap="none" strike="noStrike">
                <a:solidFill>
                  <a:srgbClr val="5B6B7F"/>
                </a:solidFill>
                <a:latin typeface="Calibri"/>
                <a:ea typeface="Calibri"/>
                <a:cs typeface="Calibri"/>
                <a:sym typeface="Calibri"/>
              </a:rPr>
              <a:t>INTAKE · VIA COLAs ONLINE (~150,000 / YR)</a:t>
            </a:r>
            <a:endParaRPr b="0" i="0" sz="950" u="none" cap="none" strike="noStrike">
              <a:solidFill>
                <a:schemeClr val="dk1"/>
              </a:solidFill>
              <a:latin typeface="Calibri"/>
              <a:ea typeface="Calibri"/>
              <a:cs typeface="Calibri"/>
              <a:sym typeface="Calibri"/>
            </a:endParaRPr>
          </a:p>
        </p:txBody>
      </p:sp>
      <p:sp>
        <p:nvSpPr>
          <p:cNvPr id="164" name="Google Shape;164;p9"/>
          <p:cNvSpPr/>
          <p:nvPr/>
        </p:nvSpPr>
        <p:spPr>
          <a:xfrm>
            <a:off x="685800" y="2148840"/>
            <a:ext cx="2788920" cy="841248"/>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9"/>
          <p:cNvSpPr/>
          <p:nvPr/>
        </p:nvSpPr>
        <p:spPr>
          <a:xfrm>
            <a:off x="685800" y="2148840"/>
            <a:ext cx="91440" cy="841248"/>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9"/>
          <p:cNvSpPr/>
          <p:nvPr/>
        </p:nvSpPr>
        <p:spPr>
          <a:xfrm>
            <a:off x="978408" y="2295144"/>
            <a:ext cx="2331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450"/>
              <a:buFont typeface="Calibri"/>
              <a:buNone/>
            </a:pPr>
            <a:r>
              <a:rPr b="1" i="0" lang="en-US" sz="1450" u="none" cap="none" strike="noStrike">
                <a:solidFill>
                  <a:srgbClr val="0F172A"/>
                </a:solidFill>
                <a:latin typeface="Calibri"/>
                <a:ea typeface="Calibri"/>
                <a:cs typeface="Calibri"/>
                <a:sym typeface="Calibri"/>
              </a:rPr>
              <a:t>Wine</a:t>
            </a:r>
            <a:endParaRPr b="0" i="0" sz="1450" u="none" cap="none" strike="noStrike">
              <a:solidFill>
                <a:schemeClr val="dk1"/>
              </a:solidFill>
              <a:latin typeface="Calibri"/>
              <a:ea typeface="Calibri"/>
              <a:cs typeface="Calibri"/>
              <a:sym typeface="Calibri"/>
            </a:endParaRPr>
          </a:p>
        </p:txBody>
      </p:sp>
      <p:sp>
        <p:nvSpPr>
          <p:cNvPr id="167" name="Google Shape;167;p9"/>
          <p:cNvSpPr/>
          <p:nvPr/>
        </p:nvSpPr>
        <p:spPr>
          <a:xfrm>
            <a:off x="978408" y="2606040"/>
            <a:ext cx="23317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050"/>
              <a:buFont typeface="Calibri"/>
              <a:buNone/>
            </a:pPr>
            <a:r>
              <a:rPr b="0" i="0" lang="en-US" sz="1050" u="none" cap="none" strike="noStrike">
                <a:solidFill>
                  <a:srgbClr val="5B6B7F"/>
                </a:solidFill>
                <a:latin typeface="Calibri"/>
                <a:ea typeface="Calibri"/>
                <a:cs typeface="Calibri"/>
                <a:sym typeface="Calibri"/>
              </a:rPr>
              <a:t>COLA + label art</a:t>
            </a:r>
            <a:endParaRPr b="0" i="0" sz="1050" u="none" cap="none" strike="noStrike">
              <a:solidFill>
                <a:schemeClr val="dk1"/>
              </a:solidFill>
              <a:latin typeface="Calibri"/>
              <a:ea typeface="Calibri"/>
              <a:cs typeface="Calibri"/>
              <a:sym typeface="Calibri"/>
            </a:endParaRPr>
          </a:p>
        </p:txBody>
      </p:sp>
      <p:cxnSp>
        <p:nvCxnSpPr>
          <p:cNvPr id="168" name="Google Shape;168;p9"/>
          <p:cNvCxnSpPr/>
          <p:nvPr/>
        </p:nvCxnSpPr>
        <p:spPr>
          <a:xfrm>
            <a:off x="3474720" y="2569464"/>
            <a:ext cx="1729588" cy="1545336"/>
          </a:xfrm>
          <a:prstGeom prst="straightConnector1">
            <a:avLst/>
          </a:prstGeom>
          <a:noFill/>
          <a:ln cap="flat" cmpd="sng" w="15875">
            <a:solidFill>
              <a:srgbClr val="CBD5E1"/>
            </a:solidFill>
            <a:prstDash val="solid"/>
            <a:round/>
            <a:headEnd len="sm" w="sm" type="none"/>
            <a:tailEnd len="sm" w="sm" type="none"/>
          </a:ln>
        </p:spPr>
      </p:cxnSp>
      <p:sp>
        <p:nvSpPr>
          <p:cNvPr id="169" name="Google Shape;169;p9"/>
          <p:cNvSpPr/>
          <p:nvPr/>
        </p:nvSpPr>
        <p:spPr>
          <a:xfrm>
            <a:off x="3941064" y="3181929"/>
            <a:ext cx="73152" cy="73152"/>
          </a:xfrm>
          <a:prstGeom prst="ellipse">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9"/>
          <p:cNvSpPr/>
          <p:nvPr/>
        </p:nvSpPr>
        <p:spPr>
          <a:xfrm>
            <a:off x="685800" y="3172968"/>
            <a:ext cx="2788920" cy="841248"/>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9"/>
          <p:cNvSpPr/>
          <p:nvPr/>
        </p:nvSpPr>
        <p:spPr>
          <a:xfrm>
            <a:off x="685800" y="3172968"/>
            <a:ext cx="91440" cy="841248"/>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9"/>
          <p:cNvSpPr/>
          <p:nvPr/>
        </p:nvSpPr>
        <p:spPr>
          <a:xfrm>
            <a:off x="978408" y="3319272"/>
            <a:ext cx="2331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450"/>
              <a:buFont typeface="Calibri"/>
              <a:buNone/>
            </a:pPr>
            <a:r>
              <a:rPr b="1" i="0" lang="en-US" sz="1450" u="none" cap="none" strike="noStrike">
                <a:solidFill>
                  <a:srgbClr val="0F172A"/>
                </a:solidFill>
                <a:latin typeface="Calibri"/>
                <a:ea typeface="Calibri"/>
                <a:cs typeface="Calibri"/>
                <a:sym typeface="Calibri"/>
              </a:rPr>
              <a:t>Distilled Spirits</a:t>
            </a:r>
            <a:endParaRPr b="0" i="0" sz="1450" u="none" cap="none" strike="noStrike">
              <a:solidFill>
                <a:schemeClr val="dk1"/>
              </a:solidFill>
              <a:latin typeface="Calibri"/>
              <a:ea typeface="Calibri"/>
              <a:cs typeface="Calibri"/>
              <a:sym typeface="Calibri"/>
            </a:endParaRPr>
          </a:p>
        </p:txBody>
      </p:sp>
      <p:sp>
        <p:nvSpPr>
          <p:cNvPr id="173" name="Google Shape;173;p9"/>
          <p:cNvSpPr/>
          <p:nvPr/>
        </p:nvSpPr>
        <p:spPr>
          <a:xfrm>
            <a:off x="978408" y="3630168"/>
            <a:ext cx="23317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050"/>
              <a:buFont typeface="Calibri"/>
              <a:buNone/>
            </a:pPr>
            <a:r>
              <a:rPr b="0" i="0" lang="en-US" sz="1050" u="none" cap="none" strike="noStrike">
                <a:solidFill>
                  <a:srgbClr val="5B6B7F"/>
                </a:solidFill>
                <a:latin typeface="Calibri"/>
                <a:ea typeface="Calibri"/>
                <a:cs typeface="Calibri"/>
                <a:sym typeface="Calibri"/>
              </a:rPr>
              <a:t>COLA + label art</a:t>
            </a:r>
            <a:endParaRPr b="0" i="0" sz="1050" u="none" cap="none" strike="noStrike">
              <a:solidFill>
                <a:schemeClr val="dk1"/>
              </a:solidFill>
              <a:latin typeface="Calibri"/>
              <a:ea typeface="Calibri"/>
              <a:cs typeface="Calibri"/>
              <a:sym typeface="Calibri"/>
            </a:endParaRPr>
          </a:p>
        </p:txBody>
      </p:sp>
      <p:cxnSp>
        <p:nvCxnSpPr>
          <p:cNvPr id="174" name="Google Shape;174;p9"/>
          <p:cNvCxnSpPr/>
          <p:nvPr/>
        </p:nvCxnSpPr>
        <p:spPr>
          <a:xfrm>
            <a:off x="3474720" y="3593592"/>
            <a:ext cx="1729588" cy="521208"/>
          </a:xfrm>
          <a:prstGeom prst="straightConnector1">
            <a:avLst/>
          </a:prstGeom>
          <a:noFill/>
          <a:ln cap="flat" cmpd="sng" w="15875">
            <a:solidFill>
              <a:srgbClr val="CBD5E1"/>
            </a:solidFill>
            <a:prstDash val="solid"/>
            <a:round/>
            <a:headEnd len="sm" w="sm" type="none"/>
            <a:tailEnd len="sm" w="sm" type="none"/>
          </a:ln>
        </p:spPr>
      </p:cxnSp>
      <p:sp>
        <p:nvSpPr>
          <p:cNvPr id="175" name="Google Shape;175;p9"/>
          <p:cNvSpPr/>
          <p:nvPr/>
        </p:nvSpPr>
        <p:spPr>
          <a:xfrm>
            <a:off x="3941064" y="3775923"/>
            <a:ext cx="73152" cy="73152"/>
          </a:xfrm>
          <a:prstGeom prst="ellipse">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9"/>
          <p:cNvSpPr/>
          <p:nvPr/>
        </p:nvSpPr>
        <p:spPr>
          <a:xfrm>
            <a:off x="685800" y="4197096"/>
            <a:ext cx="2788920" cy="841248"/>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9"/>
          <p:cNvSpPr/>
          <p:nvPr/>
        </p:nvSpPr>
        <p:spPr>
          <a:xfrm>
            <a:off x="685800" y="4197096"/>
            <a:ext cx="91440" cy="841248"/>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9"/>
          <p:cNvSpPr/>
          <p:nvPr/>
        </p:nvSpPr>
        <p:spPr>
          <a:xfrm>
            <a:off x="978408" y="4343400"/>
            <a:ext cx="2331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450"/>
              <a:buFont typeface="Calibri"/>
              <a:buNone/>
            </a:pPr>
            <a:r>
              <a:rPr b="1" i="0" lang="en-US" sz="1450" u="none" cap="none" strike="noStrike">
                <a:solidFill>
                  <a:srgbClr val="0F172A"/>
                </a:solidFill>
                <a:latin typeface="Calibri"/>
                <a:ea typeface="Calibri"/>
                <a:cs typeface="Calibri"/>
                <a:sym typeface="Calibri"/>
              </a:rPr>
              <a:t>Malt Beverage</a:t>
            </a:r>
            <a:endParaRPr b="0" i="0" sz="1450" u="none" cap="none" strike="noStrike">
              <a:solidFill>
                <a:schemeClr val="dk1"/>
              </a:solidFill>
              <a:latin typeface="Calibri"/>
              <a:ea typeface="Calibri"/>
              <a:cs typeface="Calibri"/>
              <a:sym typeface="Calibri"/>
            </a:endParaRPr>
          </a:p>
        </p:txBody>
      </p:sp>
      <p:sp>
        <p:nvSpPr>
          <p:cNvPr id="179" name="Google Shape;179;p9"/>
          <p:cNvSpPr/>
          <p:nvPr/>
        </p:nvSpPr>
        <p:spPr>
          <a:xfrm>
            <a:off x="978408" y="4654296"/>
            <a:ext cx="23317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050"/>
              <a:buFont typeface="Calibri"/>
              <a:buNone/>
            </a:pPr>
            <a:r>
              <a:rPr b="0" i="0" lang="en-US" sz="1050" u="none" cap="none" strike="noStrike">
                <a:solidFill>
                  <a:srgbClr val="5B6B7F"/>
                </a:solidFill>
                <a:latin typeface="Calibri"/>
                <a:ea typeface="Calibri"/>
                <a:cs typeface="Calibri"/>
                <a:sym typeface="Calibri"/>
              </a:rPr>
              <a:t>COLA + label art</a:t>
            </a:r>
            <a:endParaRPr b="0" i="0" sz="1050" u="none" cap="none" strike="noStrike">
              <a:solidFill>
                <a:schemeClr val="dk1"/>
              </a:solidFill>
              <a:latin typeface="Calibri"/>
              <a:ea typeface="Calibri"/>
              <a:cs typeface="Calibri"/>
              <a:sym typeface="Calibri"/>
            </a:endParaRPr>
          </a:p>
        </p:txBody>
      </p:sp>
      <p:cxnSp>
        <p:nvCxnSpPr>
          <p:cNvPr id="180" name="Google Shape;180;p9"/>
          <p:cNvCxnSpPr/>
          <p:nvPr/>
        </p:nvCxnSpPr>
        <p:spPr>
          <a:xfrm flipH="1" rot="10800000">
            <a:off x="3474720" y="4114800"/>
            <a:ext cx="1729588" cy="502920"/>
          </a:xfrm>
          <a:prstGeom prst="straightConnector1">
            <a:avLst/>
          </a:prstGeom>
          <a:noFill/>
          <a:ln cap="flat" cmpd="sng" w="15875">
            <a:solidFill>
              <a:srgbClr val="CBD5E1"/>
            </a:solidFill>
            <a:prstDash val="solid"/>
            <a:round/>
            <a:headEnd len="sm" w="sm" type="none"/>
            <a:tailEnd len="sm" w="sm" type="none"/>
          </a:ln>
        </p:spPr>
      </p:cxnSp>
      <p:sp>
        <p:nvSpPr>
          <p:cNvPr id="181" name="Google Shape;181;p9"/>
          <p:cNvSpPr/>
          <p:nvPr/>
        </p:nvSpPr>
        <p:spPr>
          <a:xfrm>
            <a:off x="3941064" y="4369918"/>
            <a:ext cx="73152" cy="73152"/>
          </a:xfrm>
          <a:prstGeom prst="ellipse">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9"/>
          <p:cNvSpPr/>
          <p:nvPr/>
        </p:nvSpPr>
        <p:spPr>
          <a:xfrm>
            <a:off x="685800" y="5221224"/>
            <a:ext cx="2788920" cy="841248"/>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9"/>
          <p:cNvSpPr/>
          <p:nvPr/>
        </p:nvSpPr>
        <p:spPr>
          <a:xfrm>
            <a:off x="685800" y="5221224"/>
            <a:ext cx="91440" cy="841248"/>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9"/>
          <p:cNvSpPr/>
          <p:nvPr/>
        </p:nvSpPr>
        <p:spPr>
          <a:xfrm>
            <a:off x="978408" y="5367528"/>
            <a:ext cx="2331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450"/>
              <a:buFont typeface="Calibri"/>
              <a:buNone/>
            </a:pPr>
            <a:r>
              <a:rPr b="1" i="0" lang="en-US" sz="1450" u="none" cap="none" strike="noStrike">
                <a:solidFill>
                  <a:srgbClr val="0F172A"/>
                </a:solidFill>
                <a:latin typeface="Calibri"/>
                <a:ea typeface="Calibri"/>
                <a:cs typeface="Calibri"/>
                <a:sym typeface="Calibri"/>
              </a:rPr>
              <a:t>Imports</a:t>
            </a:r>
            <a:endParaRPr b="0" i="0" sz="1450" u="none" cap="none" strike="noStrike">
              <a:solidFill>
                <a:schemeClr val="dk1"/>
              </a:solidFill>
              <a:latin typeface="Calibri"/>
              <a:ea typeface="Calibri"/>
              <a:cs typeface="Calibri"/>
              <a:sym typeface="Calibri"/>
            </a:endParaRPr>
          </a:p>
        </p:txBody>
      </p:sp>
      <p:sp>
        <p:nvSpPr>
          <p:cNvPr id="185" name="Google Shape;185;p9"/>
          <p:cNvSpPr/>
          <p:nvPr/>
        </p:nvSpPr>
        <p:spPr>
          <a:xfrm>
            <a:off x="978408" y="5678424"/>
            <a:ext cx="23317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050"/>
              <a:buFont typeface="Calibri"/>
              <a:buNone/>
            </a:pPr>
            <a:r>
              <a:rPr b="0" i="0" lang="en-US" sz="1050" u="none" cap="none" strike="noStrike">
                <a:solidFill>
                  <a:srgbClr val="5B6B7F"/>
                </a:solidFill>
                <a:latin typeface="Calibri"/>
                <a:ea typeface="Calibri"/>
                <a:cs typeface="Calibri"/>
                <a:sym typeface="Calibri"/>
              </a:rPr>
              <a:t>COLA + label art</a:t>
            </a:r>
            <a:endParaRPr b="0" i="0" sz="1050" u="none" cap="none" strike="noStrike">
              <a:solidFill>
                <a:schemeClr val="dk1"/>
              </a:solidFill>
              <a:latin typeface="Calibri"/>
              <a:ea typeface="Calibri"/>
              <a:cs typeface="Calibri"/>
              <a:sym typeface="Calibri"/>
            </a:endParaRPr>
          </a:p>
        </p:txBody>
      </p:sp>
      <p:cxnSp>
        <p:nvCxnSpPr>
          <p:cNvPr id="186" name="Google Shape;186;p9"/>
          <p:cNvCxnSpPr/>
          <p:nvPr/>
        </p:nvCxnSpPr>
        <p:spPr>
          <a:xfrm flipH="1" rot="10800000">
            <a:off x="3474720" y="4114800"/>
            <a:ext cx="1729588" cy="1527048"/>
          </a:xfrm>
          <a:prstGeom prst="straightConnector1">
            <a:avLst/>
          </a:prstGeom>
          <a:noFill/>
          <a:ln cap="flat" cmpd="sng" w="15875">
            <a:solidFill>
              <a:srgbClr val="CBD5E1"/>
            </a:solidFill>
            <a:prstDash val="solid"/>
            <a:round/>
            <a:headEnd len="sm" w="sm" type="none"/>
            <a:tailEnd len="sm" w="sm" type="none"/>
          </a:ln>
        </p:spPr>
      </p:cxnSp>
      <p:sp>
        <p:nvSpPr>
          <p:cNvPr id="187" name="Google Shape;187;p9"/>
          <p:cNvSpPr/>
          <p:nvPr/>
        </p:nvSpPr>
        <p:spPr>
          <a:xfrm>
            <a:off x="3941064" y="4963912"/>
            <a:ext cx="73152" cy="73152"/>
          </a:xfrm>
          <a:prstGeom prst="ellipse">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9"/>
          <p:cNvSpPr/>
          <p:nvPr/>
        </p:nvSpPr>
        <p:spPr>
          <a:xfrm>
            <a:off x="7573975" y="1847088"/>
            <a:ext cx="3931920" cy="2377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B7F"/>
              </a:buClr>
              <a:buSzPts val="950"/>
              <a:buFont typeface="Calibri"/>
              <a:buNone/>
            </a:pPr>
            <a:r>
              <a:rPr b="1" i="0" lang="en-US" sz="950" u="none" cap="none" strike="noStrike">
                <a:solidFill>
                  <a:srgbClr val="5B6B7F"/>
                </a:solidFill>
                <a:latin typeface="Calibri"/>
                <a:ea typeface="Calibri"/>
                <a:cs typeface="Calibri"/>
                <a:sym typeface="Calibri"/>
              </a:rPr>
              <a:t>BACK TO THE TTB SYSTEM OF RECORD</a:t>
            </a:r>
            <a:endParaRPr b="0" i="0" sz="950" u="none" cap="none" strike="noStrike">
              <a:solidFill>
                <a:schemeClr val="dk1"/>
              </a:solidFill>
              <a:latin typeface="Calibri"/>
              <a:ea typeface="Calibri"/>
              <a:cs typeface="Calibri"/>
              <a:sym typeface="Calibri"/>
            </a:endParaRPr>
          </a:p>
        </p:txBody>
      </p:sp>
      <p:sp>
        <p:nvSpPr>
          <p:cNvPr id="189" name="Google Shape;189;p9"/>
          <p:cNvSpPr/>
          <p:nvPr/>
        </p:nvSpPr>
        <p:spPr>
          <a:xfrm>
            <a:off x="8305495" y="2148840"/>
            <a:ext cx="3200400" cy="118872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9"/>
          <p:cNvSpPr/>
          <p:nvPr/>
        </p:nvSpPr>
        <p:spPr>
          <a:xfrm>
            <a:off x="8305495" y="2148840"/>
            <a:ext cx="3200400" cy="91440"/>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9"/>
          <p:cNvSpPr/>
          <p:nvPr/>
        </p:nvSpPr>
        <p:spPr>
          <a:xfrm>
            <a:off x="8561527" y="2331720"/>
            <a:ext cx="2743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950"/>
              <a:buFont typeface="Calibri"/>
              <a:buNone/>
            </a:pPr>
            <a:r>
              <a:rPr b="1" i="0" lang="en-US" sz="950" u="none" cap="none" strike="noStrike">
                <a:solidFill>
                  <a:srgbClr val="5B6B7F"/>
                </a:solidFill>
                <a:latin typeface="Calibri"/>
                <a:ea typeface="Calibri"/>
                <a:cs typeface="Calibri"/>
                <a:sym typeface="Calibri"/>
              </a:rPr>
              <a:t>DISPOSITION</a:t>
            </a:r>
            <a:endParaRPr b="0" i="0" sz="950" u="none" cap="none" strike="noStrike">
              <a:solidFill>
                <a:schemeClr val="dk1"/>
              </a:solidFill>
              <a:latin typeface="Calibri"/>
              <a:ea typeface="Calibri"/>
              <a:cs typeface="Calibri"/>
              <a:sym typeface="Calibri"/>
            </a:endParaRPr>
          </a:p>
        </p:txBody>
      </p:sp>
      <p:sp>
        <p:nvSpPr>
          <p:cNvPr id="192" name="Google Shape;192;p9"/>
          <p:cNvSpPr/>
          <p:nvPr/>
        </p:nvSpPr>
        <p:spPr>
          <a:xfrm>
            <a:off x="8579815" y="2734056"/>
            <a:ext cx="128016" cy="128016"/>
          </a:xfrm>
          <a:prstGeom prst="ellipse">
            <a:avLst/>
          </a:prstGeom>
          <a:solidFill>
            <a:srgbClr val="1580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9"/>
          <p:cNvSpPr/>
          <p:nvPr/>
        </p:nvSpPr>
        <p:spPr>
          <a:xfrm>
            <a:off x="8835847" y="2679192"/>
            <a:ext cx="2468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200"/>
              <a:buFont typeface="Calibri"/>
              <a:buNone/>
            </a:pPr>
            <a:r>
              <a:rPr b="0" i="0" lang="en-US" sz="1200" u="none" cap="none" strike="noStrike">
                <a:solidFill>
                  <a:srgbClr val="0F172A"/>
                </a:solidFill>
                <a:latin typeface="Calibri"/>
                <a:ea typeface="Calibri"/>
                <a:cs typeface="Calibri"/>
                <a:sym typeface="Calibri"/>
              </a:rPr>
              <a:t>Approve → COLA issued</a:t>
            </a:r>
            <a:endParaRPr b="0" i="0" sz="1200" u="none" cap="none" strike="noStrike">
              <a:solidFill>
                <a:schemeClr val="dk1"/>
              </a:solidFill>
              <a:latin typeface="Calibri"/>
              <a:ea typeface="Calibri"/>
              <a:cs typeface="Calibri"/>
              <a:sym typeface="Calibri"/>
            </a:endParaRPr>
          </a:p>
        </p:txBody>
      </p:sp>
      <p:sp>
        <p:nvSpPr>
          <p:cNvPr id="194" name="Google Shape;194;p9"/>
          <p:cNvSpPr/>
          <p:nvPr/>
        </p:nvSpPr>
        <p:spPr>
          <a:xfrm>
            <a:off x="8579815" y="3099816"/>
            <a:ext cx="128016" cy="128016"/>
          </a:xfrm>
          <a:prstGeom prst="ellipse">
            <a:avLst/>
          </a:prstGeom>
          <a:solidFill>
            <a:srgbClr val="B45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9"/>
          <p:cNvSpPr/>
          <p:nvPr/>
        </p:nvSpPr>
        <p:spPr>
          <a:xfrm>
            <a:off x="8835847" y="3044952"/>
            <a:ext cx="2468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200"/>
              <a:buFont typeface="Calibri"/>
              <a:buNone/>
            </a:pPr>
            <a:r>
              <a:rPr b="0" i="0" lang="en-US" sz="1200" u="none" cap="none" strike="noStrike">
                <a:solidFill>
                  <a:srgbClr val="0F172A"/>
                </a:solidFill>
                <a:latin typeface="Calibri"/>
                <a:ea typeface="Calibri"/>
                <a:cs typeface="Calibri"/>
                <a:sym typeface="Calibri"/>
              </a:rPr>
              <a:t>Return for correction</a:t>
            </a:r>
            <a:endParaRPr b="0" i="0" sz="1200" u="none" cap="none" strike="noStrike">
              <a:solidFill>
                <a:schemeClr val="dk1"/>
              </a:solidFill>
              <a:latin typeface="Calibri"/>
              <a:ea typeface="Calibri"/>
              <a:cs typeface="Calibri"/>
              <a:sym typeface="Calibri"/>
            </a:endParaRPr>
          </a:p>
        </p:txBody>
      </p:sp>
      <p:cxnSp>
        <p:nvCxnSpPr>
          <p:cNvPr id="196" name="Google Shape;196;p9"/>
          <p:cNvCxnSpPr/>
          <p:nvPr/>
        </p:nvCxnSpPr>
        <p:spPr>
          <a:xfrm flipH="1" rot="10800000">
            <a:off x="6987388" y="2743200"/>
            <a:ext cx="1318108" cy="1371600"/>
          </a:xfrm>
          <a:prstGeom prst="straightConnector1">
            <a:avLst/>
          </a:prstGeom>
          <a:noFill/>
          <a:ln cap="flat" cmpd="sng" w="15875">
            <a:solidFill>
              <a:srgbClr val="CBD5E1"/>
            </a:solidFill>
            <a:prstDash val="solid"/>
            <a:round/>
            <a:headEnd len="sm" w="sm" type="none"/>
            <a:tailEnd len="sm" w="sm" type="none"/>
          </a:ln>
        </p:spPr>
      </p:cxnSp>
      <p:sp>
        <p:nvSpPr>
          <p:cNvPr id="197" name="Google Shape;197;p9"/>
          <p:cNvSpPr/>
          <p:nvPr/>
        </p:nvSpPr>
        <p:spPr>
          <a:xfrm>
            <a:off x="7765999" y="3255264"/>
            <a:ext cx="73152" cy="73152"/>
          </a:xfrm>
          <a:prstGeom prst="ellipse">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9"/>
          <p:cNvSpPr/>
          <p:nvPr/>
        </p:nvSpPr>
        <p:spPr>
          <a:xfrm>
            <a:off x="8305495" y="3538728"/>
            <a:ext cx="3200400" cy="118872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9"/>
          <p:cNvSpPr/>
          <p:nvPr/>
        </p:nvSpPr>
        <p:spPr>
          <a:xfrm>
            <a:off x="8305495" y="3538728"/>
            <a:ext cx="3200400" cy="91440"/>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9"/>
          <p:cNvSpPr/>
          <p:nvPr/>
        </p:nvSpPr>
        <p:spPr>
          <a:xfrm>
            <a:off x="8561527" y="3721608"/>
            <a:ext cx="2743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950"/>
              <a:buFont typeface="Calibri"/>
              <a:buNone/>
            </a:pPr>
            <a:r>
              <a:rPr b="1" i="0" lang="en-US" sz="950" u="none" cap="none" strike="noStrike">
                <a:solidFill>
                  <a:srgbClr val="5B6B7F"/>
                </a:solidFill>
                <a:latin typeface="Calibri"/>
                <a:ea typeface="Calibri"/>
                <a:cs typeface="Calibri"/>
                <a:sym typeface="Calibri"/>
              </a:rPr>
              <a:t>WRITTEN BACK TO COLAs ONLINE</a:t>
            </a:r>
            <a:endParaRPr b="0" i="0" sz="950" u="none" cap="none" strike="noStrike">
              <a:solidFill>
                <a:schemeClr val="dk1"/>
              </a:solidFill>
              <a:latin typeface="Calibri"/>
              <a:ea typeface="Calibri"/>
              <a:cs typeface="Calibri"/>
              <a:sym typeface="Calibri"/>
            </a:endParaRPr>
          </a:p>
        </p:txBody>
      </p:sp>
      <p:sp>
        <p:nvSpPr>
          <p:cNvPr id="201" name="Google Shape;201;p9"/>
          <p:cNvSpPr/>
          <p:nvPr/>
        </p:nvSpPr>
        <p:spPr>
          <a:xfrm>
            <a:off x="8579815" y="4123944"/>
            <a:ext cx="128016" cy="128016"/>
          </a:xfrm>
          <a:prstGeom prst="ellipse">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9"/>
          <p:cNvSpPr/>
          <p:nvPr/>
        </p:nvSpPr>
        <p:spPr>
          <a:xfrm>
            <a:off x="8835847" y="4069080"/>
            <a:ext cx="2468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200"/>
              <a:buFont typeface="Calibri"/>
              <a:buNone/>
            </a:pPr>
            <a:r>
              <a:rPr b="0" i="0" lang="en-US" sz="1200" u="none" cap="none" strike="noStrike">
                <a:solidFill>
                  <a:srgbClr val="0F172A"/>
                </a:solidFill>
                <a:latin typeface="Calibri"/>
                <a:ea typeface="Calibri"/>
                <a:cs typeface="Calibri"/>
                <a:sym typeface="Calibri"/>
              </a:rPr>
              <a:t>Decision recorded</a:t>
            </a:r>
            <a:endParaRPr b="0" i="0" sz="1200" u="none" cap="none" strike="noStrike">
              <a:solidFill>
                <a:schemeClr val="dk1"/>
              </a:solidFill>
              <a:latin typeface="Calibri"/>
              <a:ea typeface="Calibri"/>
              <a:cs typeface="Calibri"/>
              <a:sym typeface="Calibri"/>
            </a:endParaRPr>
          </a:p>
        </p:txBody>
      </p:sp>
      <p:sp>
        <p:nvSpPr>
          <p:cNvPr id="203" name="Google Shape;203;p9"/>
          <p:cNvSpPr/>
          <p:nvPr/>
        </p:nvSpPr>
        <p:spPr>
          <a:xfrm>
            <a:off x="8579815" y="4489704"/>
            <a:ext cx="128016" cy="128016"/>
          </a:xfrm>
          <a:prstGeom prst="ellipse">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9"/>
          <p:cNvSpPr/>
          <p:nvPr/>
        </p:nvSpPr>
        <p:spPr>
          <a:xfrm>
            <a:off x="8835847" y="4434840"/>
            <a:ext cx="2468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200"/>
              <a:buFont typeface="Calibri"/>
              <a:buNone/>
            </a:pPr>
            <a:r>
              <a:rPr b="0" i="0" lang="en-US" sz="1200" u="none" cap="none" strike="noStrike">
                <a:solidFill>
                  <a:srgbClr val="0F172A"/>
                </a:solidFill>
                <a:latin typeface="Calibri"/>
                <a:ea typeface="Calibri"/>
                <a:cs typeface="Calibri"/>
                <a:sym typeface="Calibri"/>
              </a:rPr>
              <a:t>Applicant notified by email</a:t>
            </a:r>
            <a:endParaRPr b="0" i="0" sz="1200" u="none" cap="none" strike="noStrike">
              <a:solidFill>
                <a:schemeClr val="dk1"/>
              </a:solidFill>
              <a:latin typeface="Calibri"/>
              <a:ea typeface="Calibri"/>
              <a:cs typeface="Calibri"/>
              <a:sym typeface="Calibri"/>
            </a:endParaRPr>
          </a:p>
        </p:txBody>
      </p:sp>
      <p:cxnSp>
        <p:nvCxnSpPr>
          <p:cNvPr id="205" name="Google Shape;205;p9"/>
          <p:cNvCxnSpPr/>
          <p:nvPr/>
        </p:nvCxnSpPr>
        <p:spPr>
          <a:xfrm>
            <a:off x="6987388" y="4114800"/>
            <a:ext cx="1318108" cy="18288"/>
          </a:xfrm>
          <a:prstGeom prst="straightConnector1">
            <a:avLst/>
          </a:prstGeom>
          <a:noFill/>
          <a:ln cap="flat" cmpd="sng" w="15875">
            <a:solidFill>
              <a:srgbClr val="CBD5E1"/>
            </a:solidFill>
            <a:prstDash val="solid"/>
            <a:round/>
            <a:headEnd len="sm" w="sm" type="none"/>
            <a:tailEnd len="sm" w="sm" type="none"/>
          </a:ln>
        </p:spPr>
      </p:cxnSp>
      <p:sp>
        <p:nvSpPr>
          <p:cNvPr id="206" name="Google Shape;206;p9"/>
          <p:cNvSpPr/>
          <p:nvPr/>
        </p:nvSpPr>
        <p:spPr>
          <a:xfrm>
            <a:off x="7765999" y="4089197"/>
            <a:ext cx="73152" cy="73152"/>
          </a:xfrm>
          <a:prstGeom prst="ellipse">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9"/>
          <p:cNvSpPr/>
          <p:nvPr/>
        </p:nvSpPr>
        <p:spPr>
          <a:xfrm>
            <a:off x="8305495" y="4928616"/>
            <a:ext cx="3200400" cy="118872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9"/>
          <p:cNvSpPr/>
          <p:nvPr/>
        </p:nvSpPr>
        <p:spPr>
          <a:xfrm>
            <a:off x="8305495" y="4928616"/>
            <a:ext cx="3200400" cy="91440"/>
          </a:xfrm>
          <a:prstGeom prst="rect">
            <a:avLst/>
          </a:prstGeom>
          <a:solidFill>
            <a:srgbClr val="1580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9"/>
          <p:cNvSpPr/>
          <p:nvPr/>
        </p:nvSpPr>
        <p:spPr>
          <a:xfrm>
            <a:off x="8561527" y="5111496"/>
            <a:ext cx="2743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950"/>
              <a:buFont typeface="Calibri"/>
              <a:buNone/>
            </a:pPr>
            <a:r>
              <a:rPr b="1" i="0" lang="en-US" sz="950" u="none" cap="none" strike="noStrike">
                <a:solidFill>
                  <a:srgbClr val="5B6B7F"/>
                </a:solidFill>
                <a:latin typeface="Calibri"/>
                <a:ea typeface="Calibri"/>
                <a:cs typeface="Calibri"/>
                <a:sym typeface="Calibri"/>
              </a:rPr>
              <a:t>ENDING</a:t>
            </a:r>
            <a:endParaRPr b="0" i="0" sz="950" u="none" cap="none" strike="noStrike">
              <a:solidFill>
                <a:schemeClr val="dk1"/>
              </a:solidFill>
              <a:latin typeface="Calibri"/>
              <a:ea typeface="Calibri"/>
              <a:cs typeface="Calibri"/>
              <a:sym typeface="Calibri"/>
            </a:endParaRPr>
          </a:p>
        </p:txBody>
      </p:sp>
      <p:sp>
        <p:nvSpPr>
          <p:cNvPr id="210" name="Google Shape;210;p9"/>
          <p:cNvSpPr/>
          <p:nvPr/>
        </p:nvSpPr>
        <p:spPr>
          <a:xfrm>
            <a:off x="8579815" y="5513832"/>
            <a:ext cx="128016" cy="128016"/>
          </a:xfrm>
          <a:prstGeom prst="ellipse">
            <a:avLst/>
          </a:prstGeom>
          <a:solidFill>
            <a:srgbClr val="1580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9"/>
          <p:cNvSpPr/>
          <p:nvPr/>
        </p:nvSpPr>
        <p:spPr>
          <a:xfrm>
            <a:off x="8835847" y="5458968"/>
            <a:ext cx="2468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200"/>
              <a:buFont typeface="Calibri"/>
              <a:buNone/>
            </a:pPr>
            <a:r>
              <a:rPr b="0" i="0" lang="en-US" sz="1200" u="none" cap="none" strike="noStrike">
                <a:solidFill>
                  <a:srgbClr val="0F172A"/>
                </a:solidFill>
                <a:latin typeface="Calibri"/>
                <a:ea typeface="Calibri"/>
                <a:cs typeface="Calibri"/>
                <a:sym typeface="Calibri"/>
              </a:rPr>
              <a:t>Published to Public COLA Registry</a:t>
            </a:r>
            <a:endParaRPr b="0" i="0" sz="1200" u="none" cap="none" strike="noStrike">
              <a:solidFill>
                <a:schemeClr val="dk1"/>
              </a:solidFill>
              <a:latin typeface="Calibri"/>
              <a:ea typeface="Calibri"/>
              <a:cs typeface="Calibri"/>
              <a:sym typeface="Calibri"/>
            </a:endParaRPr>
          </a:p>
        </p:txBody>
      </p:sp>
      <p:sp>
        <p:nvSpPr>
          <p:cNvPr id="212" name="Google Shape;212;p9"/>
          <p:cNvSpPr/>
          <p:nvPr/>
        </p:nvSpPr>
        <p:spPr>
          <a:xfrm>
            <a:off x="8579815" y="5879592"/>
            <a:ext cx="128016" cy="128016"/>
          </a:xfrm>
          <a:prstGeom prst="ellipse">
            <a:avLst/>
          </a:prstGeom>
          <a:solidFill>
            <a:srgbClr val="B91C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9"/>
          <p:cNvSpPr/>
          <p:nvPr/>
        </p:nvSpPr>
        <p:spPr>
          <a:xfrm>
            <a:off x="8835847" y="5824728"/>
            <a:ext cx="2468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200"/>
              <a:buFont typeface="Calibri"/>
              <a:buNone/>
            </a:pPr>
            <a:r>
              <a:rPr b="0" i="0" lang="en-US" sz="1200" u="none" cap="none" strike="noStrike">
                <a:solidFill>
                  <a:srgbClr val="0F172A"/>
                </a:solidFill>
                <a:latin typeface="Calibri"/>
                <a:ea typeface="Calibri"/>
                <a:cs typeface="Calibri"/>
                <a:sym typeface="Calibri"/>
              </a:rPr>
              <a:t>Auto-reject after 30 days</a:t>
            </a:r>
            <a:endParaRPr b="0" i="0" sz="1200" u="none" cap="none" strike="noStrike">
              <a:solidFill>
                <a:schemeClr val="dk1"/>
              </a:solidFill>
              <a:latin typeface="Calibri"/>
              <a:ea typeface="Calibri"/>
              <a:cs typeface="Calibri"/>
              <a:sym typeface="Calibri"/>
            </a:endParaRPr>
          </a:p>
        </p:txBody>
      </p:sp>
      <p:cxnSp>
        <p:nvCxnSpPr>
          <p:cNvPr id="214" name="Google Shape;214;p9"/>
          <p:cNvCxnSpPr/>
          <p:nvPr/>
        </p:nvCxnSpPr>
        <p:spPr>
          <a:xfrm>
            <a:off x="6987388" y="4114800"/>
            <a:ext cx="1318108" cy="1408176"/>
          </a:xfrm>
          <a:prstGeom prst="straightConnector1">
            <a:avLst/>
          </a:prstGeom>
          <a:noFill/>
          <a:ln cap="flat" cmpd="sng" w="15875">
            <a:solidFill>
              <a:srgbClr val="CBD5E1"/>
            </a:solidFill>
            <a:prstDash val="solid"/>
            <a:round/>
            <a:headEnd len="sm" w="sm" type="none"/>
            <a:tailEnd len="sm" w="sm" type="none"/>
          </a:ln>
        </p:spPr>
      </p:cxnSp>
      <p:sp>
        <p:nvSpPr>
          <p:cNvPr id="215" name="Google Shape;215;p9"/>
          <p:cNvSpPr/>
          <p:nvPr/>
        </p:nvSpPr>
        <p:spPr>
          <a:xfrm>
            <a:off x="7765999" y="4923130"/>
            <a:ext cx="73152" cy="73152"/>
          </a:xfrm>
          <a:prstGeom prst="ellipse">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9"/>
          <p:cNvSpPr/>
          <p:nvPr/>
        </p:nvSpPr>
        <p:spPr>
          <a:xfrm>
            <a:off x="4129888" y="5285232"/>
            <a:ext cx="3931920" cy="548640"/>
          </a:xfrm>
          <a:prstGeom prst="rect">
            <a:avLst/>
          </a:prstGeom>
          <a:no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Clr>
                <a:srgbClr val="1C3A5E"/>
              </a:buClr>
              <a:buSzPts val="1050"/>
              <a:buFont typeface="Calibri"/>
              <a:buNone/>
            </a:pPr>
            <a:r>
              <a:rPr b="0" i="1" lang="en-US" sz="1050" u="none" cap="none" strike="noStrike">
                <a:solidFill>
                  <a:srgbClr val="1C3A5E"/>
                </a:solidFill>
                <a:latin typeface="Calibri"/>
                <a:ea typeface="Calibri"/>
                <a:cs typeface="Calibri"/>
                <a:sym typeface="Calibri"/>
              </a:rPr>
              <a:t>LabelCheck sits inside the existing pipeline: it never replaces COLAs Online or contacts applicants.</a:t>
            </a:r>
            <a:endParaRPr b="0" i="0" sz="1050" u="none" cap="none" strike="noStrike">
              <a:solidFill>
                <a:schemeClr val="dk1"/>
              </a:solidFill>
              <a:latin typeface="Calibri"/>
              <a:ea typeface="Calibri"/>
              <a:cs typeface="Calibri"/>
              <a:sym typeface="Calibri"/>
            </a:endParaRPr>
          </a:p>
        </p:txBody>
      </p:sp>
      <p:sp>
        <p:nvSpPr>
          <p:cNvPr id="217" name="Google Shape;217;p9"/>
          <p:cNvSpPr/>
          <p:nvPr/>
        </p:nvSpPr>
        <p:spPr>
          <a:xfrm>
            <a:off x="685800" y="6446520"/>
            <a:ext cx="6400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AI Label Verification · Approach &amp; Design</a:t>
            </a:r>
            <a:endParaRPr b="0" i="0" sz="900" u="none" cap="none" strike="noStrike">
              <a:solidFill>
                <a:schemeClr val="dk1"/>
              </a:solidFill>
              <a:latin typeface="Calibri"/>
              <a:ea typeface="Calibri"/>
              <a:cs typeface="Calibri"/>
              <a:sym typeface="Calibri"/>
            </a:endParaRPr>
          </a:p>
        </p:txBody>
      </p:sp>
      <p:sp>
        <p:nvSpPr>
          <p:cNvPr id="218" name="Google Shape;218;p9"/>
          <p:cNvSpPr/>
          <p:nvPr/>
        </p:nvSpPr>
        <p:spPr>
          <a:xfrm>
            <a:off x="11185855" y="6446520"/>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223" name="Shape 223"/>
        <p:cNvGrpSpPr/>
        <p:nvPr/>
      </p:nvGrpSpPr>
      <p:grpSpPr>
        <a:xfrm>
          <a:off x="0" y="0"/>
          <a:ext cx="0" cy="0"/>
          <a:chOff x="0" y="0"/>
          <a:chExt cx="0" cy="0"/>
        </a:xfrm>
      </p:grpSpPr>
      <p:sp>
        <p:nvSpPr>
          <p:cNvPr id="224" name="Google Shape;224;p10"/>
          <p:cNvSpPr/>
          <p:nvPr/>
        </p:nvSpPr>
        <p:spPr>
          <a:xfrm>
            <a:off x="685800" y="457200"/>
            <a:ext cx="107899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63EB"/>
              </a:buClr>
              <a:buSzPts val="1200"/>
              <a:buFont typeface="Calibri"/>
              <a:buNone/>
            </a:pPr>
            <a:r>
              <a:rPr b="1" i="0" lang="en-US" sz="1200" u="none" cap="none" strike="noStrike">
                <a:solidFill>
                  <a:srgbClr val="2563EB"/>
                </a:solidFill>
                <a:latin typeface="Calibri"/>
                <a:ea typeface="Calibri"/>
                <a:cs typeface="Calibri"/>
                <a:sym typeface="Calibri"/>
              </a:rPr>
              <a:t>HOW IT WORKS</a:t>
            </a:r>
            <a:endParaRPr b="0" i="0" sz="1200" u="none" cap="none" strike="noStrike">
              <a:solidFill>
                <a:schemeClr val="dk1"/>
              </a:solidFill>
              <a:latin typeface="Calibri"/>
              <a:ea typeface="Calibri"/>
              <a:cs typeface="Calibri"/>
              <a:sym typeface="Calibri"/>
            </a:endParaRPr>
          </a:p>
        </p:txBody>
      </p:sp>
      <p:sp>
        <p:nvSpPr>
          <p:cNvPr id="225" name="Google Shape;225;p10"/>
          <p:cNvSpPr/>
          <p:nvPr/>
        </p:nvSpPr>
        <p:spPr>
          <a:xfrm>
            <a:off x="685800" y="749808"/>
            <a:ext cx="107899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Georgia"/>
              <a:buNone/>
            </a:pPr>
            <a:r>
              <a:rPr b="1" i="0" lang="en-US" sz="3200" u="none" cap="none" strike="noStrike">
                <a:solidFill>
                  <a:srgbClr val="0F172A"/>
                </a:solidFill>
                <a:latin typeface="Georgia"/>
                <a:ea typeface="Georgia"/>
                <a:cs typeface="Georgia"/>
                <a:sym typeface="Georgia"/>
              </a:rPr>
              <a:t>The model reads. The code decides.</a:t>
            </a:r>
            <a:endParaRPr b="0" i="0" sz="3200" u="none" cap="none" strike="noStrike">
              <a:solidFill>
                <a:schemeClr val="dk1"/>
              </a:solidFill>
              <a:latin typeface="Calibri"/>
              <a:ea typeface="Calibri"/>
              <a:cs typeface="Calibri"/>
              <a:sym typeface="Calibri"/>
            </a:endParaRPr>
          </a:p>
        </p:txBody>
      </p:sp>
      <p:sp>
        <p:nvSpPr>
          <p:cNvPr id="226" name="Google Shape;226;p10"/>
          <p:cNvSpPr/>
          <p:nvPr/>
        </p:nvSpPr>
        <p:spPr>
          <a:xfrm>
            <a:off x="685800" y="1874520"/>
            <a:ext cx="457200" cy="457200"/>
          </a:xfrm>
          <a:prstGeom prst="ellipse">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0"/>
          <p:cNvSpPr/>
          <p:nvPr/>
        </p:nvSpPr>
        <p:spPr>
          <a:xfrm>
            <a:off x="685800" y="18745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1</a:t>
            </a:r>
            <a:endParaRPr b="0" i="0" sz="1800" u="none" cap="none" strike="noStrike">
              <a:solidFill>
                <a:schemeClr val="dk1"/>
              </a:solidFill>
              <a:latin typeface="Calibri"/>
              <a:ea typeface="Calibri"/>
              <a:cs typeface="Calibri"/>
              <a:sym typeface="Calibri"/>
            </a:endParaRPr>
          </a:p>
        </p:txBody>
      </p:sp>
      <p:sp>
        <p:nvSpPr>
          <p:cNvPr id="228" name="Google Shape;228;p10"/>
          <p:cNvSpPr/>
          <p:nvPr/>
        </p:nvSpPr>
        <p:spPr>
          <a:xfrm>
            <a:off x="1371600" y="1837944"/>
            <a:ext cx="58521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600"/>
              <a:buFont typeface="Calibri"/>
              <a:buNone/>
            </a:pPr>
            <a:r>
              <a:rPr b="1" i="0" lang="en-US" sz="1600" u="none" cap="none" strike="noStrike">
                <a:solidFill>
                  <a:srgbClr val="0F172A"/>
                </a:solidFill>
                <a:latin typeface="Calibri"/>
                <a:ea typeface="Calibri"/>
                <a:cs typeface="Calibri"/>
                <a:sym typeface="Calibri"/>
              </a:rPr>
              <a:t>The model only transcribes</a:t>
            </a:r>
            <a:endParaRPr b="0" i="0" sz="1600" u="none" cap="none" strike="noStrike">
              <a:solidFill>
                <a:schemeClr val="dk1"/>
              </a:solidFill>
              <a:latin typeface="Calibri"/>
              <a:ea typeface="Calibri"/>
              <a:cs typeface="Calibri"/>
              <a:sym typeface="Calibri"/>
            </a:endParaRPr>
          </a:p>
        </p:txBody>
      </p:sp>
      <p:sp>
        <p:nvSpPr>
          <p:cNvPr id="229" name="Google Shape;229;p10"/>
          <p:cNvSpPr/>
          <p:nvPr/>
        </p:nvSpPr>
        <p:spPr>
          <a:xfrm>
            <a:off x="1371600" y="2185416"/>
            <a:ext cx="5989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B7F"/>
              </a:buClr>
              <a:buSzPts val="1300"/>
              <a:buFont typeface="Calibri"/>
              <a:buNone/>
            </a:pPr>
            <a:r>
              <a:rPr b="0" i="0" lang="en-US" sz="1300" u="none" cap="none" strike="noStrike">
                <a:solidFill>
                  <a:srgbClr val="5B6B7F"/>
                </a:solidFill>
                <a:latin typeface="Calibri"/>
                <a:ea typeface="Calibri"/>
                <a:cs typeface="Calibri"/>
                <a:sym typeface="Calibri"/>
              </a:rPr>
              <a:t>It reads the label text from every face; it renders no verdicts.</a:t>
            </a:r>
            <a:endParaRPr b="0" i="0" sz="1300" u="none" cap="none" strike="noStrike">
              <a:solidFill>
                <a:schemeClr val="dk1"/>
              </a:solidFill>
              <a:latin typeface="Calibri"/>
              <a:ea typeface="Calibri"/>
              <a:cs typeface="Calibri"/>
              <a:sym typeface="Calibri"/>
            </a:endParaRPr>
          </a:p>
        </p:txBody>
      </p:sp>
      <p:sp>
        <p:nvSpPr>
          <p:cNvPr id="230" name="Google Shape;230;p10"/>
          <p:cNvSpPr/>
          <p:nvPr/>
        </p:nvSpPr>
        <p:spPr>
          <a:xfrm>
            <a:off x="685800" y="2834640"/>
            <a:ext cx="457200" cy="457200"/>
          </a:xfrm>
          <a:prstGeom prst="ellipse">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0"/>
          <p:cNvSpPr/>
          <p:nvPr/>
        </p:nvSpPr>
        <p:spPr>
          <a:xfrm>
            <a:off x="685800" y="283464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2</a:t>
            </a:r>
            <a:endParaRPr b="0" i="0" sz="1800" u="none" cap="none" strike="noStrike">
              <a:solidFill>
                <a:schemeClr val="dk1"/>
              </a:solidFill>
              <a:latin typeface="Calibri"/>
              <a:ea typeface="Calibri"/>
              <a:cs typeface="Calibri"/>
              <a:sym typeface="Calibri"/>
            </a:endParaRPr>
          </a:p>
        </p:txBody>
      </p:sp>
      <p:sp>
        <p:nvSpPr>
          <p:cNvPr id="232" name="Google Shape;232;p10"/>
          <p:cNvSpPr/>
          <p:nvPr/>
        </p:nvSpPr>
        <p:spPr>
          <a:xfrm>
            <a:off x="1371600" y="2798064"/>
            <a:ext cx="58521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600"/>
              <a:buFont typeface="Calibri"/>
              <a:buNone/>
            </a:pPr>
            <a:r>
              <a:rPr b="1" i="0" lang="en-US" sz="1600" u="none" cap="none" strike="noStrike">
                <a:solidFill>
                  <a:srgbClr val="0F172A"/>
                </a:solidFill>
                <a:latin typeface="Calibri"/>
                <a:ea typeface="Calibri"/>
                <a:cs typeface="Calibri"/>
                <a:sym typeface="Calibri"/>
              </a:rPr>
              <a:t>The code does the matching</a:t>
            </a:r>
            <a:endParaRPr b="0" i="0" sz="1600" u="none" cap="none" strike="noStrike">
              <a:solidFill>
                <a:schemeClr val="dk1"/>
              </a:solidFill>
              <a:latin typeface="Calibri"/>
              <a:ea typeface="Calibri"/>
              <a:cs typeface="Calibri"/>
              <a:sym typeface="Calibri"/>
            </a:endParaRPr>
          </a:p>
        </p:txBody>
      </p:sp>
      <p:sp>
        <p:nvSpPr>
          <p:cNvPr id="233" name="Google Shape;233;p10"/>
          <p:cNvSpPr/>
          <p:nvPr/>
        </p:nvSpPr>
        <p:spPr>
          <a:xfrm>
            <a:off x="1371600" y="3145536"/>
            <a:ext cx="5989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B7F"/>
              </a:buClr>
              <a:buSzPts val="1300"/>
              <a:buFont typeface="Calibri"/>
              <a:buNone/>
            </a:pPr>
            <a:r>
              <a:rPr b="0" i="0" lang="en-US" sz="1300" u="none" cap="none" strike="noStrike">
                <a:solidFill>
                  <a:srgbClr val="5B6B7F"/>
                </a:solidFill>
                <a:latin typeface="Calibri"/>
                <a:ea typeface="Calibri"/>
                <a:cs typeface="Calibri"/>
                <a:sym typeface="Calibri"/>
              </a:rPr>
              <a:t>Per-field rules — brand &amp; type fuzzy, ABV &amp; contents normalized — in inspectable, testable code.</a:t>
            </a:r>
            <a:endParaRPr b="0" i="0" sz="1300" u="none" cap="none" strike="noStrike">
              <a:solidFill>
                <a:schemeClr val="dk1"/>
              </a:solidFill>
              <a:latin typeface="Calibri"/>
              <a:ea typeface="Calibri"/>
              <a:cs typeface="Calibri"/>
              <a:sym typeface="Calibri"/>
            </a:endParaRPr>
          </a:p>
        </p:txBody>
      </p:sp>
      <p:sp>
        <p:nvSpPr>
          <p:cNvPr id="234" name="Google Shape;234;p10"/>
          <p:cNvSpPr/>
          <p:nvPr/>
        </p:nvSpPr>
        <p:spPr>
          <a:xfrm>
            <a:off x="685800" y="3794760"/>
            <a:ext cx="457200" cy="457200"/>
          </a:xfrm>
          <a:prstGeom prst="ellipse">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0"/>
          <p:cNvSpPr/>
          <p:nvPr/>
        </p:nvSpPr>
        <p:spPr>
          <a:xfrm>
            <a:off x="685800" y="379476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3</a:t>
            </a:r>
            <a:endParaRPr b="0" i="0" sz="1800" u="none" cap="none" strike="noStrike">
              <a:solidFill>
                <a:schemeClr val="dk1"/>
              </a:solidFill>
              <a:latin typeface="Calibri"/>
              <a:ea typeface="Calibri"/>
              <a:cs typeface="Calibri"/>
              <a:sym typeface="Calibri"/>
            </a:endParaRPr>
          </a:p>
        </p:txBody>
      </p:sp>
      <p:sp>
        <p:nvSpPr>
          <p:cNvPr id="236" name="Google Shape;236;p10"/>
          <p:cNvSpPr/>
          <p:nvPr/>
        </p:nvSpPr>
        <p:spPr>
          <a:xfrm>
            <a:off x="1371600" y="3758184"/>
            <a:ext cx="58521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600"/>
              <a:buFont typeface="Calibri"/>
              <a:buNone/>
            </a:pPr>
            <a:r>
              <a:rPr b="1" i="0" lang="en-US" sz="1600" u="none" cap="none" strike="noStrike">
                <a:solidFill>
                  <a:srgbClr val="0F172A"/>
                </a:solidFill>
                <a:latin typeface="Calibri"/>
                <a:ea typeface="Calibri"/>
                <a:cs typeface="Calibri"/>
                <a:sym typeface="Calibri"/>
              </a:rPr>
              <a:t>Confidence is computed, not claimed</a:t>
            </a:r>
            <a:endParaRPr b="0" i="0" sz="1600" u="none" cap="none" strike="noStrike">
              <a:solidFill>
                <a:schemeClr val="dk1"/>
              </a:solidFill>
              <a:latin typeface="Calibri"/>
              <a:ea typeface="Calibri"/>
              <a:cs typeface="Calibri"/>
              <a:sym typeface="Calibri"/>
            </a:endParaRPr>
          </a:p>
        </p:txBody>
      </p:sp>
      <p:sp>
        <p:nvSpPr>
          <p:cNvPr id="237" name="Google Shape;237;p10"/>
          <p:cNvSpPr/>
          <p:nvPr/>
        </p:nvSpPr>
        <p:spPr>
          <a:xfrm>
            <a:off x="1371600" y="4105656"/>
            <a:ext cx="5989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B6B7F"/>
              </a:buClr>
              <a:buSzPts val="1300"/>
              <a:buFont typeface="Calibri"/>
              <a:buNone/>
            </a:pPr>
            <a:r>
              <a:rPr b="0" i="0" lang="en-US" sz="1300" u="none" cap="none" strike="noStrike">
                <a:solidFill>
                  <a:srgbClr val="5B6B7F"/>
                </a:solidFill>
                <a:latin typeface="Calibri"/>
                <a:ea typeface="Calibri"/>
                <a:cs typeface="Calibri"/>
                <a:sym typeface="Calibri"/>
              </a:rPr>
              <a:t>Derived from match margin and legibility — never the model’s self-reported number.</a:t>
            </a:r>
            <a:endParaRPr b="0" i="0" sz="1300" u="none" cap="none" strike="noStrike">
              <a:solidFill>
                <a:schemeClr val="dk1"/>
              </a:solidFill>
              <a:latin typeface="Calibri"/>
              <a:ea typeface="Calibri"/>
              <a:cs typeface="Calibri"/>
              <a:sym typeface="Calibri"/>
            </a:endParaRPr>
          </a:p>
        </p:txBody>
      </p:sp>
      <p:sp>
        <p:nvSpPr>
          <p:cNvPr id="238" name="Google Shape;238;p10"/>
          <p:cNvSpPr/>
          <p:nvPr/>
        </p:nvSpPr>
        <p:spPr>
          <a:xfrm>
            <a:off x="7360920" y="1828800"/>
            <a:ext cx="4160520" cy="3291840"/>
          </a:xfrm>
          <a:prstGeom prst="rect">
            <a:avLst/>
          </a:prstGeom>
          <a:solidFill>
            <a:srgbClr val="12233B"/>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0"/>
          <p:cNvSpPr/>
          <p:nvPr/>
        </p:nvSpPr>
        <p:spPr>
          <a:xfrm>
            <a:off x="7360920" y="1828800"/>
            <a:ext cx="4160520" cy="109728"/>
          </a:xfrm>
          <a:prstGeom prst="rect">
            <a:avLst/>
          </a:prstGeom>
          <a:solidFill>
            <a:srgbClr val="B45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0"/>
          <p:cNvSpPr/>
          <p:nvPr/>
        </p:nvSpPr>
        <p:spPr>
          <a:xfrm>
            <a:off x="7680960" y="2121408"/>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C58A"/>
              </a:buClr>
              <a:buSzPts val="1100"/>
              <a:buFont typeface="Calibri"/>
              <a:buNone/>
            </a:pPr>
            <a:r>
              <a:rPr b="1" i="0" lang="en-US" sz="1100" u="none" cap="none" strike="noStrike">
                <a:solidFill>
                  <a:srgbClr val="F0C58A"/>
                </a:solidFill>
                <a:latin typeface="Calibri"/>
                <a:ea typeface="Calibri"/>
                <a:cs typeface="Calibri"/>
                <a:sym typeface="Calibri"/>
              </a:rPr>
              <a:t>THE HARDEST CHECK</a:t>
            </a:r>
            <a:endParaRPr b="0" i="0" sz="1100" u="none" cap="none" strike="noStrike">
              <a:solidFill>
                <a:schemeClr val="dk1"/>
              </a:solidFill>
              <a:latin typeface="Calibri"/>
              <a:ea typeface="Calibri"/>
              <a:cs typeface="Calibri"/>
              <a:sym typeface="Calibri"/>
            </a:endParaRPr>
          </a:p>
        </p:txBody>
      </p:sp>
      <p:sp>
        <p:nvSpPr>
          <p:cNvPr id="241" name="Google Shape;241;p10"/>
          <p:cNvSpPr/>
          <p:nvPr/>
        </p:nvSpPr>
        <p:spPr>
          <a:xfrm>
            <a:off x="7680960" y="2414016"/>
            <a:ext cx="3657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Georgia"/>
              <a:buNone/>
            </a:pPr>
            <a:r>
              <a:rPr b="1" i="0" lang="en-US" sz="2000" u="none" cap="none" strike="noStrike">
                <a:solidFill>
                  <a:srgbClr val="FFFFFF"/>
                </a:solidFill>
                <a:latin typeface="Georgia"/>
                <a:ea typeface="Georgia"/>
                <a:cs typeface="Georgia"/>
                <a:sym typeface="Georgia"/>
              </a:rPr>
              <a:t>Government Warning</a:t>
            </a:r>
            <a:endParaRPr b="0" i="0" sz="2000" u="none" cap="none" strike="noStrike">
              <a:solidFill>
                <a:schemeClr val="dk1"/>
              </a:solidFill>
              <a:latin typeface="Calibri"/>
              <a:ea typeface="Calibri"/>
              <a:cs typeface="Calibri"/>
              <a:sym typeface="Calibri"/>
            </a:endParaRPr>
          </a:p>
        </p:txBody>
      </p:sp>
      <p:sp>
        <p:nvSpPr>
          <p:cNvPr id="242" name="Google Shape;242;p10"/>
          <p:cNvSpPr/>
          <p:nvPr/>
        </p:nvSpPr>
        <p:spPr>
          <a:xfrm>
            <a:off x="7680960" y="2944368"/>
            <a:ext cx="3611880" cy="457200"/>
          </a:xfrm>
          <a:prstGeom prst="rect">
            <a:avLst/>
          </a:prstGeom>
          <a:noFill/>
          <a:ln>
            <a:noFill/>
          </a:ln>
        </p:spPr>
        <p:txBody>
          <a:bodyPr anchorCtr="0" anchor="ctr" bIns="0" lIns="0" spcFirstLastPara="1" rIns="0" wrap="square" tIns="0">
            <a:noAutofit/>
          </a:bodyPr>
          <a:lstStyle/>
          <a:p>
            <a:pPr indent="-152400" lvl="0" marL="152400" marR="0" rtl="0" algn="l">
              <a:spcBef>
                <a:spcPts val="0"/>
              </a:spcBef>
              <a:spcAft>
                <a:spcPts val="0"/>
              </a:spcAft>
              <a:buClr>
                <a:srgbClr val="DCE6F2"/>
              </a:buClr>
              <a:buSzPts val="1300"/>
              <a:buFont typeface="Calibri"/>
              <a:buChar char="•"/>
            </a:pPr>
            <a:r>
              <a:rPr b="0" i="0" lang="en-US" sz="1300" u="none" cap="none" strike="noStrike">
                <a:solidFill>
                  <a:srgbClr val="DCE6F2"/>
                </a:solidFill>
                <a:latin typeface="Calibri"/>
                <a:ea typeface="Calibri"/>
                <a:cs typeface="Calibri"/>
                <a:sym typeface="Calibri"/>
              </a:rPr>
              <a:t>Present on any face</a:t>
            </a:r>
            <a:endParaRPr b="0" i="0" sz="1300" u="none" cap="none" strike="noStrike">
              <a:solidFill>
                <a:schemeClr val="dk1"/>
              </a:solidFill>
              <a:latin typeface="Calibri"/>
              <a:ea typeface="Calibri"/>
              <a:cs typeface="Calibri"/>
              <a:sym typeface="Calibri"/>
            </a:endParaRPr>
          </a:p>
        </p:txBody>
      </p:sp>
      <p:sp>
        <p:nvSpPr>
          <p:cNvPr id="243" name="Google Shape;243;p10"/>
          <p:cNvSpPr/>
          <p:nvPr/>
        </p:nvSpPr>
        <p:spPr>
          <a:xfrm>
            <a:off x="7680960" y="3447288"/>
            <a:ext cx="3611880" cy="457200"/>
          </a:xfrm>
          <a:prstGeom prst="rect">
            <a:avLst/>
          </a:prstGeom>
          <a:noFill/>
          <a:ln>
            <a:noFill/>
          </a:ln>
        </p:spPr>
        <p:txBody>
          <a:bodyPr anchorCtr="0" anchor="ctr" bIns="0" lIns="0" spcFirstLastPara="1" rIns="0" wrap="square" tIns="0">
            <a:noAutofit/>
          </a:bodyPr>
          <a:lstStyle/>
          <a:p>
            <a:pPr indent="-152400" lvl="0" marL="152400" marR="0" rtl="0" algn="l">
              <a:spcBef>
                <a:spcPts val="0"/>
              </a:spcBef>
              <a:spcAft>
                <a:spcPts val="0"/>
              </a:spcAft>
              <a:buClr>
                <a:srgbClr val="DCE6F2"/>
              </a:buClr>
              <a:buSzPts val="1300"/>
              <a:buFont typeface="Calibri"/>
              <a:buChar char="•"/>
            </a:pPr>
            <a:r>
              <a:rPr b="0" i="0" lang="en-US" sz="1300" u="none" cap="none" strike="noStrike">
                <a:solidFill>
                  <a:srgbClr val="DCE6F2"/>
                </a:solidFill>
                <a:latin typeface="Calibri"/>
                <a:ea typeface="Calibri"/>
                <a:cs typeface="Calibri"/>
                <a:sym typeface="Calibri"/>
              </a:rPr>
              <a:t>Verbatim wording</a:t>
            </a:r>
            <a:endParaRPr b="0" i="0" sz="1300" u="none" cap="none" strike="noStrike">
              <a:solidFill>
                <a:schemeClr val="dk1"/>
              </a:solidFill>
              <a:latin typeface="Calibri"/>
              <a:ea typeface="Calibri"/>
              <a:cs typeface="Calibri"/>
              <a:sym typeface="Calibri"/>
            </a:endParaRPr>
          </a:p>
        </p:txBody>
      </p:sp>
      <p:sp>
        <p:nvSpPr>
          <p:cNvPr id="244" name="Google Shape;244;p10"/>
          <p:cNvSpPr/>
          <p:nvPr/>
        </p:nvSpPr>
        <p:spPr>
          <a:xfrm>
            <a:off x="7680960" y="3950208"/>
            <a:ext cx="3611880" cy="457200"/>
          </a:xfrm>
          <a:prstGeom prst="rect">
            <a:avLst/>
          </a:prstGeom>
          <a:noFill/>
          <a:ln>
            <a:noFill/>
          </a:ln>
        </p:spPr>
        <p:txBody>
          <a:bodyPr anchorCtr="0" anchor="ctr" bIns="0" lIns="0" spcFirstLastPara="1" rIns="0" wrap="square" tIns="0">
            <a:noAutofit/>
          </a:bodyPr>
          <a:lstStyle/>
          <a:p>
            <a:pPr indent="-152400" lvl="0" marL="152400" marR="0" rtl="0" algn="l">
              <a:spcBef>
                <a:spcPts val="0"/>
              </a:spcBef>
              <a:spcAft>
                <a:spcPts val="0"/>
              </a:spcAft>
              <a:buClr>
                <a:srgbClr val="DCE6F2"/>
              </a:buClr>
              <a:buSzPts val="1300"/>
              <a:buFont typeface="Calibri"/>
              <a:buChar char="•"/>
            </a:pPr>
            <a:r>
              <a:rPr b="0" i="0" lang="en-US" sz="1300" u="none" cap="none" strike="noStrike">
                <a:solidFill>
                  <a:srgbClr val="DCE6F2"/>
                </a:solidFill>
                <a:latin typeface="Calibri"/>
                <a:ea typeface="Calibri"/>
                <a:cs typeface="Calibri"/>
                <a:sym typeface="Calibri"/>
              </a:rPr>
              <a:t>‘GOVERNMENT WARNING:’ in ALL CAPS — strict</a:t>
            </a:r>
            <a:endParaRPr b="0" i="0" sz="1300" u="none" cap="none" strike="noStrike">
              <a:solidFill>
                <a:schemeClr val="dk1"/>
              </a:solidFill>
              <a:latin typeface="Calibri"/>
              <a:ea typeface="Calibri"/>
              <a:cs typeface="Calibri"/>
              <a:sym typeface="Calibri"/>
            </a:endParaRPr>
          </a:p>
        </p:txBody>
      </p:sp>
      <p:sp>
        <p:nvSpPr>
          <p:cNvPr id="245" name="Google Shape;245;p10"/>
          <p:cNvSpPr/>
          <p:nvPr/>
        </p:nvSpPr>
        <p:spPr>
          <a:xfrm>
            <a:off x="7680960" y="4453128"/>
            <a:ext cx="3611880" cy="457200"/>
          </a:xfrm>
          <a:prstGeom prst="rect">
            <a:avLst/>
          </a:prstGeom>
          <a:noFill/>
          <a:ln>
            <a:noFill/>
          </a:ln>
        </p:spPr>
        <p:txBody>
          <a:bodyPr anchorCtr="0" anchor="ctr" bIns="0" lIns="0" spcFirstLastPara="1" rIns="0" wrap="square" tIns="0">
            <a:noAutofit/>
          </a:bodyPr>
          <a:lstStyle/>
          <a:p>
            <a:pPr indent="-152400" lvl="0" marL="152400" marR="0" rtl="0" algn="l">
              <a:spcBef>
                <a:spcPts val="0"/>
              </a:spcBef>
              <a:spcAft>
                <a:spcPts val="0"/>
              </a:spcAft>
              <a:buClr>
                <a:srgbClr val="DCE6F2"/>
              </a:buClr>
              <a:buSzPts val="1300"/>
              <a:buFont typeface="Calibri"/>
              <a:buChar char="•"/>
            </a:pPr>
            <a:r>
              <a:rPr b="0" i="0" lang="en-US" sz="1300" u="none" cap="none" strike="noStrike">
                <a:solidFill>
                  <a:srgbClr val="DCE6F2"/>
                </a:solidFill>
                <a:latin typeface="Calibri"/>
                <a:ea typeface="Calibri"/>
                <a:cs typeface="Calibri"/>
                <a:sym typeface="Calibri"/>
              </a:rPr>
              <a:t>Bold is best-effort → routed to a human</a:t>
            </a:r>
            <a:endParaRPr b="0" i="0" sz="1300" u="none" cap="none" strike="noStrike">
              <a:solidFill>
                <a:schemeClr val="dk1"/>
              </a:solidFill>
              <a:latin typeface="Calibri"/>
              <a:ea typeface="Calibri"/>
              <a:cs typeface="Calibri"/>
              <a:sym typeface="Calibri"/>
            </a:endParaRPr>
          </a:p>
        </p:txBody>
      </p:sp>
      <p:sp>
        <p:nvSpPr>
          <p:cNvPr id="246" name="Google Shape;246;p10"/>
          <p:cNvSpPr/>
          <p:nvPr/>
        </p:nvSpPr>
        <p:spPr>
          <a:xfrm>
            <a:off x="685800" y="6446520"/>
            <a:ext cx="6400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AI Label Verification · Approach &amp; Design</a:t>
            </a:r>
            <a:endParaRPr b="0" i="0" sz="900" u="none" cap="none" strike="noStrike">
              <a:solidFill>
                <a:schemeClr val="dk1"/>
              </a:solidFill>
              <a:latin typeface="Calibri"/>
              <a:ea typeface="Calibri"/>
              <a:cs typeface="Calibri"/>
              <a:sym typeface="Calibri"/>
            </a:endParaRPr>
          </a:p>
        </p:txBody>
      </p:sp>
      <p:sp>
        <p:nvSpPr>
          <p:cNvPr id="247" name="Google Shape;247;p10"/>
          <p:cNvSpPr/>
          <p:nvPr/>
        </p:nvSpPr>
        <p:spPr>
          <a:xfrm>
            <a:off x="11185855" y="6446520"/>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252" name="Shape 252"/>
        <p:cNvGrpSpPr/>
        <p:nvPr/>
      </p:nvGrpSpPr>
      <p:grpSpPr>
        <a:xfrm>
          <a:off x="0" y="0"/>
          <a:ext cx="0" cy="0"/>
          <a:chOff x="0" y="0"/>
          <a:chExt cx="0" cy="0"/>
        </a:xfrm>
      </p:grpSpPr>
      <p:sp>
        <p:nvSpPr>
          <p:cNvPr id="253" name="Google Shape;253;p11"/>
          <p:cNvSpPr/>
          <p:nvPr/>
        </p:nvSpPr>
        <p:spPr>
          <a:xfrm>
            <a:off x="685800" y="457200"/>
            <a:ext cx="107899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63EB"/>
              </a:buClr>
              <a:buSzPts val="1200"/>
              <a:buFont typeface="Calibri"/>
              <a:buNone/>
            </a:pPr>
            <a:r>
              <a:rPr b="1" i="0" lang="en-US" sz="1200" u="none" cap="none" strike="noStrike">
                <a:solidFill>
                  <a:srgbClr val="2563EB"/>
                </a:solidFill>
                <a:latin typeface="Calibri"/>
                <a:ea typeface="Calibri"/>
                <a:cs typeface="Calibri"/>
                <a:sym typeface="Calibri"/>
              </a:rPr>
              <a:t>END TO END</a:t>
            </a:r>
            <a:endParaRPr b="0" i="0" sz="1200" u="none" cap="none" strike="noStrike">
              <a:solidFill>
                <a:schemeClr val="dk1"/>
              </a:solidFill>
              <a:latin typeface="Calibri"/>
              <a:ea typeface="Calibri"/>
              <a:cs typeface="Calibri"/>
              <a:sym typeface="Calibri"/>
            </a:endParaRPr>
          </a:p>
        </p:txBody>
      </p:sp>
      <p:sp>
        <p:nvSpPr>
          <p:cNvPr id="254" name="Google Shape;254;p11"/>
          <p:cNvSpPr/>
          <p:nvPr/>
        </p:nvSpPr>
        <p:spPr>
          <a:xfrm>
            <a:off x="685800" y="749808"/>
            <a:ext cx="107899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Georgia"/>
              <a:buNone/>
            </a:pPr>
            <a:r>
              <a:rPr b="1" i="0" lang="en-US" sz="3200" u="none" cap="none" strike="noStrike">
                <a:solidFill>
                  <a:srgbClr val="0F172A"/>
                </a:solidFill>
                <a:latin typeface="Georgia"/>
                <a:ea typeface="Georgia"/>
                <a:cs typeface="Georgia"/>
                <a:sym typeface="Georgia"/>
              </a:rPr>
              <a:t>The application lifecycle</a:t>
            </a:r>
            <a:endParaRPr b="0" i="0" sz="3200" u="none" cap="none" strike="noStrike">
              <a:solidFill>
                <a:schemeClr val="dk1"/>
              </a:solidFill>
              <a:latin typeface="Calibri"/>
              <a:ea typeface="Calibri"/>
              <a:cs typeface="Calibri"/>
              <a:sym typeface="Calibri"/>
            </a:endParaRPr>
          </a:p>
        </p:txBody>
      </p:sp>
      <p:sp>
        <p:nvSpPr>
          <p:cNvPr id="255" name="Google Shape;255;p11"/>
          <p:cNvSpPr/>
          <p:nvPr/>
        </p:nvSpPr>
        <p:spPr>
          <a:xfrm>
            <a:off x="685800" y="2057400"/>
            <a:ext cx="1650492" cy="324612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a:off x="868680" y="2276856"/>
            <a:ext cx="438912" cy="438912"/>
          </a:xfrm>
          <a:prstGeom prst="ellipse">
            <a:avLst/>
          </a:prstGeom>
          <a:solidFill>
            <a:srgbClr val="1223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a:off x="868680" y="2276856"/>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1</a:t>
            </a:r>
            <a:endParaRPr b="0" i="0" sz="1600" u="none" cap="none" strike="noStrike">
              <a:solidFill>
                <a:schemeClr val="dk1"/>
              </a:solidFill>
              <a:latin typeface="Calibri"/>
              <a:ea typeface="Calibri"/>
              <a:cs typeface="Calibri"/>
              <a:sym typeface="Calibri"/>
            </a:endParaRPr>
          </a:p>
        </p:txBody>
      </p:sp>
      <p:sp>
        <p:nvSpPr>
          <p:cNvPr id="258" name="Google Shape;258;p11"/>
          <p:cNvSpPr/>
          <p:nvPr/>
        </p:nvSpPr>
        <p:spPr>
          <a:xfrm>
            <a:off x="850392" y="2843784"/>
            <a:ext cx="1339596" cy="45720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0F172A"/>
              </a:buClr>
              <a:buSzPts val="1400"/>
              <a:buFont typeface="Georgia"/>
              <a:buNone/>
            </a:pPr>
            <a:r>
              <a:rPr b="1" i="0" lang="en-US" sz="1400" u="none" cap="none" strike="noStrike">
                <a:solidFill>
                  <a:srgbClr val="0F172A"/>
                </a:solidFill>
                <a:latin typeface="Georgia"/>
                <a:ea typeface="Georgia"/>
                <a:cs typeface="Georgia"/>
                <a:sym typeface="Georgia"/>
              </a:rPr>
              <a:t>Submitted</a:t>
            </a:r>
            <a:endParaRPr b="0" i="0" sz="1400" u="none" cap="none" strike="noStrike">
              <a:solidFill>
                <a:schemeClr val="dk1"/>
              </a:solidFill>
              <a:latin typeface="Calibri"/>
              <a:ea typeface="Calibri"/>
              <a:cs typeface="Calibri"/>
              <a:sym typeface="Calibri"/>
            </a:endParaRPr>
          </a:p>
        </p:txBody>
      </p:sp>
      <p:sp>
        <p:nvSpPr>
          <p:cNvPr id="259" name="Google Shape;259;p11"/>
          <p:cNvSpPr/>
          <p:nvPr/>
        </p:nvSpPr>
        <p:spPr>
          <a:xfrm>
            <a:off x="850392" y="3300984"/>
            <a:ext cx="133959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050"/>
              <a:buFont typeface="Calibri"/>
              <a:buNone/>
            </a:pPr>
            <a:r>
              <a:rPr b="0" i="0" lang="en-US" sz="1050" u="none" cap="none" strike="noStrike">
                <a:solidFill>
                  <a:srgbClr val="5B6B7F"/>
                </a:solidFill>
                <a:latin typeface="Calibri"/>
                <a:ea typeface="Calibri"/>
                <a:cs typeface="Calibri"/>
                <a:sym typeface="Calibri"/>
              </a:rPr>
              <a:t>via COLAs Online</a:t>
            </a:r>
            <a:endParaRPr b="0" i="0" sz="1050" u="none" cap="none" strike="noStrike">
              <a:solidFill>
                <a:schemeClr val="dk1"/>
              </a:solidFill>
              <a:latin typeface="Calibri"/>
              <a:ea typeface="Calibri"/>
              <a:cs typeface="Calibri"/>
              <a:sym typeface="Calibri"/>
            </a:endParaRPr>
          </a:p>
        </p:txBody>
      </p:sp>
      <p:sp>
        <p:nvSpPr>
          <p:cNvPr id="260" name="Google Shape;260;p11"/>
          <p:cNvSpPr/>
          <p:nvPr/>
        </p:nvSpPr>
        <p:spPr>
          <a:xfrm>
            <a:off x="2299716" y="2313432"/>
            <a:ext cx="25603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5E1"/>
              </a:buClr>
              <a:buSzPts val="1400"/>
              <a:buFont typeface="Georgia"/>
              <a:buNone/>
            </a:pPr>
            <a:r>
              <a:rPr b="1" i="0" lang="en-US" sz="1400" u="none" cap="none" strike="noStrike">
                <a:solidFill>
                  <a:srgbClr val="CBD5E1"/>
                </a:solidFill>
                <a:latin typeface="Georgia"/>
                <a:ea typeface="Georgia"/>
                <a:cs typeface="Georgia"/>
                <a:sym typeface="Georgia"/>
              </a:rPr>
              <a:t>→</a:t>
            </a:r>
            <a:endParaRPr b="0" i="0" sz="1400" u="none" cap="none" strike="noStrike">
              <a:solidFill>
                <a:schemeClr val="dk1"/>
              </a:solidFill>
              <a:latin typeface="Calibri"/>
              <a:ea typeface="Calibri"/>
              <a:cs typeface="Calibri"/>
              <a:sym typeface="Calibri"/>
            </a:endParaRPr>
          </a:p>
        </p:txBody>
      </p:sp>
      <p:sp>
        <p:nvSpPr>
          <p:cNvPr id="261" name="Google Shape;261;p11"/>
          <p:cNvSpPr/>
          <p:nvPr/>
        </p:nvSpPr>
        <p:spPr>
          <a:xfrm>
            <a:off x="2519172" y="2057400"/>
            <a:ext cx="1650492" cy="324612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a:off x="2702052" y="2276856"/>
            <a:ext cx="438912" cy="438912"/>
          </a:xfrm>
          <a:prstGeom prst="ellipse">
            <a:avLst/>
          </a:prstGeom>
          <a:solidFill>
            <a:srgbClr val="1223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1"/>
          <p:cNvSpPr/>
          <p:nvPr/>
        </p:nvSpPr>
        <p:spPr>
          <a:xfrm>
            <a:off x="2702052" y="2276856"/>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2</a:t>
            </a:r>
            <a:endParaRPr b="0" i="0" sz="1600" u="none" cap="none" strike="noStrike">
              <a:solidFill>
                <a:schemeClr val="dk1"/>
              </a:solidFill>
              <a:latin typeface="Calibri"/>
              <a:ea typeface="Calibri"/>
              <a:cs typeface="Calibri"/>
              <a:sym typeface="Calibri"/>
            </a:endParaRPr>
          </a:p>
        </p:txBody>
      </p:sp>
      <p:sp>
        <p:nvSpPr>
          <p:cNvPr id="264" name="Google Shape;264;p11"/>
          <p:cNvSpPr/>
          <p:nvPr/>
        </p:nvSpPr>
        <p:spPr>
          <a:xfrm>
            <a:off x="2683764" y="2843784"/>
            <a:ext cx="1339596" cy="45720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0F172A"/>
              </a:buClr>
              <a:buSzPts val="1400"/>
              <a:buFont typeface="Georgia"/>
              <a:buNone/>
            </a:pPr>
            <a:r>
              <a:rPr b="1" i="0" lang="en-US" sz="1400" u="none" cap="none" strike="noStrike">
                <a:solidFill>
                  <a:srgbClr val="0F172A"/>
                </a:solidFill>
                <a:latin typeface="Georgia"/>
                <a:ea typeface="Georgia"/>
                <a:cs typeface="Georgia"/>
                <a:sym typeface="Georgia"/>
              </a:rPr>
              <a:t>Auto-verified</a:t>
            </a:r>
            <a:endParaRPr b="0" i="0" sz="1400" u="none" cap="none" strike="noStrike">
              <a:solidFill>
                <a:schemeClr val="dk1"/>
              </a:solidFill>
              <a:latin typeface="Calibri"/>
              <a:ea typeface="Calibri"/>
              <a:cs typeface="Calibri"/>
              <a:sym typeface="Calibri"/>
            </a:endParaRPr>
          </a:p>
        </p:txBody>
      </p:sp>
      <p:sp>
        <p:nvSpPr>
          <p:cNvPr id="265" name="Google Shape;265;p11"/>
          <p:cNvSpPr/>
          <p:nvPr/>
        </p:nvSpPr>
        <p:spPr>
          <a:xfrm>
            <a:off x="2683764" y="3300984"/>
            <a:ext cx="133959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050"/>
              <a:buFont typeface="Calibri"/>
              <a:buNone/>
            </a:pPr>
            <a:r>
              <a:rPr b="0" i="0" lang="en-US" sz="1050" u="none" cap="none" strike="noStrike">
                <a:solidFill>
                  <a:srgbClr val="5B6B7F"/>
                </a:solidFill>
                <a:latin typeface="Calibri"/>
                <a:ea typeface="Calibri"/>
                <a:cs typeface="Calibri"/>
                <a:sym typeface="Calibri"/>
              </a:rPr>
              <a:t>AI reads label vs form</a:t>
            </a:r>
            <a:endParaRPr b="0" i="0" sz="1050" u="none" cap="none" strike="noStrike">
              <a:solidFill>
                <a:schemeClr val="dk1"/>
              </a:solidFill>
              <a:latin typeface="Calibri"/>
              <a:ea typeface="Calibri"/>
              <a:cs typeface="Calibri"/>
              <a:sym typeface="Calibri"/>
            </a:endParaRPr>
          </a:p>
        </p:txBody>
      </p:sp>
      <p:sp>
        <p:nvSpPr>
          <p:cNvPr id="266" name="Google Shape;266;p11"/>
          <p:cNvSpPr/>
          <p:nvPr/>
        </p:nvSpPr>
        <p:spPr>
          <a:xfrm>
            <a:off x="4133088" y="2313432"/>
            <a:ext cx="25603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5E1"/>
              </a:buClr>
              <a:buSzPts val="1400"/>
              <a:buFont typeface="Georgia"/>
              <a:buNone/>
            </a:pPr>
            <a:r>
              <a:rPr b="1" i="0" lang="en-US" sz="1400" u="none" cap="none" strike="noStrike">
                <a:solidFill>
                  <a:srgbClr val="CBD5E1"/>
                </a:solidFill>
                <a:latin typeface="Georgia"/>
                <a:ea typeface="Georgia"/>
                <a:cs typeface="Georgia"/>
                <a:sym typeface="Georgia"/>
              </a:rPr>
              <a:t>→</a:t>
            </a:r>
            <a:endParaRPr b="0" i="0" sz="1400" u="none" cap="none" strike="noStrike">
              <a:solidFill>
                <a:schemeClr val="dk1"/>
              </a:solidFill>
              <a:latin typeface="Calibri"/>
              <a:ea typeface="Calibri"/>
              <a:cs typeface="Calibri"/>
              <a:sym typeface="Calibri"/>
            </a:endParaRPr>
          </a:p>
        </p:txBody>
      </p:sp>
      <p:sp>
        <p:nvSpPr>
          <p:cNvPr id="267" name="Google Shape;267;p11"/>
          <p:cNvSpPr/>
          <p:nvPr/>
        </p:nvSpPr>
        <p:spPr>
          <a:xfrm>
            <a:off x="4352544" y="2057400"/>
            <a:ext cx="1650492" cy="324612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1"/>
          <p:cNvSpPr/>
          <p:nvPr/>
        </p:nvSpPr>
        <p:spPr>
          <a:xfrm>
            <a:off x="4535424" y="2276856"/>
            <a:ext cx="438912" cy="438912"/>
          </a:xfrm>
          <a:prstGeom prst="ellipse">
            <a:avLst/>
          </a:prstGeom>
          <a:solidFill>
            <a:srgbClr val="1223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1"/>
          <p:cNvSpPr/>
          <p:nvPr/>
        </p:nvSpPr>
        <p:spPr>
          <a:xfrm>
            <a:off x="4535424" y="2276856"/>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3</a:t>
            </a:r>
            <a:endParaRPr b="0" i="0" sz="1600" u="none" cap="none" strike="noStrike">
              <a:solidFill>
                <a:schemeClr val="dk1"/>
              </a:solidFill>
              <a:latin typeface="Calibri"/>
              <a:ea typeface="Calibri"/>
              <a:cs typeface="Calibri"/>
              <a:sym typeface="Calibri"/>
            </a:endParaRPr>
          </a:p>
        </p:txBody>
      </p:sp>
      <p:sp>
        <p:nvSpPr>
          <p:cNvPr id="270" name="Google Shape;270;p11"/>
          <p:cNvSpPr/>
          <p:nvPr/>
        </p:nvSpPr>
        <p:spPr>
          <a:xfrm>
            <a:off x="4517136" y="2843784"/>
            <a:ext cx="1339596" cy="45720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0F172A"/>
              </a:buClr>
              <a:buSzPts val="1400"/>
              <a:buFont typeface="Georgia"/>
              <a:buNone/>
            </a:pPr>
            <a:r>
              <a:rPr b="1" i="0" lang="en-US" sz="1400" u="none" cap="none" strike="noStrike">
                <a:solidFill>
                  <a:srgbClr val="0F172A"/>
                </a:solidFill>
                <a:latin typeface="Georgia"/>
                <a:ea typeface="Georgia"/>
                <a:cs typeface="Georgia"/>
                <a:sym typeface="Georgia"/>
              </a:rPr>
              <a:t>Triaged</a:t>
            </a:r>
            <a:endParaRPr b="0" i="0" sz="1400" u="none" cap="none" strike="noStrike">
              <a:solidFill>
                <a:schemeClr val="dk1"/>
              </a:solidFill>
              <a:latin typeface="Calibri"/>
              <a:ea typeface="Calibri"/>
              <a:cs typeface="Calibri"/>
              <a:sym typeface="Calibri"/>
            </a:endParaRPr>
          </a:p>
        </p:txBody>
      </p:sp>
      <p:sp>
        <p:nvSpPr>
          <p:cNvPr id="271" name="Google Shape;271;p11"/>
          <p:cNvSpPr/>
          <p:nvPr/>
        </p:nvSpPr>
        <p:spPr>
          <a:xfrm>
            <a:off x="4517136" y="3300984"/>
            <a:ext cx="133959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050"/>
              <a:buFont typeface="Calibri"/>
              <a:buNone/>
            </a:pPr>
            <a:r>
              <a:rPr b="0" i="0" lang="en-US" sz="1050" u="none" cap="none" strike="noStrike">
                <a:solidFill>
                  <a:srgbClr val="5B6B7F"/>
                </a:solidFill>
                <a:latin typeface="Calibri"/>
                <a:ea typeface="Calibri"/>
                <a:cs typeface="Calibri"/>
                <a:sym typeface="Calibri"/>
              </a:rPr>
              <a:t>into three lanes</a:t>
            </a:r>
            <a:endParaRPr b="0" i="0" sz="1050" u="none" cap="none" strike="noStrike">
              <a:solidFill>
                <a:schemeClr val="dk1"/>
              </a:solidFill>
              <a:latin typeface="Calibri"/>
              <a:ea typeface="Calibri"/>
              <a:cs typeface="Calibri"/>
              <a:sym typeface="Calibri"/>
            </a:endParaRPr>
          </a:p>
        </p:txBody>
      </p:sp>
      <p:sp>
        <p:nvSpPr>
          <p:cNvPr id="272" name="Google Shape;272;p11"/>
          <p:cNvSpPr/>
          <p:nvPr/>
        </p:nvSpPr>
        <p:spPr>
          <a:xfrm>
            <a:off x="4535424" y="3849624"/>
            <a:ext cx="137160" cy="137160"/>
          </a:xfrm>
          <a:prstGeom prst="ellipse">
            <a:avLst/>
          </a:prstGeom>
          <a:solidFill>
            <a:srgbClr val="1580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1"/>
          <p:cNvSpPr/>
          <p:nvPr/>
        </p:nvSpPr>
        <p:spPr>
          <a:xfrm>
            <a:off x="4736592" y="3813048"/>
            <a:ext cx="114757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000"/>
              <a:buFont typeface="Calibri"/>
              <a:buNone/>
            </a:pPr>
            <a:r>
              <a:rPr b="0" i="0" lang="en-US" sz="1000" u="none" cap="none" strike="noStrike">
                <a:solidFill>
                  <a:srgbClr val="0F172A"/>
                </a:solidFill>
                <a:latin typeface="Calibri"/>
                <a:ea typeface="Calibri"/>
                <a:cs typeface="Calibri"/>
                <a:sym typeface="Calibri"/>
              </a:rPr>
              <a:t>match</a:t>
            </a:r>
            <a:endParaRPr b="0" i="0" sz="1000" u="none" cap="none" strike="noStrike">
              <a:solidFill>
                <a:schemeClr val="dk1"/>
              </a:solidFill>
              <a:latin typeface="Calibri"/>
              <a:ea typeface="Calibri"/>
              <a:cs typeface="Calibri"/>
              <a:sym typeface="Calibri"/>
            </a:endParaRPr>
          </a:p>
        </p:txBody>
      </p:sp>
      <p:sp>
        <p:nvSpPr>
          <p:cNvPr id="274" name="Google Shape;274;p11"/>
          <p:cNvSpPr/>
          <p:nvPr/>
        </p:nvSpPr>
        <p:spPr>
          <a:xfrm>
            <a:off x="4535424" y="4215384"/>
            <a:ext cx="137160" cy="137160"/>
          </a:xfrm>
          <a:prstGeom prst="ellipse">
            <a:avLst/>
          </a:prstGeom>
          <a:solidFill>
            <a:srgbClr val="B91C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1"/>
          <p:cNvSpPr/>
          <p:nvPr/>
        </p:nvSpPr>
        <p:spPr>
          <a:xfrm>
            <a:off x="4736592" y="4178808"/>
            <a:ext cx="114757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000"/>
              <a:buFont typeface="Calibri"/>
              <a:buNone/>
            </a:pPr>
            <a:r>
              <a:rPr b="0" i="0" lang="en-US" sz="1000" u="none" cap="none" strike="noStrike">
                <a:solidFill>
                  <a:srgbClr val="0F172A"/>
                </a:solidFill>
                <a:latin typeface="Calibri"/>
                <a:ea typeface="Calibri"/>
                <a:cs typeface="Calibri"/>
                <a:sym typeface="Calibri"/>
              </a:rPr>
              <a:t>mismatch</a:t>
            </a:r>
            <a:endParaRPr b="0" i="0" sz="1000" u="none" cap="none" strike="noStrike">
              <a:solidFill>
                <a:schemeClr val="dk1"/>
              </a:solidFill>
              <a:latin typeface="Calibri"/>
              <a:ea typeface="Calibri"/>
              <a:cs typeface="Calibri"/>
              <a:sym typeface="Calibri"/>
            </a:endParaRPr>
          </a:p>
        </p:txBody>
      </p:sp>
      <p:sp>
        <p:nvSpPr>
          <p:cNvPr id="276" name="Google Shape;276;p11"/>
          <p:cNvSpPr/>
          <p:nvPr/>
        </p:nvSpPr>
        <p:spPr>
          <a:xfrm>
            <a:off x="4535424" y="4581144"/>
            <a:ext cx="137160" cy="137160"/>
          </a:xfrm>
          <a:prstGeom prst="ellipse">
            <a:avLst/>
          </a:prstGeom>
          <a:solidFill>
            <a:srgbClr val="B45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1"/>
          <p:cNvSpPr/>
          <p:nvPr/>
        </p:nvSpPr>
        <p:spPr>
          <a:xfrm>
            <a:off x="4736592" y="4544568"/>
            <a:ext cx="114757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000"/>
              <a:buFont typeface="Calibri"/>
              <a:buNone/>
            </a:pPr>
            <a:r>
              <a:rPr b="0" i="0" lang="en-US" sz="1000" u="none" cap="none" strike="noStrike">
                <a:solidFill>
                  <a:srgbClr val="0F172A"/>
                </a:solidFill>
                <a:latin typeface="Calibri"/>
                <a:ea typeface="Calibri"/>
                <a:cs typeface="Calibri"/>
                <a:sym typeface="Calibri"/>
              </a:rPr>
              <a:t>review</a:t>
            </a:r>
            <a:endParaRPr b="0" i="0" sz="1000" u="none" cap="none" strike="noStrike">
              <a:solidFill>
                <a:schemeClr val="dk1"/>
              </a:solidFill>
              <a:latin typeface="Calibri"/>
              <a:ea typeface="Calibri"/>
              <a:cs typeface="Calibri"/>
              <a:sym typeface="Calibri"/>
            </a:endParaRPr>
          </a:p>
        </p:txBody>
      </p:sp>
      <p:sp>
        <p:nvSpPr>
          <p:cNvPr id="278" name="Google Shape;278;p11"/>
          <p:cNvSpPr/>
          <p:nvPr/>
        </p:nvSpPr>
        <p:spPr>
          <a:xfrm>
            <a:off x="5966460" y="2313432"/>
            <a:ext cx="25603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5E1"/>
              </a:buClr>
              <a:buSzPts val="1400"/>
              <a:buFont typeface="Georgia"/>
              <a:buNone/>
            </a:pPr>
            <a:r>
              <a:rPr b="1" i="0" lang="en-US" sz="1400" u="none" cap="none" strike="noStrike">
                <a:solidFill>
                  <a:srgbClr val="CBD5E1"/>
                </a:solidFill>
                <a:latin typeface="Georgia"/>
                <a:ea typeface="Georgia"/>
                <a:cs typeface="Georgia"/>
                <a:sym typeface="Georgia"/>
              </a:rPr>
              <a:t>→</a:t>
            </a:r>
            <a:endParaRPr b="0" i="0" sz="1400" u="none" cap="none" strike="noStrike">
              <a:solidFill>
                <a:schemeClr val="dk1"/>
              </a:solidFill>
              <a:latin typeface="Calibri"/>
              <a:ea typeface="Calibri"/>
              <a:cs typeface="Calibri"/>
              <a:sym typeface="Calibri"/>
            </a:endParaRPr>
          </a:p>
        </p:txBody>
      </p:sp>
      <p:sp>
        <p:nvSpPr>
          <p:cNvPr id="279" name="Google Shape;279;p11"/>
          <p:cNvSpPr/>
          <p:nvPr/>
        </p:nvSpPr>
        <p:spPr>
          <a:xfrm>
            <a:off x="6185916" y="2057400"/>
            <a:ext cx="1650492" cy="324612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1"/>
          <p:cNvSpPr/>
          <p:nvPr/>
        </p:nvSpPr>
        <p:spPr>
          <a:xfrm>
            <a:off x="6368796" y="2276856"/>
            <a:ext cx="438912" cy="438912"/>
          </a:xfrm>
          <a:prstGeom prst="ellipse">
            <a:avLst/>
          </a:prstGeom>
          <a:solidFill>
            <a:srgbClr val="1223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1"/>
          <p:cNvSpPr/>
          <p:nvPr/>
        </p:nvSpPr>
        <p:spPr>
          <a:xfrm>
            <a:off x="6368796" y="2276856"/>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4</a:t>
            </a:r>
            <a:endParaRPr b="0" i="0" sz="1600" u="none" cap="none" strike="noStrike">
              <a:solidFill>
                <a:schemeClr val="dk1"/>
              </a:solidFill>
              <a:latin typeface="Calibri"/>
              <a:ea typeface="Calibri"/>
              <a:cs typeface="Calibri"/>
              <a:sym typeface="Calibri"/>
            </a:endParaRPr>
          </a:p>
        </p:txBody>
      </p:sp>
      <p:sp>
        <p:nvSpPr>
          <p:cNvPr id="282" name="Google Shape;282;p11"/>
          <p:cNvSpPr/>
          <p:nvPr/>
        </p:nvSpPr>
        <p:spPr>
          <a:xfrm>
            <a:off x="6350508" y="2843784"/>
            <a:ext cx="1339596" cy="45720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0F172A"/>
              </a:buClr>
              <a:buSzPts val="1400"/>
              <a:buFont typeface="Georgia"/>
              <a:buNone/>
            </a:pPr>
            <a:r>
              <a:rPr b="1" i="0" lang="en-US" sz="1400" u="none" cap="none" strike="noStrike">
                <a:solidFill>
                  <a:srgbClr val="0F172A"/>
                </a:solidFill>
                <a:latin typeface="Georgia"/>
                <a:ea typeface="Georgia"/>
                <a:cs typeface="Georgia"/>
                <a:sym typeface="Georgia"/>
              </a:rPr>
              <a:t>Who handles it</a:t>
            </a:r>
            <a:endParaRPr b="0" i="0" sz="1400" u="none" cap="none" strike="noStrike">
              <a:solidFill>
                <a:schemeClr val="dk1"/>
              </a:solidFill>
              <a:latin typeface="Calibri"/>
              <a:ea typeface="Calibri"/>
              <a:cs typeface="Calibri"/>
              <a:sym typeface="Calibri"/>
            </a:endParaRPr>
          </a:p>
        </p:txBody>
      </p:sp>
      <p:sp>
        <p:nvSpPr>
          <p:cNvPr id="283" name="Google Shape;283;p11"/>
          <p:cNvSpPr/>
          <p:nvPr/>
        </p:nvSpPr>
        <p:spPr>
          <a:xfrm>
            <a:off x="6350508" y="3300984"/>
            <a:ext cx="133959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050"/>
              <a:buFont typeface="Calibri"/>
              <a:buNone/>
            </a:pPr>
            <a:r>
              <a:rPr b="0" i="0" lang="en-US" sz="1050" u="none" cap="none" strike="noStrike">
                <a:solidFill>
                  <a:srgbClr val="5B6B7F"/>
                </a:solidFill>
                <a:latin typeface="Calibri"/>
                <a:ea typeface="Calibri"/>
                <a:cs typeface="Calibri"/>
                <a:sym typeface="Calibri"/>
              </a:rPr>
              <a:t>by lane</a:t>
            </a:r>
            <a:endParaRPr b="0" i="0" sz="1050" u="none" cap="none" strike="noStrike">
              <a:solidFill>
                <a:schemeClr val="dk1"/>
              </a:solidFill>
              <a:latin typeface="Calibri"/>
              <a:ea typeface="Calibri"/>
              <a:cs typeface="Calibri"/>
              <a:sym typeface="Calibri"/>
            </a:endParaRPr>
          </a:p>
        </p:txBody>
      </p:sp>
      <p:sp>
        <p:nvSpPr>
          <p:cNvPr id="284" name="Google Shape;284;p11"/>
          <p:cNvSpPr/>
          <p:nvPr/>
        </p:nvSpPr>
        <p:spPr>
          <a:xfrm>
            <a:off x="6350508" y="3794760"/>
            <a:ext cx="1339596" cy="493776"/>
          </a:xfrm>
          <a:prstGeom prst="rect">
            <a:avLst/>
          </a:prstGeom>
          <a:solidFill>
            <a:srgbClr val="FFFFFF"/>
          </a:solidFill>
          <a:ln cap="flat" cmpd="sng" w="12700">
            <a:solidFill>
              <a:srgbClr val="1580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1"/>
          <p:cNvSpPr/>
          <p:nvPr/>
        </p:nvSpPr>
        <p:spPr>
          <a:xfrm>
            <a:off x="6350508" y="3794760"/>
            <a:ext cx="64008" cy="493776"/>
          </a:xfrm>
          <a:prstGeom prst="rect">
            <a:avLst/>
          </a:prstGeom>
          <a:solidFill>
            <a:srgbClr val="1580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1"/>
          <p:cNvSpPr/>
          <p:nvPr/>
        </p:nvSpPr>
        <p:spPr>
          <a:xfrm>
            <a:off x="6487668" y="3794760"/>
            <a:ext cx="1229868" cy="493776"/>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15803D"/>
              </a:buClr>
              <a:buSzPts val="900"/>
              <a:buFont typeface="Calibri"/>
              <a:buNone/>
            </a:pPr>
            <a:r>
              <a:rPr b="1" i="0" lang="en-US" sz="900" u="none" cap="none" strike="noStrike">
                <a:solidFill>
                  <a:srgbClr val="15803D"/>
                </a:solidFill>
                <a:latin typeface="Calibri"/>
                <a:ea typeface="Calibri"/>
                <a:cs typeface="Calibri"/>
                <a:sym typeface="Calibri"/>
              </a:rPr>
              <a:t>Supervisor · matches</a:t>
            </a:r>
            <a:endParaRPr b="0" i="0" sz="900" u="none" cap="none" strike="noStrike">
              <a:solidFill>
                <a:schemeClr val="dk1"/>
              </a:solidFill>
              <a:latin typeface="Calibri"/>
              <a:ea typeface="Calibri"/>
              <a:cs typeface="Calibri"/>
              <a:sym typeface="Calibri"/>
            </a:endParaRPr>
          </a:p>
        </p:txBody>
      </p:sp>
      <p:sp>
        <p:nvSpPr>
          <p:cNvPr id="287" name="Google Shape;287;p11"/>
          <p:cNvSpPr/>
          <p:nvPr/>
        </p:nvSpPr>
        <p:spPr>
          <a:xfrm>
            <a:off x="6350508" y="4379976"/>
            <a:ext cx="1339596" cy="493776"/>
          </a:xfrm>
          <a:prstGeom prst="rect">
            <a:avLst/>
          </a:prstGeom>
          <a:solidFill>
            <a:srgbClr val="FFFFFF"/>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1"/>
          <p:cNvSpPr/>
          <p:nvPr/>
        </p:nvSpPr>
        <p:spPr>
          <a:xfrm>
            <a:off x="6350508" y="4379976"/>
            <a:ext cx="64008" cy="493776"/>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1"/>
          <p:cNvSpPr/>
          <p:nvPr/>
        </p:nvSpPr>
        <p:spPr>
          <a:xfrm>
            <a:off x="6487668" y="4379976"/>
            <a:ext cx="1229868" cy="493776"/>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2563EB"/>
              </a:buClr>
              <a:buSzPts val="900"/>
              <a:buFont typeface="Calibri"/>
              <a:buNone/>
            </a:pPr>
            <a:r>
              <a:rPr b="1" i="0" lang="en-US" sz="900" u="none" cap="none" strike="noStrike">
                <a:solidFill>
                  <a:srgbClr val="2563EB"/>
                </a:solidFill>
                <a:latin typeface="Calibri"/>
                <a:ea typeface="Calibri"/>
                <a:cs typeface="Calibri"/>
                <a:sym typeface="Calibri"/>
              </a:rPr>
              <a:t>Specialist · exceptions</a:t>
            </a:r>
            <a:endParaRPr b="0" i="0" sz="900" u="none" cap="none" strike="noStrike">
              <a:solidFill>
                <a:schemeClr val="dk1"/>
              </a:solidFill>
              <a:latin typeface="Calibri"/>
              <a:ea typeface="Calibri"/>
              <a:cs typeface="Calibri"/>
              <a:sym typeface="Calibri"/>
            </a:endParaRPr>
          </a:p>
        </p:txBody>
      </p:sp>
      <p:sp>
        <p:nvSpPr>
          <p:cNvPr id="290" name="Google Shape;290;p11"/>
          <p:cNvSpPr/>
          <p:nvPr/>
        </p:nvSpPr>
        <p:spPr>
          <a:xfrm>
            <a:off x="7799832" y="2313432"/>
            <a:ext cx="25603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5E1"/>
              </a:buClr>
              <a:buSzPts val="1400"/>
              <a:buFont typeface="Georgia"/>
              <a:buNone/>
            </a:pPr>
            <a:r>
              <a:rPr b="1" i="0" lang="en-US" sz="1400" u="none" cap="none" strike="noStrike">
                <a:solidFill>
                  <a:srgbClr val="CBD5E1"/>
                </a:solidFill>
                <a:latin typeface="Georgia"/>
                <a:ea typeface="Georgia"/>
                <a:cs typeface="Georgia"/>
                <a:sym typeface="Georgia"/>
              </a:rPr>
              <a:t>→</a:t>
            </a:r>
            <a:endParaRPr b="0" i="0" sz="1400" u="none" cap="none" strike="noStrike">
              <a:solidFill>
                <a:schemeClr val="dk1"/>
              </a:solidFill>
              <a:latin typeface="Calibri"/>
              <a:ea typeface="Calibri"/>
              <a:cs typeface="Calibri"/>
              <a:sym typeface="Calibri"/>
            </a:endParaRPr>
          </a:p>
        </p:txBody>
      </p:sp>
      <p:sp>
        <p:nvSpPr>
          <p:cNvPr id="291" name="Google Shape;291;p11"/>
          <p:cNvSpPr/>
          <p:nvPr/>
        </p:nvSpPr>
        <p:spPr>
          <a:xfrm>
            <a:off x="8019288" y="2057400"/>
            <a:ext cx="1650492" cy="324612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1"/>
          <p:cNvSpPr/>
          <p:nvPr/>
        </p:nvSpPr>
        <p:spPr>
          <a:xfrm>
            <a:off x="8202168" y="2276856"/>
            <a:ext cx="438912" cy="438912"/>
          </a:xfrm>
          <a:prstGeom prst="ellipse">
            <a:avLst/>
          </a:prstGeom>
          <a:solidFill>
            <a:srgbClr val="1223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1"/>
          <p:cNvSpPr/>
          <p:nvPr/>
        </p:nvSpPr>
        <p:spPr>
          <a:xfrm>
            <a:off x="8202168" y="2276856"/>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5</a:t>
            </a:r>
            <a:endParaRPr b="0" i="0" sz="1600" u="none" cap="none" strike="noStrike">
              <a:solidFill>
                <a:schemeClr val="dk1"/>
              </a:solidFill>
              <a:latin typeface="Calibri"/>
              <a:ea typeface="Calibri"/>
              <a:cs typeface="Calibri"/>
              <a:sym typeface="Calibri"/>
            </a:endParaRPr>
          </a:p>
        </p:txBody>
      </p:sp>
      <p:sp>
        <p:nvSpPr>
          <p:cNvPr id="294" name="Google Shape;294;p11"/>
          <p:cNvSpPr/>
          <p:nvPr/>
        </p:nvSpPr>
        <p:spPr>
          <a:xfrm>
            <a:off x="8183880" y="2843784"/>
            <a:ext cx="1339596" cy="45720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0F172A"/>
              </a:buClr>
              <a:buSzPts val="1400"/>
              <a:buFont typeface="Georgia"/>
              <a:buNone/>
            </a:pPr>
            <a:r>
              <a:rPr b="1" i="0" lang="en-US" sz="1400" u="none" cap="none" strike="noStrike">
                <a:solidFill>
                  <a:srgbClr val="0F172A"/>
                </a:solidFill>
                <a:latin typeface="Georgia"/>
                <a:ea typeface="Georgia"/>
                <a:cs typeface="Georgia"/>
                <a:sym typeface="Georgia"/>
              </a:rPr>
              <a:t>Decision</a:t>
            </a:r>
            <a:endParaRPr b="0" i="0" sz="1400" u="none" cap="none" strike="noStrike">
              <a:solidFill>
                <a:schemeClr val="dk1"/>
              </a:solidFill>
              <a:latin typeface="Calibri"/>
              <a:ea typeface="Calibri"/>
              <a:cs typeface="Calibri"/>
              <a:sym typeface="Calibri"/>
            </a:endParaRPr>
          </a:p>
        </p:txBody>
      </p:sp>
      <p:sp>
        <p:nvSpPr>
          <p:cNvPr id="295" name="Google Shape;295;p11"/>
          <p:cNvSpPr/>
          <p:nvPr/>
        </p:nvSpPr>
        <p:spPr>
          <a:xfrm>
            <a:off x="8183880" y="3300984"/>
            <a:ext cx="133959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050"/>
              <a:buFont typeface="Calibri"/>
              <a:buNone/>
            </a:pPr>
            <a:r>
              <a:rPr b="0" i="0" lang="en-US" sz="1050" u="none" cap="none" strike="noStrike">
                <a:solidFill>
                  <a:srgbClr val="5B6B7F"/>
                </a:solidFill>
                <a:latin typeface="Calibri"/>
                <a:ea typeface="Calibri"/>
                <a:cs typeface="Calibri"/>
                <a:sym typeface="Calibri"/>
              </a:rPr>
              <a:t>on each exception</a:t>
            </a:r>
            <a:endParaRPr b="0" i="0" sz="1050" u="none" cap="none" strike="noStrike">
              <a:solidFill>
                <a:schemeClr val="dk1"/>
              </a:solidFill>
              <a:latin typeface="Calibri"/>
              <a:ea typeface="Calibri"/>
              <a:cs typeface="Calibri"/>
              <a:sym typeface="Calibri"/>
            </a:endParaRPr>
          </a:p>
        </p:txBody>
      </p:sp>
      <p:sp>
        <p:nvSpPr>
          <p:cNvPr id="296" name="Google Shape;296;p11"/>
          <p:cNvSpPr/>
          <p:nvPr/>
        </p:nvSpPr>
        <p:spPr>
          <a:xfrm>
            <a:off x="8183880" y="3794760"/>
            <a:ext cx="1339596" cy="493776"/>
          </a:xfrm>
          <a:prstGeom prst="rect">
            <a:avLst/>
          </a:prstGeom>
          <a:solidFill>
            <a:srgbClr val="FFFFFF"/>
          </a:solidFill>
          <a:ln cap="flat" cmpd="sng" w="12700">
            <a:solidFill>
              <a:srgbClr val="1580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1"/>
          <p:cNvSpPr/>
          <p:nvPr/>
        </p:nvSpPr>
        <p:spPr>
          <a:xfrm>
            <a:off x="8183880" y="3794760"/>
            <a:ext cx="64008" cy="493776"/>
          </a:xfrm>
          <a:prstGeom prst="rect">
            <a:avLst/>
          </a:prstGeom>
          <a:solidFill>
            <a:srgbClr val="1580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1"/>
          <p:cNvSpPr/>
          <p:nvPr/>
        </p:nvSpPr>
        <p:spPr>
          <a:xfrm>
            <a:off x="8321040" y="3794760"/>
            <a:ext cx="1229868" cy="493776"/>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15803D"/>
              </a:buClr>
              <a:buSzPts val="900"/>
              <a:buFont typeface="Calibri"/>
              <a:buNone/>
            </a:pPr>
            <a:r>
              <a:rPr b="1" i="0" lang="en-US" sz="900" u="none" cap="none" strike="noStrike">
                <a:solidFill>
                  <a:srgbClr val="15803D"/>
                </a:solidFill>
                <a:latin typeface="Calibri"/>
                <a:ea typeface="Calibri"/>
                <a:cs typeface="Calibri"/>
                <a:sym typeface="Calibri"/>
              </a:rPr>
              <a:t>Approve → COLA</a:t>
            </a:r>
            <a:endParaRPr b="0" i="0" sz="900" u="none" cap="none" strike="noStrike">
              <a:solidFill>
                <a:schemeClr val="dk1"/>
              </a:solidFill>
              <a:latin typeface="Calibri"/>
              <a:ea typeface="Calibri"/>
              <a:cs typeface="Calibri"/>
              <a:sym typeface="Calibri"/>
            </a:endParaRPr>
          </a:p>
        </p:txBody>
      </p:sp>
      <p:sp>
        <p:nvSpPr>
          <p:cNvPr id="299" name="Google Shape;299;p11"/>
          <p:cNvSpPr/>
          <p:nvPr/>
        </p:nvSpPr>
        <p:spPr>
          <a:xfrm>
            <a:off x="8183880" y="4379976"/>
            <a:ext cx="1339596" cy="493776"/>
          </a:xfrm>
          <a:prstGeom prst="rect">
            <a:avLst/>
          </a:prstGeom>
          <a:solidFill>
            <a:srgbClr val="FFFFFF"/>
          </a:solidFill>
          <a:ln cap="flat" cmpd="sng" w="12700">
            <a:solidFill>
              <a:srgbClr val="B4530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1"/>
          <p:cNvSpPr/>
          <p:nvPr/>
        </p:nvSpPr>
        <p:spPr>
          <a:xfrm>
            <a:off x="8183880" y="4379976"/>
            <a:ext cx="64008" cy="493776"/>
          </a:xfrm>
          <a:prstGeom prst="rect">
            <a:avLst/>
          </a:prstGeom>
          <a:solidFill>
            <a:srgbClr val="B45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1"/>
          <p:cNvSpPr/>
          <p:nvPr/>
        </p:nvSpPr>
        <p:spPr>
          <a:xfrm>
            <a:off x="8321040" y="4379976"/>
            <a:ext cx="1229868" cy="493776"/>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B45309"/>
              </a:buClr>
              <a:buSzPts val="900"/>
              <a:buFont typeface="Calibri"/>
              <a:buNone/>
            </a:pPr>
            <a:r>
              <a:rPr b="1" i="0" lang="en-US" sz="900" u="none" cap="none" strike="noStrike">
                <a:solidFill>
                  <a:srgbClr val="B45309"/>
                </a:solidFill>
                <a:latin typeface="Calibri"/>
                <a:ea typeface="Calibri"/>
                <a:cs typeface="Calibri"/>
                <a:sym typeface="Calibri"/>
              </a:rPr>
              <a:t>Return for correction</a:t>
            </a:r>
            <a:endParaRPr b="0" i="0" sz="900" u="none" cap="none" strike="noStrike">
              <a:solidFill>
                <a:schemeClr val="dk1"/>
              </a:solidFill>
              <a:latin typeface="Calibri"/>
              <a:ea typeface="Calibri"/>
              <a:cs typeface="Calibri"/>
              <a:sym typeface="Calibri"/>
            </a:endParaRPr>
          </a:p>
        </p:txBody>
      </p:sp>
      <p:sp>
        <p:nvSpPr>
          <p:cNvPr id="302" name="Google Shape;302;p11"/>
          <p:cNvSpPr/>
          <p:nvPr/>
        </p:nvSpPr>
        <p:spPr>
          <a:xfrm>
            <a:off x="9633204" y="2313432"/>
            <a:ext cx="25603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5E1"/>
              </a:buClr>
              <a:buSzPts val="1400"/>
              <a:buFont typeface="Georgia"/>
              <a:buNone/>
            </a:pPr>
            <a:r>
              <a:rPr b="1" i="0" lang="en-US" sz="1400" u="none" cap="none" strike="noStrike">
                <a:solidFill>
                  <a:srgbClr val="CBD5E1"/>
                </a:solidFill>
                <a:latin typeface="Georgia"/>
                <a:ea typeface="Georgia"/>
                <a:cs typeface="Georgia"/>
                <a:sym typeface="Georgia"/>
              </a:rPr>
              <a:t>→</a:t>
            </a:r>
            <a:endParaRPr b="0" i="0" sz="1400" u="none" cap="none" strike="noStrike">
              <a:solidFill>
                <a:schemeClr val="dk1"/>
              </a:solidFill>
              <a:latin typeface="Calibri"/>
              <a:ea typeface="Calibri"/>
              <a:cs typeface="Calibri"/>
              <a:sym typeface="Calibri"/>
            </a:endParaRPr>
          </a:p>
        </p:txBody>
      </p:sp>
      <p:sp>
        <p:nvSpPr>
          <p:cNvPr id="303" name="Google Shape;303;p11"/>
          <p:cNvSpPr/>
          <p:nvPr/>
        </p:nvSpPr>
        <p:spPr>
          <a:xfrm>
            <a:off x="9852660" y="2057400"/>
            <a:ext cx="1650492" cy="324612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1"/>
          <p:cNvSpPr/>
          <p:nvPr/>
        </p:nvSpPr>
        <p:spPr>
          <a:xfrm>
            <a:off x="10035540" y="2276856"/>
            <a:ext cx="438912" cy="438912"/>
          </a:xfrm>
          <a:prstGeom prst="ellipse">
            <a:avLst/>
          </a:prstGeom>
          <a:solidFill>
            <a:srgbClr val="1223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1"/>
          <p:cNvSpPr/>
          <p:nvPr/>
        </p:nvSpPr>
        <p:spPr>
          <a:xfrm>
            <a:off x="10035540" y="2276856"/>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6</a:t>
            </a:r>
            <a:endParaRPr b="0" i="0" sz="1600" u="none" cap="none" strike="noStrike">
              <a:solidFill>
                <a:schemeClr val="dk1"/>
              </a:solidFill>
              <a:latin typeface="Calibri"/>
              <a:ea typeface="Calibri"/>
              <a:cs typeface="Calibri"/>
              <a:sym typeface="Calibri"/>
            </a:endParaRPr>
          </a:p>
        </p:txBody>
      </p:sp>
      <p:sp>
        <p:nvSpPr>
          <p:cNvPr id="306" name="Google Shape;306;p11"/>
          <p:cNvSpPr/>
          <p:nvPr/>
        </p:nvSpPr>
        <p:spPr>
          <a:xfrm>
            <a:off x="10017252" y="2843784"/>
            <a:ext cx="1339596" cy="45720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0F172A"/>
              </a:buClr>
              <a:buSzPts val="1400"/>
              <a:buFont typeface="Georgia"/>
              <a:buNone/>
            </a:pPr>
            <a:r>
              <a:rPr b="1" i="0" lang="en-US" sz="1400" u="none" cap="none" strike="noStrike">
                <a:solidFill>
                  <a:srgbClr val="0F172A"/>
                </a:solidFill>
                <a:latin typeface="Georgia"/>
                <a:ea typeface="Georgia"/>
                <a:cs typeface="Georgia"/>
                <a:sym typeface="Georgia"/>
              </a:rPr>
              <a:t>Ending</a:t>
            </a:r>
            <a:endParaRPr b="0" i="0" sz="1400" u="none" cap="none" strike="noStrike">
              <a:solidFill>
                <a:schemeClr val="dk1"/>
              </a:solidFill>
              <a:latin typeface="Calibri"/>
              <a:ea typeface="Calibri"/>
              <a:cs typeface="Calibri"/>
              <a:sym typeface="Calibri"/>
            </a:endParaRPr>
          </a:p>
        </p:txBody>
      </p:sp>
      <p:sp>
        <p:nvSpPr>
          <p:cNvPr id="307" name="Google Shape;307;p11"/>
          <p:cNvSpPr/>
          <p:nvPr/>
        </p:nvSpPr>
        <p:spPr>
          <a:xfrm>
            <a:off x="10017252" y="3300984"/>
            <a:ext cx="133959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050"/>
              <a:buFont typeface="Calibri"/>
              <a:buNone/>
            </a:pPr>
            <a:r>
              <a:rPr b="0" i="0" lang="en-US" sz="1050" u="none" cap="none" strike="noStrike">
                <a:solidFill>
                  <a:srgbClr val="5B6B7F"/>
                </a:solidFill>
                <a:latin typeface="Calibri"/>
                <a:ea typeface="Calibri"/>
                <a:cs typeface="Calibri"/>
                <a:sym typeface="Calibri"/>
              </a:rPr>
              <a:t>resolved</a:t>
            </a:r>
            <a:endParaRPr b="0" i="0" sz="1050" u="none" cap="none" strike="noStrike">
              <a:solidFill>
                <a:schemeClr val="dk1"/>
              </a:solidFill>
              <a:latin typeface="Calibri"/>
              <a:ea typeface="Calibri"/>
              <a:cs typeface="Calibri"/>
              <a:sym typeface="Calibri"/>
            </a:endParaRPr>
          </a:p>
        </p:txBody>
      </p:sp>
      <p:sp>
        <p:nvSpPr>
          <p:cNvPr id="308" name="Google Shape;308;p11"/>
          <p:cNvSpPr/>
          <p:nvPr/>
        </p:nvSpPr>
        <p:spPr>
          <a:xfrm>
            <a:off x="10017252" y="3794760"/>
            <a:ext cx="1339596" cy="493776"/>
          </a:xfrm>
          <a:prstGeom prst="rect">
            <a:avLst/>
          </a:prstGeom>
          <a:solidFill>
            <a:srgbClr val="FFFFFF"/>
          </a:solidFill>
          <a:ln cap="flat" cmpd="sng" w="12700">
            <a:solidFill>
              <a:srgbClr val="1580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1"/>
          <p:cNvSpPr/>
          <p:nvPr/>
        </p:nvSpPr>
        <p:spPr>
          <a:xfrm>
            <a:off x="10017252" y="3794760"/>
            <a:ext cx="64008" cy="493776"/>
          </a:xfrm>
          <a:prstGeom prst="rect">
            <a:avLst/>
          </a:prstGeom>
          <a:solidFill>
            <a:srgbClr val="1580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1"/>
          <p:cNvSpPr/>
          <p:nvPr/>
        </p:nvSpPr>
        <p:spPr>
          <a:xfrm>
            <a:off x="10154412" y="3794760"/>
            <a:ext cx="1229868" cy="493776"/>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15803D"/>
              </a:buClr>
              <a:buSzPts val="900"/>
              <a:buFont typeface="Calibri"/>
              <a:buNone/>
            </a:pPr>
            <a:r>
              <a:rPr b="1" i="0" lang="en-US" sz="900" u="none" cap="none" strike="noStrike">
                <a:solidFill>
                  <a:srgbClr val="15803D"/>
                </a:solidFill>
                <a:latin typeface="Calibri"/>
                <a:ea typeface="Calibri"/>
                <a:cs typeface="Calibri"/>
                <a:sym typeface="Calibri"/>
              </a:rPr>
              <a:t>COLA issued</a:t>
            </a:r>
            <a:endParaRPr b="0" i="0" sz="900" u="none" cap="none" strike="noStrike">
              <a:solidFill>
                <a:schemeClr val="dk1"/>
              </a:solidFill>
              <a:latin typeface="Calibri"/>
              <a:ea typeface="Calibri"/>
              <a:cs typeface="Calibri"/>
              <a:sym typeface="Calibri"/>
            </a:endParaRPr>
          </a:p>
        </p:txBody>
      </p:sp>
      <p:sp>
        <p:nvSpPr>
          <p:cNvPr id="311" name="Google Shape;311;p11"/>
          <p:cNvSpPr/>
          <p:nvPr/>
        </p:nvSpPr>
        <p:spPr>
          <a:xfrm>
            <a:off x="10017252" y="4379976"/>
            <a:ext cx="1339596" cy="493776"/>
          </a:xfrm>
          <a:prstGeom prst="rect">
            <a:avLst/>
          </a:prstGeom>
          <a:solidFill>
            <a:srgbClr val="FFFFFF"/>
          </a:solidFill>
          <a:ln cap="flat" cmpd="sng" w="12700">
            <a:solidFill>
              <a:srgbClr val="B91C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1"/>
          <p:cNvSpPr/>
          <p:nvPr/>
        </p:nvSpPr>
        <p:spPr>
          <a:xfrm>
            <a:off x="10017252" y="4379976"/>
            <a:ext cx="64008" cy="493776"/>
          </a:xfrm>
          <a:prstGeom prst="rect">
            <a:avLst/>
          </a:prstGeom>
          <a:solidFill>
            <a:srgbClr val="B91C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1"/>
          <p:cNvSpPr/>
          <p:nvPr/>
        </p:nvSpPr>
        <p:spPr>
          <a:xfrm>
            <a:off x="10154412" y="4379976"/>
            <a:ext cx="1229868" cy="493776"/>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B91C1C"/>
              </a:buClr>
              <a:buSzPts val="900"/>
              <a:buFont typeface="Calibri"/>
              <a:buNone/>
            </a:pPr>
            <a:r>
              <a:rPr b="1" i="0" lang="en-US" sz="900" u="none" cap="none" strike="noStrike">
                <a:solidFill>
                  <a:srgbClr val="B91C1C"/>
                </a:solidFill>
                <a:latin typeface="Calibri"/>
                <a:ea typeface="Calibri"/>
                <a:cs typeface="Calibri"/>
                <a:sym typeface="Calibri"/>
              </a:rPr>
              <a:t>Auto-rejected ≥30d</a:t>
            </a:r>
            <a:endParaRPr b="0" i="0" sz="900" u="none" cap="none" strike="noStrike">
              <a:solidFill>
                <a:schemeClr val="dk1"/>
              </a:solidFill>
              <a:latin typeface="Calibri"/>
              <a:ea typeface="Calibri"/>
              <a:cs typeface="Calibri"/>
              <a:sym typeface="Calibri"/>
            </a:endParaRPr>
          </a:p>
        </p:txBody>
      </p:sp>
      <p:sp>
        <p:nvSpPr>
          <p:cNvPr id="314" name="Google Shape;314;p11"/>
          <p:cNvSpPr/>
          <p:nvPr/>
        </p:nvSpPr>
        <p:spPr>
          <a:xfrm>
            <a:off x="685800" y="5532120"/>
            <a:ext cx="10817352"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3A5E"/>
              </a:buClr>
              <a:buSzPts val="1250"/>
              <a:buFont typeface="Calibri"/>
              <a:buNone/>
            </a:pPr>
            <a:r>
              <a:rPr b="0" i="1" lang="en-US" sz="1250" u="none" cap="none" strike="noStrike">
                <a:solidFill>
                  <a:srgbClr val="1C3A5E"/>
                </a:solidFill>
                <a:latin typeface="Calibri"/>
                <a:ea typeface="Calibri"/>
                <a:cs typeface="Calibri"/>
                <a:sym typeface="Calibri"/>
              </a:rPr>
              <a:t>A supervisor clears the clean majority in bulk; specialist agents handle only their beverage type's exceptions. Rejection is automatic when a 30-day correction window lapses — there is no manual reject.</a:t>
            </a:r>
            <a:endParaRPr b="0" i="0" sz="1250" u="none" cap="none" strike="noStrike">
              <a:solidFill>
                <a:schemeClr val="dk1"/>
              </a:solidFill>
              <a:latin typeface="Calibri"/>
              <a:ea typeface="Calibri"/>
              <a:cs typeface="Calibri"/>
              <a:sym typeface="Calibri"/>
            </a:endParaRPr>
          </a:p>
        </p:txBody>
      </p:sp>
      <p:sp>
        <p:nvSpPr>
          <p:cNvPr id="315" name="Google Shape;315;p11"/>
          <p:cNvSpPr/>
          <p:nvPr/>
        </p:nvSpPr>
        <p:spPr>
          <a:xfrm>
            <a:off x="685800" y="6446520"/>
            <a:ext cx="6400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AI Label Verification · Approach &amp; Design</a:t>
            </a:r>
            <a:endParaRPr b="0" i="0" sz="900" u="none" cap="none" strike="noStrike">
              <a:solidFill>
                <a:schemeClr val="dk1"/>
              </a:solidFill>
              <a:latin typeface="Calibri"/>
              <a:ea typeface="Calibri"/>
              <a:cs typeface="Calibri"/>
              <a:sym typeface="Calibri"/>
            </a:endParaRPr>
          </a:p>
        </p:txBody>
      </p:sp>
      <p:sp>
        <p:nvSpPr>
          <p:cNvPr id="316" name="Google Shape;316;p11"/>
          <p:cNvSpPr/>
          <p:nvPr/>
        </p:nvSpPr>
        <p:spPr>
          <a:xfrm>
            <a:off x="11185855" y="6446520"/>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321" name="Shape 321"/>
        <p:cNvGrpSpPr/>
        <p:nvPr/>
      </p:nvGrpSpPr>
      <p:grpSpPr>
        <a:xfrm>
          <a:off x="0" y="0"/>
          <a:ext cx="0" cy="0"/>
          <a:chOff x="0" y="0"/>
          <a:chExt cx="0" cy="0"/>
        </a:xfrm>
      </p:grpSpPr>
      <p:sp>
        <p:nvSpPr>
          <p:cNvPr id="322" name="Google Shape;322;p12"/>
          <p:cNvSpPr/>
          <p:nvPr/>
        </p:nvSpPr>
        <p:spPr>
          <a:xfrm>
            <a:off x="685800" y="457200"/>
            <a:ext cx="107899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63EB"/>
              </a:buClr>
              <a:buSzPts val="1200"/>
              <a:buFont typeface="Calibri"/>
              <a:buNone/>
            </a:pPr>
            <a:r>
              <a:rPr b="1" i="0" lang="en-US" sz="1200" u="none" cap="none" strike="noStrike">
                <a:solidFill>
                  <a:srgbClr val="2563EB"/>
                </a:solidFill>
                <a:latin typeface="Calibri"/>
                <a:ea typeface="Calibri"/>
                <a:cs typeface="Calibri"/>
                <a:sym typeface="Calibri"/>
              </a:rPr>
              <a:t>THE AGENT EXPERIENCE</a:t>
            </a:r>
            <a:endParaRPr b="0" i="0" sz="1200" u="none" cap="none" strike="noStrike">
              <a:solidFill>
                <a:schemeClr val="dk1"/>
              </a:solidFill>
              <a:latin typeface="Calibri"/>
              <a:ea typeface="Calibri"/>
              <a:cs typeface="Calibri"/>
              <a:sym typeface="Calibri"/>
            </a:endParaRPr>
          </a:p>
        </p:txBody>
      </p:sp>
      <p:sp>
        <p:nvSpPr>
          <p:cNvPr id="323" name="Google Shape;323;p12"/>
          <p:cNvSpPr/>
          <p:nvPr/>
        </p:nvSpPr>
        <p:spPr>
          <a:xfrm>
            <a:off x="685800" y="749808"/>
            <a:ext cx="107899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Georgia"/>
              <a:buNone/>
            </a:pPr>
            <a:r>
              <a:rPr b="1" i="0" lang="en-US" sz="3200" u="none" cap="none" strike="noStrike">
                <a:solidFill>
                  <a:srgbClr val="0F172A"/>
                </a:solidFill>
                <a:latin typeface="Georgia"/>
                <a:ea typeface="Georgia"/>
                <a:cs typeface="Georgia"/>
                <a:sym typeface="Georgia"/>
              </a:rPr>
              <a:t>Like a smart inbox</a:t>
            </a:r>
            <a:endParaRPr b="0" i="0" sz="3200" u="none" cap="none" strike="noStrike">
              <a:solidFill>
                <a:schemeClr val="dk1"/>
              </a:solidFill>
              <a:latin typeface="Calibri"/>
              <a:ea typeface="Calibri"/>
              <a:cs typeface="Calibri"/>
              <a:sym typeface="Calibri"/>
            </a:endParaRPr>
          </a:p>
        </p:txBody>
      </p:sp>
      <p:sp>
        <p:nvSpPr>
          <p:cNvPr id="324" name="Google Shape;324;p12"/>
          <p:cNvSpPr/>
          <p:nvPr/>
        </p:nvSpPr>
        <p:spPr>
          <a:xfrm>
            <a:off x="685800" y="1828800"/>
            <a:ext cx="5486400" cy="8229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F172A"/>
              </a:buClr>
              <a:buSzPts val="1600"/>
              <a:buFont typeface="Calibri"/>
              <a:buNone/>
            </a:pPr>
            <a:r>
              <a:rPr b="1" i="0" lang="en-US" sz="1600" u="none" cap="none" strike="noStrike">
                <a:solidFill>
                  <a:srgbClr val="0F172A"/>
                </a:solidFill>
                <a:latin typeface="Calibri"/>
                <a:ea typeface="Calibri"/>
                <a:cs typeface="Calibri"/>
                <a:sym typeface="Calibri"/>
              </a:rPr>
              <a:t>“5 exceptions in your queue, pulled from your specialty's pool.”</a:t>
            </a:r>
            <a:endParaRPr b="0" i="0" sz="16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5B6B7F"/>
              </a:buClr>
              <a:buSzPts val="1600"/>
              <a:buFont typeface="Calibri"/>
              <a:buNone/>
            </a:pPr>
            <a:r>
              <a:rPr b="0" i="1" lang="en-US" sz="1600" u="none" cap="none" strike="noStrike">
                <a:solidFill>
                  <a:srgbClr val="5B6B7F"/>
                </a:solidFill>
                <a:latin typeface="Calibri"/>
                <a:ea typeface="Calibri"/>
                <a:cs typeface="Calibri"/>
                <a:sym typeface="Calibri"/>
              </a:rPr>
              <a:t>You only see the cases that need a human.</a:t>
            </a:r>
            <a:endParaRPr b="0" i="0" sz="1600" u="none" cap="none" strike="noStrike">
              <a:solidFill>
                <a:schemeClr val="dk1"/>
              </a:solidFill>
              <a:latin typeface="Calibri"/>
              <a:ea typeface="Calibri"/>
              <a:cs typeface="Calibri"/>
              <a:sym typeface="Calibri"/>
            </a:endParaRPr>
          </a:p>
        </p:txBody>
      </p:sp>
      <p:sp>
        <p:nvSpPr>
          <p:cNvPr id="325" name="Google Shape;325;p12"/>
          <p:cNvSpPr/>
          <p:nvPr/>
        </p:nvSpPr>
        <p:spPr>
          <a:xfrm>
            <a:off x="685800" y="2926080"/>
            <a:ext cx="5486400" cy="502920"/>
          </a:xfrm>
          <a:prstGeom prst="rect">
            <a:avLst/>
          </a:prstGeom>
          <a:noFill/>
          <a:ln>
            <a:noFill/>
          </a:ln>
        </p:spPr>
        <p:txBody>
          <a:bodyPr anchorCtr="0" anchor="ctr" bIns="0" lIns="0" spcFirstLastPara="1" rIns="0" wrap="square" tIns="0">
            <a:noAutofit/>
          </a:bodyPr>
          <a:lstStyle/>
          <a:p>
            <a:pPr indent="-177800" lvl="0" marL="177800" marR="0" rtl="0" algn="l">
              <a:spcBef>
                <a:spcPts val="0"/>
              </a:spcBef>
              <a:spcAft>
                <a:spcPts val="0"/>
              </a:spcAft>
              <a:buClr>
                <a:srgbClr val="0F172A"/>
              </a:buClr>
              <a:buSzPts val="1450"/>
              <a:buFont typeface="Calibri"/>
              <a:buChar char="•"/>
            </a:pPr>
            <a:r>
              <a:rPr b="0" i="0" lang="en-US" sz="1450" u="none" cap="none" strike="noStrike">
                <a:solidFill>
                  <a:srgbClr val="0F172A"/>
                </a:solidFill>
                <a:latin typeface="Calibri"/>
                <a:ea typeface="Calibri"/>
                <a:cs typeface="Calibri"/>
                <a:sym typeface="Calibri"/>
              </a:rPr>
              <a:t>Pull the next exception from your pool</a:t>
            </a:r>
            <a:endParaRPr b="0" i="0" sz="1450" u="none" cap="none" strike="noStrike">
              <a:solidFill>
                <a:schemeClr val="dk1"/>
              </a:solidFill>
              <a:latin typeface="Calibri"/>
              <a:ea typeface="Calibri"/>
              <a:cs typeface="Calibri"/>
              <a:sym typeface="Calibri"/>
            </a:endParaRPr>
          </a:p>
        </p:txBody>
      </p:sp>
      <p:sp>
        <p:nvSpPr>
          <p:cNvPr id="326" name="Google Shape;326;p12"/>
          <p:cNvSpPr/>
          <p:nvPr/>
        </p:nvSpPr>
        <p:spPr>
          <a:xfrm>
            <a:off x="685800" y="3493008"/>
            <a:ext cx="5486400" cy="502920"/>
          </a:xfrm>
          <a:prstGeom prst="rect">
            <a:avLst/>
          </a:prstGeom>
          <a:noFill/>
          <a:ln>
            <a:noFill/>
          </a:ln>
        </p:spPr>
        <p:txBody>
          <a:bodyPr anchorCtr="0" anchor="ctr" bIns="0" lIns="0" spcFirstLastPara="1" rIns="0" wrap="square" tIns="0">
            <a:noAutofit/>
          </a:bodyPr>
          <a:lstStyle/>
          <a:p>
            <a:pPr indent="-177800" lvl="0" marL="177800" marR="0" rtl="0" algn="l">
              <a:spcBef>
                <a:spcPts val="0"/>
              </a:spcBef>
              <a:spcAft>
                <a:spcPts val="0"/>
              </a:spcAft>
              <a:buClr>
                <a:srgbClr val="0F172A"/>
              </a:buClr>
              <a:buSzPts val="1450"/>
              <a:buFont typeface="Calibri"/>
              <a:buChar char="•"/>
            </a:pPr>
            <a:r>
              <a:rPr b="0" i="0" lang="en-US" sz="1450" u="none" cap="none" strike="noStrike">
                <a:solidFill>
                  <a:srgbClr val="0F172A"/>
                </a:solidFill>
                <a:latin typeface="Calibri"/>
                <a:ea typeface="Calibri"/>
                <a:cs typeface="Calibri"/>
                <a:sym typeface="Calibri"/>
              </a:rPr>
              <a:t>Application vs label, side by side</a:t>
            </a:r>
            <a:endParaRPr b="0" i="0" sz="1450" u="none" cap="none" strike="noStrike">
              <a:solidFill>
                <a:schemeClr val="dk1"/>
              </a:solidFill>
              <a:latin typeface="Calibri"/>
              <a:ea typeface="Calibri"/>
              <a:cs typeface="Calibri"/>
              <a:sym typeface="Calibri"/>
            </a:endParaRPr>
          </a:p>
        </p:txBody>
      </p:sp>
      <p:sp>
        <p:nvSpPr>
          <p:cNvPr id="327" name="Google Shape;327;p12"/>
          <p:cNvSpPr/>
          <p:nvPr/>
        </p:nvSpPr>
        <p:spPr>
          <a:xfrm>
            <a:off x="685800" y="4059936"/>
            <a:ext cx="5486400" cy="502920"/>
          </a:xfrm>
          <a:prstGeom prst="rect">
            <a:avLst/>
          </a:prstGeom>
          <a:noFill/>
          <a:ln>
            <a:noFill/>
          </a:ln>
        </p:spPr>
        <p:txBody>
          <a:bodyPr anchorCtr="0" anchor="ctr" bIns="0" lIns="0" spcFirstLastPara="1" rIns="0" wrap="square" tIns="0">
            <a:noAutofit/>
          </a:bodyPr>
          <a:lstStyle/>
          <a:p>
            <a:pPr indent="-177800" lvl="0" marL="177800" marR="0" rtl="0" algn="l">
              <a:spcBef>
                <a:spcPts val="0"/>
              </a:spcBef>
              <a:spcAft>
                <a:spcPts val="0"/>
              </a:spcAft>
              <a:buClr>
                <a:srgbClr val="0F172A"/>
              </a:buClr>
              <a:buSzPts val="1450"/>
              <a:buFont typeface="Calibri"/>
              <a:buChar char="•"/>
            </a:pPr>
            <a:r>
              <a:rPr b="0" i="0" lang="en-US" sz="1450" u="none" cap="none" strike="noStrike">
                <a:solidFill>
                  <a:srgbClr val="0F172A"/>
                </a:solidFill>
                <a:latin typeface="Calibri"/>
                <a:ea typeface="Calibri"/>
                <a:cs typeface="Calibri"/>
                <a:sym typeface="Calibri"/>
              </a:rPr>
              <a:t>Decide: Approve, or Return for correction</a:t>
            </a:r>
            <a:endParaRPr b="0" i="0" sz="1450" u="none" cap="none" strike="noStrike">
              <a:solidFill>
                <a:schemeClr val="dk1"/>
              </a:solidFill>
              <a:latin typeface="Calibri"/>
              <a:ea typeface="Calibri"/>
              <a:cs typeface="Calibri"/>
              <a:sym typeface="Calibri"/>
            </a:endParaRPr>
          </a:p>
        </p:txBody>
      </p:sp>
      <p:sp>
        <p:nvSpPr>
          <p:cNvPr id="328" name="Google Shape;328;p12"/>
          <p:cNvSpPr/>
          <p:nvPr/>
        </p:nvSpPr>
        <p:spPr>
          <a:xfrm>
            <a:off x="685800" y="4626864"/>
            <a:ext cx="5486400" cy="502920"/>
          </a:xfrm>
          <a:prstGeom prst="rect">
            <a:avLst/>
          </a:prstGeom>
          <a:noFill/>
          <a:ln>
            <a:noFill/>
          </a:ln>
        </p:spPr>
        <p:txBody>
          <a:bodyPr anchorCtr="0" anchor="ctr" bIns="0" lIns="0" spcFirstLastPara="1" rIns="0" wrap="square" tIns="0">
            <a:noAutofit/>
          </a:bodyPr>
          <a:lstStyle/>
          <a:p>
            <a:pPr indent="-177800" lvl="0" marL="177800" marR="0" rtl="0" algn="l">
              <a:spcBef>
                <a:spcPts val="0"/>
              </a:spcBef>
              <a:spcAft>
                <a:spcPts val="0"/>
              </a:spcAft>
              <a:buClr>
                <a:srgbClr val="0F172A"/>
              </a:buClr>
              <a:buSzPts val="1450"/>
              <a:buFont typeface="Calibri"/>
              <a:buChar char="•"/>
            </a:pPr>
            <a:r>
              <a:rPr b="0" i="0" lang="en-US" sz="1450" u="none" cap="none" strike="noStrike">
                <a:solidFill>
                  <a:srgbClr val="0F172A"/>
                </a:solidFill>
                <a:latin typeface="Calibri"/>
                <a:ea typeface="Calibri"/>
                <a:cs typeface="Calibri"/>
                <a:sym typeface="Calibri"/>
              </a:rPr>
              <a:t>Accessible: colour + icon + text, large targets</a:t>
            </a:r>
            <a:endParaRPr b="0" i="0" sz="1450" u="none" cap="none" strike="noStrike">
              <a:solidFill>
                <a:schemeClr val="dk1"/>
              </a:solidFill>
              <a:latin typeface="Calibri"/>
              <a:ea typeface="Calibri"/>
              <a:cs typeface="Calibri"/>
              <a:sym typeface="Calibri"/>
            </a:endParaRPr>
          </a:p>
        </p:txBody>
      </p:sp>
      <p:sp>
        <p:nvSpPr>
          <p:cNvPr id="329" name="Google Shape;329;p12"/>
          <p:cNvSpPr/>
          <p:nvPr/>
        </p:nvSpPr>
        <p:spPr>
          <a:xfrm>
            <a:off x="6583680" y="1828800"/>
            <a:ext cx="4937760" cy="397764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2"/>
          <p:cNvSpPr/>
          <p:nvPr/>
        </p:nvSpPr>
        <p:spPr>
          <a:xfrm>
            <a:off x="6812280" y="2057400"/>
            <a:ext cx="4480560" cy="640080"/>
          </a:xfrm>
          <a:prstGeom prst="rect">
            <a:avLst/>
          </a:prstGeom>
          <a:solidFill>
            <a:srgbClr val="EEF3FA"/>
          </a:solidFill>
          <a:ln cap="flat" cmpd="sng" w="12700">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2"/>
          <p:cNvSpPr/>
          <p:nvPr/>
        </p:nvSpPr>
        <p:spPr>
          <a:xfrm>
            <a:off x="6995160" y="2057400"/>
            <a:ext cx="27432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A5E"/>
              </a:buClr>
              <a:buSzPts val="1250"/>
              <a:buFont typeface="Calibri"/>
              <a:buNone/>
            </a:pPr>
            <a:r>
              <a:rPr b="1" i="0" lang="en-US" sz="1250" u="none" cap="none" strike="noStrike">
                <a:solidFill>
                  <a:srgbClr val="1C3A5E"/>
                </a:solidFill>
                <a:latin typeface="Calibri"/>
                <a:ea typeface="Calibri"/>
                <a:cs typeface="Calibri"/>
                <a:sym typeface="Calibri"/>
              </a:rPr>
              <a:t>5 pulled from your pool</a:t>
            </a:r>
            <a:endParaRPr b="0" i="0" sz="1250" u="none" cap="none" strike="noStrike">
              <a:solidFill>
                <a:schemeClr val="dk1"/>
              </a:solidFill>
              <a:latin typeface="Calibri"/>
              <a:ea typeface="Calibri"/>
              <a:cs typeface="Calibri"/>
              <a:sym typeface="Calibri"/>
            </a:endParaRPr>
          </a:p>
        </p:txBody>
      </p:sp>
      <p:sp>
        <p:nvSpPr>
          <p:cNvPr id="332" name="Google Shape;332;p12"/>
          <p:cNvSpPr/>
          <p:nvPr/>
        </p:nvSpPr>
        <p:spPr>
          <a:xfrm>
            <a:off x="9738360" y="2212848"/>
            <a:ext cx="1463040" cy="347472"/>
          </a:xfrm>
          <a:prstGeom prst="roundRect">
            <a:avLst>
              <a:gd fmla="val 50000" name="adj"/>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2"/>
          <p:cNvSpPr/>
          <p:nvPr/>
        </p:nvSpPr>
        <p:spPr>
          <a:xfrm>
            <a:off x="9738360" y="2212848"/>
            <a:ext cx="146304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Get next</a:t>
            </a:r>
            <a:endParaRPr b="0" i="0" sz="1100" u="none" cap="none" strike="noStrike">
              <a:solidFill>
                <a:schemeClr val="dk1"/>
              </a:solidFill>
              <a:latin typeface="Calibri"/>
              <a:ea typeface="Calibri"/>
              <a:cs typeface="Calibri"/>
              <a:sym typeface="Calibri"/>
            </a:endParaRPr>
          </a:p>
        </p:txBody>
      </p:sp>
      <p:sp>
        <p:nvSpPr>
          <p:cNvPr id="334" name="Google Shape;334;p12"/>
          <p:cNvSpPr/>
          <p:nvPr/>
        </p:nvSpPr>
        <p:spPr>
          <a:xfrm>
            <a:off x="6812280" y="2926080"/>
            <a:ext cx="4480560" cy="713232"/>
          </a:xfrm>
          <a:prstGeom prst="rect">
            <a:avLst/>
          </a:prstGeom>
          <a:solidFill>
            <a:srgbClr val="FFFFFF"/>
          </a:solidFill>
          <a:ln cap="flat" cmpd="sng" w="12700">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2"/>
          <p:cNvSpPr/>
          <p:nvPr/>
        </p:nvSpPr>
        <p:spPr>
          <a:xfrm>
            <a:off x="6812280" y="2926080"/>
            <a:ext cx="73152" cy="713232"/>
          </a:xfrm>
          <a:prstGeom prst="rect">
            <a:avLst/>
          </a:prstGeom>
          <a:solidFill>
            <a:srgbClr val="B91C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2"/>
          <p:cNvSpPr/>
          <p:nvPr/>
        </p:nvSpPr>
        <p:spPr>
          <a:xfrm>
            <a:off x="6995160" y="3017520"/>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250"/>
              <a:buFont typeface="Calibri"/>
              <a:buNone/>
            </a:pPr>
            <a:r>
              <a:rPr b="1" i="0" lang="en-US" sz="1250" u="none" cap="none" strike="noStrike">
                <a:solidFill>
                  <a:srgbClr val="0F172A"/>
                </a:solidFill>
                <a:latin typeface="Calibri"/>
                <a:ea typeface="Calibri"/>
                <a:cs typeface="Calibri"/>
                <a:sym typeface="Calibri"/>
              </a:rPr>
              <a:t>Harbor Mist Vodka</a:t>
            </a:r>
            <a:endParaRPr b="0" i="0" sz="1250" u="none" cap="none" strike="noStrike">
              <a:solidFill>
                <a:schemeClr val="dk1"/>
              </a:solidFill>
              <a:latin typeface="Calibri"/>
              <a:ea typeface="Calibri"/>
              <a:cs typeface="Calibri"/>
              <a:sym typeface="Calibri"/>
            </a:endParaRPr>
          </a:p>
        </p:txBody>
      </p:sp>
      <p:sp>
        <p:nvSpPr>
          <p:cNvPr id="337" name="Google Shape;337;p12"/>
          <p:cNvSpPr/>
          <p:nvPr/>
        </p:nvSpPr>
        <p:spPr>
          <a:xfrm>
            <a:off x="6995160" y="3310128"/>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050"/>
              <a:buFont typeface="Calibri"/>
              <a:buNone/>
            </a:pPr>
            <a:r>
              <a:rPr b="0" i="0" lang="en-US" sz="1050" u="none" cap="none" strike="noStrike">
                <a:solidFill>
                  <a:srgbClr val="5B6B7F"/>
                </a:solidFill>
                <a:latin typeface="Calibri"/>
                <a:ea typeface="Calibri"/>
                <a:cs typeface="Calibri"/>
                <a:sym typeface="Calibri"/>
              </a:rPr>
              <a:t>ABV: form 40% vs label 45%</a:t>
            </a:r>
            <a:endParaRPr b="0" i="0" sz="1050" u="none" cap="none" strike="noStrike">
              <a:solidFill>
                <a:schemeClr val="dk1"/>
              </a:solidFill>
              <a:latin typeface="Calibri"/>
              <a:ea typeface="Calibri"/>
              <a:cs typeface="Calibri"/>
              <a:sym typeface="Calibri"/>
            </a:endParaRPr>
          </a:p>
        </p:txBody>
      </p:sp>
      <p:sp>
        <p:nvSpPr>
          <p:cNvPr id="338" name="Google Shape;338;p12"/>
          <p:cNvSpPr/>
          <p:nvPr/>
        </p:nvSpPr>
        <p:spPr>
          <a:xfrm>
            <a:off x="10287000" y="3127248"/>
            <a:ext cx="960120" cy="329184"/>
          </a:xfrm>
          <a:prstGeom prst="roundRect">
            <a:avLst>
              <a:gd fmla="val 50000" name="adj"/>
            </a:avLst>
          </a:prstGeom>
          <a:solidFill>
            <a:srgbClr val="FAEAEA"/>
          </a:solidFill>
          <a:ln cap="flat" cmpd="sng" w="12700">
            <a:solidFill>
              <a:srgbClr val="B91C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2"/>
          <p:cNvSpPr/>
          <p:nvPr/>
        </p:nvSpPr>
        <p:spPr>
          <a:xfrm>
            <a:off x="10287000" y="3127248"/>
            <a:ext cx="9601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91C1C"/>
              </a:buClr>
              <a:buSzPts val="950"/>
              <a:buFont typeface="Calibri"/>
              <a:buNone/>
            </a:pPr>
            <a:r>
              <a:rPr b="1" i="0" lang="en-US" sz="950" u="none" cap="none" strike="noStrike">
                <a:solidFill>
                  <a:srgbClr val="B91C1C"/>
                </a:solidFill>
                <a:latin typeface="Calibri"/>
                <a:ea typeface="Calibri"/>
                <a:cs typeface="Calibri"/>
                <a:sym typeface="Calibri"/>
              </a:rPr>
              <a:t>✕ flag</a:t>
            </a:r>
            <a:endParaRPr b="0" i="0" sz="950" u="none" cap="none" strike="noStrike">
              <a:solidFill>
                <a:schemeClr val="dk1"/>
              </a:solidFill>
              <a:latin typeface="Calibri"/>
              <a:ea typeface="Calibri"/>
              <a:cs typeface="Calibri"/>
              <a:sym typeface="Calibri"/>
            </a:endParaRPr>
          </a:p>
        </p:txBody>
      </p:sp>
      <p:sp>
        <p:nvSpPr>
          <p:cNvPr id="340" name="Google Shape;340;p12"/>
          <p:cNvSpPr/>
          <p:nvPr/>
        </p:nvSpPr>
        <p:spPr>
          <a:xfrm>
            <a:off x="6812280" y="3776472"/>
            <a:ext cx="4480560" cy="713232"/>
          </a:xfrm>
          <a:prstGeom prst="rect">
            <a:avLst/>
          </a:prstGeom>
          <a:solidFill>
            <a:srgbClr val="FFFFFF"/>
          </a:solidFill>
          <a:ln cap="flat" cmpd="sng" w="12700">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2"/>
          <p:cNvSpPr/>
          <p:nvPr/>
        </p:nvSpPr>
        <p:spPr>
          <a:xfrm>
            <a:off x="6812280" y="3776472"/>
            <a:ext cx="73152" cy="713232"/>
          </a:xfrm>
          <a:prstGeom prst="rect">
            <a:avLst/>
          </a:prstGeom>
          <a:solidFill>
            <a:srgbClr val="B91C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2"/>
          <p:cNvSpPr/>
          <p:nvPr/>
        </p:nvSpPr>
        <p:spPr>
          <a:xfrm>
            <a:off x="6995160" y="3867912"/>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250"/>
              <a:buFont typeface="Calibri"/>
              <a:buNone/>
            </a:pPr>
            <a:r>
              <a:rPr b="1" i="0" lang="en-US" sz="1250" u="none" cap="none" strike="noStrike">
                <a:solidFill>
                  <a:srgbClr val="0F172A"/>
                </a:solidFill>
                <a:latin typeface="Calibri"/>
                <a:ea typeface="Calibri"/>
                <a:cs typeface="Calibri"/>
                <a:sym typeface="Calibri"/>
              </a:rPr>
              <a:t>Cedar Ridge Reserve</a:t>
            </a:r>
            <a:endParaRPr b="0" i="0" sz="1250" u="none" cap="none" strike="noStrike">
              <a:solidFill>
                <a:schemeClr val="dk1"/>
              </a:solidFill>
              <a:latin typeface="Calibri"/>
              <a:ea typeface="Calibri"/>
              <a:cs typeface="Calibri"/>
              <a:sym typeface="Calibri"/>
            </a:endParaRPr>
          </a:p>
        </p:txBody>
      </p:sp>
      <p:sp>
        <p:nvSpPr>
          <p:cNvPr id="343" name="Google Shape;343;p12"/>
          <p:cNvSpPr/>
          <p:nvPr/>
        </p:nvSpPr>
        <p:spPr>
          <a:xfrm>
            <a:off x="6995160" y="4160520"/>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050"/>
              <a:buFont typeface="Calibri"/>
              <a:buNone/>
            </a:pPr>
            <a:r>
              <a:rPr b="0" i="0" lang="en-US" sz="1050" u="none" cap="none" strike="noStrike">
                <a:solidFill>
                  <a:srgbClr val="5B6B7F"/>
                </a:solidFill>
                <a:latin typeface="Calibri"/>
                <a:ea typeface="Calibri"/>
                <a:cs typeface="Calibri"/>
                <a:sym typeface="Calibri"/>
              </a:rPr>
              <a:t>Warning not in all caps</a:t>
            </a:r>
            <a:endParaRPr b="0" i="0" sz="1050" u="none" cap="none" strike="noStrike">
              <a:solidFill>
                <a:schemeClr val="dk1"/>
              </a:solidFill>
              <a:latin typeface="Calibri"/>
              <a:ea typeface="Calibri"/>
              <a:cs typeface="Calibri"/>
              <a:sym typeface="Calibri"/>
            </a:endParaRPr>
          </a:p>
        </p:txBody>
      </p:sp>
      <p:sp>
        <p:nvSpPr>
          <p:cNvPr id="344" name="Google Shape;344;p12"/>
          <p:cNvSpPr/>
          <p:nvPr/>
        </p:nvSpPr>
        <p:spPr>
          <a:xfrm>
            <a:off x="10287000" y="3977640"/>
            <a:ext cx="960120" cy="329184"/>
          </a:xfrm>
          <a:prstGeom prst="roundRect">
            <a:avLst>
              <a:gd fmla="val 50000" name="adj"/>
            </a:avLst>
          </a:prstGeom>
          <a:solidFill>
            <a:srgbClr val="FAEAEA"/>
          </a:solidFill>
          <a:ln cap="flat" cmpd="sng" w="12700">
            <a:solidFill>
              <a:srgbClr val="B91C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2"/>
          <p:cNvSpPr/>
          <p:nvPr/>
        </p:nvSpPr>
        <p:spPr>
          <a:xfrm>
            <a:off x="10287000" y="3977640"/>
            <a:ext cx="9601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91C1C"/>
              </a:buClr>
              <a:buSzPts val="950"/>
              <a:buFont typeface="Calibri"/>
              <a:buNone/>
            </a:pPr>
            <a:r>
              <a:rPr b="1" i="0" lang="en-US" sz="950" u="none" cap="none" strike="noStrike">
                <a:solidFill>
                  <a:srgbClr val="B91C1C"/>
                </a:solidFill>
                <a:latin typeface="Calibri"/>
                <a:ea typeface="Calibri"/>
                <a:cs typeface="Calibri"/>
                <a:sym typeface="Calibri"/>
              </a:rPr>
              <a:t>✕ flag</a:t>
            </a:r>
            <a:endParaRPr b="0" i="0" sz="950" u="none" cap="none" strike="noStrike">
              <a:solidFill>
                <a:schemeClr val="dk1"/>
              </a:solidFill>
              <a:latin typeface="Calibri"/>
              <a:ea typeface="Calibri"/>
              <a:cs typeface="Calibri"/>
              <a:sym typeface="Calibri"/>
            </a:endParaRPr>
          </a:p>
        </p:txBody>
      </p:sp>
      <p:sp>
        <p:nvSpPr>
          <p:cNvPr id="346" name="Google Shape;346;p12"/>
          <p:cNvSpPr/>
          <p:nvPr/>
        </p:nvSpPr>
        <p:spPr>
          <a:xfrm>
            <a:off x="6812280" y="4626864"/>
            <a:ext cx="4480560" cy="713232"/>
          </a:xfrm>
          <a:prstGeom prst="rect">
            <a:avLst/>
          </a:prstGeom>
          <a:solidFill>
            <a:srgbClr val="FFFFFF"/>
          </a:solidFill>
          <a:ln cap="flat" cmpd="sng" w="12700">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2"/>
          <p:cNvSpPr/>
          <p:nvPr/>
        </p:nvSpPr>
        <p:spPr>
          <a:xfrm>
            <a:off x="6812280" y="4626864"/>
            <a:ext cx="73152" cy="713232"/>
          </a:xfrm>
          <a:prstGeom prst="rect">
            <a:avLst/>
          </a:prstGeom>
          <a:solidFill>
            <a:srgbClr val="B45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2"/>
          <p:cNvSpPr/>
          <p:nvPr/>
        </p:nvSpPr>
        <p:spPr>
          <a:xfrm>
            <a:off x="6995160" y="4718304"/>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250"/>
              <a:buFont typeface="Calibri"/>
              <a:buNone/>
            </a:pPr>
            <a:r>
              <a:rPr b="1" i="0" lang="en-US" sz="1250" u="none" cap="none" strike="noStrike">
                <a:solidFill>
                  <a:srgbClr val="0F172A"/>
                </a:solidFill>
                <a:latin typeface="Calibri"/>
                <a:ea typeface="Calibri"/>
                <a:cs typeface="Calibri"/>
                <a:sym typeface="Calibri"/>
              </a:rPr>
              <a:t>Pages 1907 Lager</a:t>
            </a:r>
            <a:endParaRPr b="0" i="0" sz="1250" u="none" cap="none" strike="noStrike">
              <a:solidFill>
                <a:schemeClr val="dk1"/>
              </a:solidFill>
              <a:latin typeface="Calibri"/>
              <a:ea typeface="Calibri"/>
              <a:cs typeface="Calibri"/>
              <a:sym typeface="Calibri"/>
            </a:endParaRPr>
          </a:p>
        </p:txBody>
      </p:sp>
      <p:sp>
        <p:nvSpPr>
          <p:cNvPr id="349" name="Google Shape;349;p12"/>
          <p:cNvSpPr/>
          <p:nvPr/>
        </p:nvSpPr>
        <p:spPr>
          <a:xfrm>
            <a:off x="6995160" y="5010912"/>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050"/>
              <a:buFont typeface="Calibri"/>
              <a:buNone/>
            </a:pPr>
            <a:r>
              <a:rPr b="0" i="0" lang="en-US" sz="1050" u="none" cap="none" strike="noStrike">
                <a:solidFill>
                  <a:srgbClr val="5B6B7F"/>
                </a:solidFill>
                <a:latin typeface="Calibri"/>
                <a:ea typeface="Calibri"/>
                <a:cs typeface="Calibri"/>
                <a:sym typeface="Calibri"/>
              </a:rPr>
              <a:t>Image too blurry to read</a:t>
            </a:r>
            <a:endParaRPr b="0" i="0" sz="1050" u="none" cap="none" strike="noStrike">
              <a:solidFill>
                <a:schemeClr val="dk1"/>
              </a:solidFill>
              <a:latin typeface="Calibri"/>
              <a:ea typeface="Calibri"/>
              <a:cs typeface="Calibri"/>
              <a:sym typeface="Calibri"/>
            </a:endParaRPr>
          </a:p>
        </p:txBody>
      </p:sp>
      <p:sp>
        <p:nvSpPr>
          <p:cNvPr id="350" name="Google Shape;350;p12"/>
          <p:cNvSpPr/>
          <p:nvPr/>
        </p:nvSpPr>
        <p:spPr>
          <a:xfrm>
            <a:off x="10287000" y="4828032"/>
            <a:ext cx="960120" cy="329184"/>
          </a:xfrm>
          <a:prstGeom prst="roundRect">
            <a:avLst>
              <a:gd fmla="val 50000" name="adj"/>
            </a:avLst>
          </a:prstGeom>
          <a:solidFill>
            <a:srgbClr val="FBF1E0"/>
          </a:solidFill>
          <a:ln cap="flat" cmpd="sng" w="12700">
            <a:solidFill>
              <a:srgbClr val="B4530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2"/>
          <p:cNvSpPr/>
          <p:nvPr/>
        </p:nvSpPr>
        <p:spPr>
          <a:xfrm>
            <a:off x="10287000" y="4828032"/>
            <a:ext cx="9601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45309"/>
              </a:buClr>
              <a:buSzPts val="950"/>
              <a:buFont typeface="Calibri"/>
              <a:buNone/>
            </a:pPr>
            <a:r>
              <a:rPr b="1" i="0" lang="en-US" sz="950" u="none" cap="none" strike="noStrike">
                <a:solidFill>
                  <a:srgbClr val="B45309"/>
                </a:solidFill>
                <a:latin typeface="Calibri"/>
                <a:ea typeface="Calibri"/>
                <a:cs typeface="Calibri"/>
                <a:sym typeface="Calibri"/>
              </a:rPr>
              <a:t>? review</a:t>
            </a:r>
            <a:endParaRPr b="0" i="0" sz="950" u="none" cap="none" strike="noStrike">
              <a:solidFill>
                <a:schemeClr val="dk1"/>
              </a:solidFill>
              <a:latin typeface="Calibri"/>
              <a:ea typeface="Calibri"/>
              <a:cs typeface="Calibri"/>
              <a:sym typeface="Calibri"/>
            </a:endParaRPr>
          </a:p>
        </p:txBody>
      </p:sp>
      <p:sp>
        <p:nvSpPr>
          <p:cNvPr id="352" name="Google Shape;352;p12"/>
          <p:cNvSpPr/>
          <p:nvPr/>
        </p:nvSpPr>
        <p:spPr>
          <a:xfrm>
            <a:off x="685800" y="6446520"/>
            <a:ext cx="6400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AI Label Verification · Approach &amp; Design</a:t>
            </a:r>
            <a:endParaRPr b="0" i="0" sz="900" u="none" cap="none" strike="noStrike">
              <a:solidFill>
                <a:schemeClr val="dk1"/>
              </a:solidFill>
              <a:latin typeface="Calibri"/>
              <a:ea typeface="Calibri"/>
              <a:cs typeface="Calibri"/>
              <a:sym typeface="Calibri"/>
            </a:endParaRPr>
          </a:p>
        </p:txBody>
      </p:sp>
      <p:sp>
        <p:nvSpPr>
          <p:cNvPr id="353" name="Google Shape;353;p12"/>
          <p:cNvSpPr/>
          <p:nvPr/>
        </p:nvSpPr>
        <p:spPr>
          <a:xfrm>
            <a:off x="11185855" y="6446520"/>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358" name="Shape 358"/>
        <p:cNvGrpSpPr/>
        <p:nvPr/>
      </p:nvGrpSpPr>
      <p:grpSpPr>
        <a:xfrm>
          <a:off x="0" y="0"/>
          <a:ext cx="0" cy="0"/>
          <a:chOff x="0" y="0"/>
          <a:chExt cx="0" cy="0"/>
        </a:xfrm>
      </p:grpSpPr>
      <p:sp>
        <p:nvSpPr>
          <p:cNvPr id="359" name="Google Shape;359;p13"/>
          <p:cNvSpPr/>
          <p:nvPr/>
        </p:nvSpPr>
        <p:spPr>
          <a:xfrm>
            <a:off x="685800" y="457200"/>
            <a:ext cx="107899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63EB"/>
              </a:buClr>
              <a:buSzPts val="1200"/>
              <a:buFont typeface="Calibri"/>
              <a:buNone/>
            </a:pPr>
            <a:r>
              <a:rPr b="1" i="0" lang="en-US" sz="1200" u="none" cap="none" strike="noStrike">
                <a:solidFill>
                  <a:srgbClr val="2563EB"/>
                </a:solidFill>
                <a:latin typeface="Calibri"/>
                <a:ea typeface="Calibri"/>
                <a:cs typeface="Calibri"/>
                <a:sym typeface="Calibri"/>
              </a:rPr>
              <a:t>PRODUCT · ADMIN VIEW</a:t>
            </a:r>
            <a:endParaRPr b="0" i="0" sz="1200" u="none" cap="none" strike="noStrike">
              <a:solidFill>
                <a:schemeClr val="dk1"/>
              </a:solidFill>
              <a:latin typeface="Calibri"/>
              <a:ea typeface="Calibri"/>
              <a:cs typeface="Calibri"/>
              <a:sym typeface="Calibri"/>
            </a:endParaRPr>
          </a:p>
        </p:txBody>
      </p:sp>
      <p:sp>
        <p:nvSpPr>
          <p:cNvPr id="360" name="Google Shape;360;p13"/>
          <p:cNvSpPr/>
          <p:nvPr/>
        </p:nvSpPr>
        <p:spPr>
          <a:xfrm>
            <a:off x="685800" y="749808"/>
            <a:ext cx="107899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Georgia"/>
              <a:buNone/>
            </a:pPr>
            <a:r>
              <a:rPr b="1" i="0" lang="en-US" sz="3200" u="none" cap="none" strike="noStrike">
                <a:solidFill>
                  <a:srgbClr val="0F172A"/>
                </a:solidFill>
                <a:latin typeface="Georgia"/>
                <a:ea typeface="Georgia"/>
                <a:cs typeface="Georgia"/>
                <a:sym typeface="Georgia"/>
              </a:rPr>
              <a:t>The Operations dashboard</a:t>
            </a:r>
            <a:endParaRPr b="0" i="0" sz="3200" u="none" cap="none" strike="noStrike">
              <a:solidFill>
                <a:schemeClr val="dk1"/>
              </a:solidFill>
              <a:latin typeface="Calibri"/>
              <a:ea typeface="Calibri"/>
              <a:cs typeface="Calibri"/>
              <a:sym typeface="Calibri"/>
            </a:endParaRPr>
          </a:p>
        </p:txBody>
      </p:sp>
      <p:sp>
        <p:nvSpPr>
          <p:cNvPr id="361" name="Google Shape;361;p13"/>
          <p:cNvSpPr/>
          <p:nvPr/>
        </p:nvSpPr>
        <p:spPr>
          <a:xfrm>
            <a:off x="502920" y="1417320"/>
            <a:ext cx="11183112" cy="507492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3"/>
          <p:cNvSpPr/>
          <p:nvPr/>
        </p:nvSpPr>
        <p:spPr>
          <a:xfrm>
            <a:off x="502920" y="1417320"/>
            <a:ext cx="11183112" cy="365760"/>
          </a:xfrm>
          <a:prstGeom prst="rect">
            <a:avLst/>
          </a:prstGeom>
          <a:solidFill>
            <a:srgbClr val="EEF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3"/>
          <p:cNvSpPr/>
          <p:nvPr/>
        </p:nvSpPr>
        <p:spPr>
          <a:xfrm>
            <a:off x="704088" y="1536192"/>
            <a:ext cx="118872" cy="118872"/>
          </a:xfrm>
          <a:prstGeom prst="ellipse">
            <a:avLst/>
          </a:prstGeom>
          <a:solidFill>
            <a:srgbClr val="E262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3"/>
          <p:cNvSpPr/>
          <p:nvPr/>
        </p:nvSpPr>
        <p:spPr>
          <a:xfrm>
            <a:off x="886968" y="1536192"/>
            <a:ext cx="118872" cy="118872"/>
          </a:xfrm>
          <a:prstGeom prst="ellipse">
            <a:avLst/>
          </a:prstGeom>
          <a:solidFill>
            <a:srgbClr val="E2B0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3"/>
          <p:cNvSpPr/>
          <p:nvPr/>
        </p:nvSpPr>
        <p:spPr>
          <a:xfrm>
            <a:off x="1069848" y="1536192"/>
            <a:ext cx="118872" cy="118872"/>
          </a:xfrm>
          <a:prstGeom prst="ellipse">
            <a:avLst/>
          </a:prstGeom>
          <a:solidFill>
            <a:srgbClr val="5CB8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3"/>
          <p:cNvSpPr/>
          <p:nvPr/>
        </p:nvSpPr>
        <p:spPr>
          <a:xfrm>
            <a:off x="502920" y="1453896"/>
            <a:ext cx="1118311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8A8"/>
              </a:buClr>
              <a:buSzPts val="1000"/>
              <a:buFont typeface="Calibri"/>
              <a:buNone/>
            </a:pPr>
            <a:r>
              <a:rPr b="0" i="0" lang="en-US" sz="1000" u="none" cap="none" strike="noStrike">
                <a:solidFill>
                  <a:srgbClr val="8A98A8"/>
                </a:solidFill>
                <a:latin typeface="Calibri"/>
                <a:ea typeface="Calibri"/>
                <a:cs typeface="Calibri"/>
                <a:sym typeface="Calibri"/>
              </a:rPr>
              <a:t>labelcheck.ttb.gov</a:t>
            </a:r>
            <a:endParaRPr b="0" i="0" sz="1000" u="none" cap="none" strike="noStrike">
              <a:solidFill>
                <a:schemeClr val="dk1"/>
              </a:solidFill>
              <a:latin typeface="Calibri"/>
              <a:ea typeface="Calibri"/>
              <a:cs typeface="Calibri"/>
              <a:sym typeface="Calibri"/>
            </a:endParaRPr>
          </a:p>
        </p:txBody>
      </p:sp>
      <p:sp>
        <p:nvSpPr>
          <p:cNvPr id="367" name="Google Shape;367;p13"/>
          <p:cNvSpPr/>
          <p:nvPr/>
        </p:nvSpPr>
        <p:spPr>
          <a:xfrm>
            <a:off x="502920" y="1783080"/>
            <a:ext cx="2240280" cy="4709160"/>
          </a:xfrm>
          <a:prstGeom prst="rect">
            <a:avLst/>
          </a:prstGeom>
          <a:solidFill>
            <a:srgbClr val="FBFCFE"/>
          </a:solidFill>
          <a:ln cap="flat" cmpd="sng" w="12700">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3"/>
          <p:cNvSpPr/>
          <p:nvPr/>
        </p:nvSpPr>
        <p:spPr>
          <a:xfrm>
            <a:off x="685800" y="1947672"/>
            <a:ext cx="365760" cy="365760"/>
          </a:xfrm>
          <a:prstGeom prst="roundRect">
            <a:avLst>
              <a:gd fmla="val 17500" name="adj"/>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3"/>
          <p:cNvSpPr/>
          <p:nvPr/>
        </p:nvSpPr>
        <p:spPr>
          <a:xfrm>
            <a:off x="685800" y="1947672"/>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Georgia"/>
              <a:buNone/>
            </a:pPr>
            <a:r>
              <a:rPr b="1" i="0" lang="en-US" sz="1500" u="none" cap="none" strike="noStrike">
                <a:solidFill>
                  <a:srgbClr val="FFFFFF"/>
                </a:solidFill>
                <a:latin typeface="Georgia"/>
                <a:ea typeface="Georgia"/>
                <a:cs typeface="Georgia"/>
                <a:sym typeface="Georgia"/>
              </a:rPr>
              <a:t>L</a:t>
            </a:r>
            <a:endParaRPr b="0" i="0" sz="1500" u="none" cap="none" strike="noStrike">
              <a:solidFill>
                <a:schemeClr val="dk1"/>
              </a:solidFill>
              <a:latin typeface="Calibri"/>
              <a:ea typeface="Calibri"/>
              <a:cs typeface="Calibri"/>
              <a:sym typeface="Calibri"/>
            </a:endParaRPr>
          </a:p>
        </p:txBody>
      </p:sp>
      <p:sp>
        <p:nvSpPr>
          <p:cNvPr id="370" name="Google Shape;370;p13"/>
          <p:cNvSpPr/>
          <p:nvPr/>
        </p:nvSpPr>
        <p:spPr>
          <a:xfrm>
            <a:off x="1143000" y="1965960"/>
            <a:ext cx="14630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300"/>
              <a:buFont typeface="Calibri"/>
              <a:buNone/>
            </a:pPr>
            <a:r>
              <a:rPr b="1" i="0" lang="en-US" sz="1300" u="none" cap="none" strike="noStrike">
                <a:solidFill>
                  <a:srgbClr val="0F172A"/>
                </a:solidFill>
                <a:latin typeface="Calibri"/>
                <a:ea typeface="Calibri"/>
                <a:cs typeface="Calibri"/>
                <a:sym typeface="Calibri"/>
              </a:rPr>
              <a:t>LabelCheck</a:t>
            </a:r>
            <a:endParaRPr b="0" i="0" sz="1300" u="none" cap="none" strike="noStrike">
              <a:solidFill>
                <a:schemeClr val="dk1"/>
              </a:solidFill>
              <a:latin typeface="Calibri"/>
              <a:ea typeface="Calibri"/>
              <a:cs typeface="Calibri"/>
              <a:sym typeface="Calibri"/>
            </a:endParaRPr>
          </a:p>
        </p:txBody>
      </p:sp>
      <p:sp>
        <p:nvSpPr>
          <p:cNvPr id="371" name="Google Shape;371;p13"/>
          <p:cNvSpPr/>
          <p:nvPr/>
        </p:nvSpPr>
        <p:spPr>
          <a:xfrm>
            <a:off x="685800" y="2496312"/>
            <a:ext cx="1874520" cy="310896"/>
          </a:xfrm>
          <a:prstGeom prst="roundRect">
            <a:avLst>
              <a:gd fmla="val 17647" name="adj"/>
            </a:avLst>
          </a:prstGeom>
          <a:solidFill>
            <a:srgbClr val="FFFFFF"/>
          </a:solidFill>
          <a:ln cap="flat" cmpd="sng" w="12700">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3"/>
          <p:cNvSpPr/>
          <p:nvPr/>
        </p:nvSpPr>
        <p:spPr>
          <a:xfrm>
            <a:off x="685800" y="2496312"/>
            <a:ext cx="941832" cy="310896"/>
          </a:xfrm>
          <a:prstGeom prst="roundRect">
            <a:avLst>
              <a:gd fmla="val 17647" name="adj"/>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3"/>
          <p:cNvSpPr/>
          <p:nvPr/>
        </p:nvSpPr>
        <p:spPr>
          <a:xfrm>
            <a:off x="685800" y="2496312"/>
            <a:ext cx="941832"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Admin</a:t>
            </a:r>
            <a:endParaRPr b="0" i="0" sz="1050" u="none" cap="none" strike="noStrike">
              <a:solidFill>
                <a:schemeClr val="dk1"/>
              </a:solidFill>
              <a:latin typeface="Calibri"/>
              <a:ea typeface="Calibri"/>
              <a:cs typeface="Calibri"/>
              <a:sym typeface="Calibri"/>
            </a:endParaRPr>
          </a:p>
        </p:txBody>
      </p:sp>
      <p:sp>
        <p:nvSpPr>
          <p:cNvPr id="374" name="Google Shape;374;p13"/>
          <p:cNvSpPr/>
          <p:nvPr/>
        </p:nvSpPr>
        <p:spPr>
          <a:xfrm>
            <a:off x="1618488" y="2496312"/>
            <a:ext cx="941832"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7F"/>
              </a:buClr>
              <a:buSzPts val="1050"/>
              <a:buFont typeface="Calibri"/>
              <a:buNone/>
            </a:pPr>
            <a:r>
              <a:rPr b="1" i="0" lang="en-US" sz="1050" u="none" cap="none" strike="noStrike">
                <a:solidFill>
                  <a:srgbClr val="5B6B7F"/>
                </a:solidFill>
                <a:latin typeface="Calibri"/>
                <a:ea typeface="Calibri"/>
                <a:cs typeface="Calibri"/>
                <a:sym typeface="Calibri"/>
              </a:rPr>
              <a:t>Agent</a:t>
            </a:r>
            <a:endParaRPr b="0" i="0" sz="1050" u="none" cap="none" strike="noStrike">
              <a:solidFill>
                <a:schemeClr val="dk1"/>
              </a:solidFill>
              <a:latin typeface="Calibri"/>
              <a:ea typeface="Calibri"/>
              <a:cs typeface="Calibri"/>
              <a:sym typeface="Calibri"/>
            </a:endParaRPr>
          </a:p>
        </p:txBody>
      </p:sp>
      <p:sp>
        <p:nvSpPr>
          <p:cNvPr id="375" name="Google Shape;375;p13"/>
          <p:cNvSpPr/>
          <p:nvPr/>
        </p:nvSpPr>
        <p:spPr>
          <a:xfrm>
            <a:off x="630936" y="2980944"/>
            <a:ext cx="1984248" cy="402336"/>
          </a:xfrm>
          <a:prstGeom prst="rect">
            <a:avLst/>
          </a:prstGeom>
          <a:solidFill>
            <a:srgbClr val="EAF0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3"/>
          <p:cNvSpPr/>
          <p:nvPr/>
        </p:nvSpPr>
        <p:spPr>
          <a:xfrm>
            <a:off x="777240" y="3017520"/>
            <a:ext cx="17830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250"/>
              <a:buFont typeface="Calibri"/>
              <a:buNone/>
            </a:pPr>
            <a:r>
              <a:rPr b="1" i="0" lang="en-US" sz="1250" u="none" cap="none" strike="noStrike">
                <a:solidFill>
                  <a:srgbClr val="2563EB"/>
                </a:solidFill>
                <a:latin typeface="Calibri"/>
                <a:ea typeface="Calibri"/>
                <a:cs typeface="Calibri"/>
                <a:sym typeface="Calibri"/>
              </a:rPr>
              <a:t>Operations</a:t>
            </a:r>
            <a:endParaRPr b="0" i="0" sz="1250" u="none" cap="none" strike="noStrike">
              <a:solidFill>
                <a:schemeClr val="dk1"/>
              </a:solidFill>
              <a:latin typeface="Calibri"/>
              <a:ea typeface="Calibri"/>
              <a:cs typeface="Calibri"/>
              <a:sym typeface="Calibri"/>
            </a:endParaRPr>
          </a:p>
        </p:txBody>
      </p:sp>
      <p:sp>
        <p:nvSpPr>
          <p:cNvPr id="377" name="Google Shape;377;p13"/>
          <p:cNvSpPr/>
          <p:nvPr/>
        </p:nvSpPr>
        <p:spPr>
          <a:xfrm>
            <a:off x="777240" y="3474720"/>
            <a:ext cx="17830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250"/>
              <a:buFont typeface="Calibri"/>
              <a:buNone/>
            </a:pPr>
            <a:r>
              <a:rPr b="0" i="0" lang="en-US" sz="1250" u="none" cap="none" strike="noStrike">
                <a:solidFill>
                  <a:srgbClr val="475569"/>
                </a:solidFill>
                <a:latin typeface="Calibri"/>
                <a:ea typeface="Calibri"/>
                <a:cs typeface="Calibri"/>
                <a:sym typeface="Calibri"/>
              </a:rPr>
              <a:t>All Applications</a:t>
            </a:r>
            <a:endParaRPr b="0" i="0" sz="1250" u="none" cap="none" strike="noStrike">
              <a:solidFill>
                <a:schemeClr val="dk1"/>
              </a:solidFill>
              <a:latin typeface="Calibri"/>
              <a:ea typeface="Calibri"/>
              <a:cs typeface="Calibri"/>
              <a:sym typeface="Calibri"/>
            </a:endParaRPr>
          </a:p>
        </p:txBody>
      </p:sp>
      <p:sp>
        <p:nvSpPr>
          <p:cNvPr id="378" name="Google Shape;378;p13"/>
          <p:cNvSpPr/>
          <p:nvPr/>
        </p:nvSpPr>
        <p:spPr>
          <a:xfrm>
            <a:off x="777240" y="3931920"/>
            <a:ext cx="17830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250"/>
              <a:buFont typeface="Calibri"/>
              <a:buNone/>
            </a:pPr>
            <a:r>
              <a:rPr b="0" i="0" lang="en-US" sz="1250" u="none" cap="none" strike="noStrike">
                <a:solidFill>
                  <a:srgbClr val="475569"/>
                </a:solidFill>
                <a:latin typeface="Calibri"/>
                <a:ea typeface="Calibri"/>
                <a:cs typeface="Calibri"/>
                <a:sym typeface="Calibri"/>
              </a:rPr>
              <a:t>Analytics</a:t>
            </a:r>
            <a:endParaRPr b="0" i="0" sz="1250" u="none" cap="none" strike="noStrike">
              <a:solidFill>
                <a:schemeClr val="dk1"/>
              </a:solidFill>
              <a:latin typeface="Calibri"/>
              <a:ea typeface="Calibri"/>
              <a:cs typeface="Calibri"/>
              <a:sym typeface="Calibri"/>
            </a:endParaRPr>
          </a:p>
        </p:txBody>
      </p:sp>
      <p:sp>
        <p:nvSpPr>
          <p:cNvPr id="379" name="Google Shape;379;p13"/>
          <p:cNvSpPr/>
          <p:nvPr/>
        </p:nvSpPr>
        <p:spPr>
          <a:xfrm>
            <a:off x="777240" y="4389120"/>
            <a:ext cx="17830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250"/>
              <a:buFont typeface="Calibri"/>
              <a:buNone/>
            </a:pPr>
            <a:r>
              <a:rPr b="0" i="0" lang="en-US" sz="1250" u="none" cap="none" strike="noStrike">
                <a:solidFill>
                  <a:srgbClr val="475569"/>
                </a:solidFill>
                <a:latin typeface="Calibri"/>
                <a:ea typeface="Calibri"/>
                <a:cs typeface="Calibri"/>
                <a:sym typeface="Calibri"/>
              </a:rPr>
              <a:t>Team</a:t>
            </a:r>
            <a:endParaRPr b="0" i="0" sz="1250" u="none" cap="none" strike="noStrike">
              <a:solidFill>
                <a:schemeClr val="dk1"/>
              </a:solidFill>
              <a:latin typeface="Calibri"/>
              <a:ea typeface="Calibri"/>
              <a:cs typeface="Calibri"/>
              <a:sym typeface="Calibri"/>
            </a:endParaRPr>
          </a:p>
        </p:txBody>
      </p:sp>
      <p:sp>
        <p:nvSpPr>
          <p:cNvPr id="380" name="Google Shape;380;p13"/>
          <p:cNvSpPr/>
          <p:nvPr/>
        </p:nvSpPr>
        <p:spPr>
          <a:xfrm>
            <a:off x="685800" y="5925312"/>
            <a:ext cx="365760" cy="365760"/>
          </a:xfrm>
          <a:prstGeom prst="ellipse">
            <a:avLst/>
          </a:prstGeom>
          <a:solidFill>
            <a:srgbClr val="DBEA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3"/>
          <p:cNvSpPr/>
          <p:nvPr/>
        </p:nvSpPr>
        <p:spPr>
          <a:xfrm>
            <a:off x="685800" y="5925312"/>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3A5E"/>
              </a:buClr>
              <a:buSzPts val="1100"/>
              <a:buFont typeface="Calibri"/>
              <a:buNone/>
            </a:pPr>
            <a:r>
              <a:rPr b="1" i="0" lang="en-US" sz="1100" u="none" cap="none" strike="noStrike">
                <a:solidFill>
                  <a:srgbClr val="1C3A5E"/>
                </a:solidFill>
                <a:latin typeface="Calibri"/>
                <a:ea typeface="Calibri"/>
                <a:cs typeface="Calibri"/>
                <a:sym typeface="Calibri"/>
              </a:rPr>
              <a:t>SC</a:t>
            </a:r>
            <a:endParaRPr b="0" i="0" sz="1100" u="none" cap="none" strike="noStrike">
              <a:solidFill>
                <a:schemeClr val="dk1"/>
              </a:solidFill>
              <a:latin typeface="Calibri"/>
              <a:ea typeface="Calibri"/>
              <a:cs typeface="Calibri"/>
              <a:sym typeface="Calibri"/>
            </a:endParaRPr>
          </a:p>
        </p:txBody>
      </p:sp>
      <p:sp>
        <p:nvSpPr>
          <p:cNvPr id="382" name="Google Shape;382;p13"/>
          <p:cNvSpPr/>
          <p:nvPr/>
        </p:nvSpPr>
        <p:spPr>
          <a:xfrm>
            <a:off x="1143000" y="5907024"/>
            <a:ext cx="1463040" cy="402336"/>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0F172A"/>
              </a:buClr>
              <a:buSzPts val="1200"/>
              <a:buFont typeface="Calibri"/>
              <a:buNone/>
            </a:pPr>
            <a:r>
              <a:rPr b="1" i="0" lang="en-US" sz="1200" u="none" cap="none" strike="noStrike">
                <a:solidFill>
                  <a:srgbClr val="0F172A"/>
                </a:solidFill>
                <a:latin typeface="Calibri"/>
                <a:ea typeface="Calibri"/>
                <a:cs typeface="Calibri"/>
                <a:sym typeface="Calibri"/>
              </a:rPr>
              <a:t>Sarah Chen</a:t>
            </a:r>
            <a:endParaRPr b="0" i="0" sz="1200" u="none" cap="none" strike="noStrike">
              <a:solidFill>
                <a:schemeClr val="dk1"/>
              </a:solidFill>
              <a:latin typeface="Calibri"/>
              <a:ea typeface="Calibri"/>
              <a:cs typeface="Calibri"/>
              <a:sym typeface="Calibri"/>
            </a:endParaRPr>
          </a:p>
          <a:p>
            <a:pPr indent="0" lvl="0" marL="0" marR="0" rtl="0" algn="l">
              <a:lnSpc>
                <a:spcPct val="95000"/>
              </a:lnSpc>
              <a:spcBef>
                <a:spcPts val="0"/>
              </a:spcBef>
              <a:spcAft>
                <a:spcPts val="0"/>
              </a:spcAft>
              <a:buClr>
                <a:srgbClr val="8A98A8"/>
              </a:buClr>
              <a:buSzPts val="1000"/>
              <a:buFont typeface="Calibri"/>
              <a:buNone/>
            </a:pPr>
            <a:r>
              <a:rPr b="0" i="0" lang="en-US" sz="1000" u="none" cap="none" strike="noStrike">
                <a:solidFill>
                  <a:srgbClr val="8A98A8"/>
                </a:solidFill>
                <a:latin typeface="Calibri"/>
                <a:ea typeface="Calibri"/>
                <a:cs typeface="Calibri"/>
                <a:sym typeface="Calibri"/>
              </a:rPr>
              <a:t>Supervisor</a:t>
            </a:r>
            <a:endParaRPr b="0" i="0" sz="1200" u="none" cap="none" strike="noStrike">
              <a:solidFill>
                <a:schemeClr val="dk1"/>
              </a:solidFill>
              <a:latin typeface="Calibri"/>
              <a:ea typeface="Calibri"/>
              <a:cs typeface="Calibri"/>
              <a:sym typeface="Calibri"/>
            </a:endParaRPr>
          </a:p>
        </p:txBody>
      </p:sp>
      <p:sp>
        <p:nvSpPr>
          <p:cNvPr id="383" name="Google Shape;383;p13"/>
          <p:cNvSpPr/>
          <p:nvPr/>
        </p:nvSpPr>
        <p:spPr>
          <a:xfrm>
            <a:off x="2999232" y="1947672"/>
            <a:ext cx="1915668" cy="841248"/>
          </a:xfrm>
          <a:prstGeom prst="rect">
            <a:avLst/>
          </a:prstGeom>
          <a:solidFill>
            <a:srgbClr val="F8FAFC"/>
          </a:solidFill>
          <a:ln cap="flat" cmpd="sng" w="12700">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3"/>
          <p:cNvSpPr/>
          <p:nvPr/>
        </p:nvSpPr>
        <p:spPr>
          <a:xfrm>
            <a:off x="3108960" y="2039112"/>
            <a:ext cx="1732788"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8"/>
              </a:buClr>
              <a:buSzPts val="850"/>
              <a:buFont typeface="Calibri"/>
              <a:buNone/>
            </a:pPr>
            <a:r>
              <a:rPr b="1" i="0" lang="en-US" sz="850" u="none" cap="none" strike="noStrike">
                <a:solidFill>
                  <a:srgbClr val="8A98A8"/>
                </a:solidFill>
                <a:latin typeface="Calibri"/>
                <a:ea typeface="Calibri"/>
                <a:cs typeface="Calibri"/>
                <a:sym typeface="Calibri"/>
              </a:rPr>
              <a:t>RECEIVED</a:t>
            </a:r>
            <a:endParaRPr b="0" i="0" sz="850" u="none" cap="none" strike="noStrike">
              <a:solidFill>
                <a:schemeClr val="dk1"/>
              </a:solidFill>
              <a:latin typeface="Calibri"/>
              <a:ea typeface="Calibri"/>
              <a:cs typeface="Calibri"/>
              <a:sym typeface="Calibri"/>
            </a:endParaRPr>
          </a:p>
        </p:txBody>
      </p:sp>
      <p:sp>
        <p:nvSpPr>
          <p:cNvPr id="385" name="Google Shape;385;p13"/>
          <p:cNvSpPr/>
          <p:nvPr/>
        </p:nvSpPr>
        <p:spPr>
          <a:xfrm>
            <a:off x="3108960" y="2221992"/>
            <a:ext cx="1732788"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400"/>
              <a:buFont typeface="Georgia"/>
              <a:buNone/>
            </a:pPr>
            <a:r>
              <a:rPr b="1" i="0" lang="en-US" sz="2400" u="none" cap="none" strike="noStrike">
                <a:solidFill>
                  <a:srgbClr val="0F172A"/>
                </a:solidFill>
                <a:latin typeface="Georgia"/>
                <a:ea typeface="Georgia"/>
                <a:cs typeface="Georgia"/>
                <a:sym typeface="Georgia"/>
              </a:rPr>
              <a:t>600</a:t>
            </a:r>
            <a:endParaRPr b="0" i="0" sz="2400" u="none" cap="none" strike="noStrike">
              <a:solidFill>
                <a:schemeClr val="dk1"/>
              </a:solidFill>
              <a:latin typeface="Calibri"/>
              <a:ea typeface="Calibri"/>
              <a:cs typeface="Calibri"/>
              <a:sym typeface="Calibri"/>
            </a:endParaRPr>
          </a:p>
        </p:txBody>
      </p:sp>
      <p:sp>
        <p:nvSpPr>
          <p:cNvPr id="386" name="Google Shape;386;p13"/>
          <p:cNvSpPr/>
          <p:nvPr/>
        </p:nvSpPr>
        <p:spPr>
          <a:xfrm>
            <a:off x="4896612" y="1947672"/>
            <a:ext cx="256032" cy="8412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5E1"/>
              </a:buClr>
              <a:buSzPts val="1600"/>
              <a:buFont typeface="Georgia"/>
              <a:buNone/>
            </a:pPr>
            <a:r>
              <a:rPr b="1" i="0" lang="en-US" sz="1600" u="none" cap="none" strike="noStrike">
                <a:solidFill>
                  <a:srgbClr val="CBD5E1"/>
                </a:solidFill>
                <a:latin typeface="Georgia"/>
                <a:ea typeface="Georgia"/>
                <a:cs typeface="Georgia"/>
                <a:sym typeface="Georgia"/>
              </a:rPr>
              <a:t>→</a:t>
            </a:r>
            <a:endParaRPr b="0" i="0" sz="1600" u="none" cap="none" strike="noStrike">
              <a:solidFill>
                <a:schemeClr val="dk1"/>
              </a:solidFill>
              <a:latin typeface="Calibri"/>
              <a:ea typeface="Calibri"/>
              <a:cs typeface="Calibri"/>
              <a:sym typeface="Calibri"/>
            </a:endParaRPr>
          </a:p>
        </p:txBody>
      </p:sp>
      <p:sp>
        <p:nvSpPr>
          <p:cNvPr id="387" name="Google Shape;387;p13"/>
          <p:cNvSpPr/>
          <p:nvPr/>
        </p:nvSpPr>
        <p:spPr>
          <a:xfrm>
            <a:off x="5170932" y="1947672"/>
            <a:ext cx="1915668" cy="841248"/>
          </a:xfrm>
          <a:prstGeom prst="rect">
            <a:avLst/>
          </a:prstGeom>
          <a:solidFill>
            <a:srgbClr val="F8FAFC"/>
          </a:solidFill>
          <a:ln cap="flat" cmpd="sng" w="12700">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3"/>
          <p:cNvSpPr/>
          <p:nvPr/>
        </p:nvSpPr>
        <p:spPr>
          <a:xfrm>
            <a:off x="5280660" y="2039112"/>
            <a:ext cx="1732788"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8"/>
              </a:buClr>
              <a:buSzPts val="850"/>
              <a:buFont typeface="Calibri"/>
              <a:buNone/>
            </a:pPr>
            <a:r>
              <a:rPr b="1" i="0" lang="en-US" sz="850" u="none" cap="none" strike="noStrike">
                <a:solidFill>
                  <a:srgbClr val="8A98A8"/>
                </a:solidFill>
                <a:latin typeface="Calibri"/>
                <a:ea typeface="Calibri"/>
                <a:cs typeface="Calibri"/>
                <a:sym typeface="Calibri"/>
              </a:rPr>
              <a:t>VERIFIED</a:t>
            </a:r>
            <a:endParaRPr b="0" i="0" sz="850" u="none" cap="none" strike="noStrike">
              <a:solidFill>
                <a:schemeClr val="dk1"/>
              </a:solidFill>
              <a:latin typeface="Calibri"/>
              <a:ea typeface="Calibri"/>
              <a:cs typeface="Calibri"/>
              <a:sym typeface="Calibri"/>
            </a:endParaRPr>
          </a:p>
        </p:txBody>
      </p:sp>
      <p:sp>
        <p:nvSpPr>
          <p:cNvPr id="389" name="Google Shape;389;p13"/>
          <p:cNvSpPr/>
          <p:nvPr/>
        </p:nvSpPr>
        <p:spPr>
          <a:xfrm>
            <a:off x="5280660" y="2221992"/>
            <a:ext cx="1732788"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400"/>
              <a:buFont typeface="Georgia"/>
              <a:buNone/>
            </a:pPr>
            <a:r>
              <a:rPr b="1" i="0" lang="en-US" sz="2400" u="none" cap="none" strike="noStrike">
                <a:solidFill>
                  <a:srgbClr val="0F172A"/>
                </a:solidFill>
                <a:latin typeface="Georgia"/>
                <a:ea typeface="Georgia"/>
                <a:cs typeface="Georgia"/>
                <a:sym typeface="Georgia"/>
              </a:rPr>
              <a:t>600</a:t>
            </a:r>
            <a:endParaRPr b="0" i="0" sz="2400" u="none" cap="none" strike="noStrike">
              <a:solidFill>
                <a:schemeClr val="dk1"/>
              </a:solidFill>
              <a:latin typeface="Calibri"/>
              <a:ea typeface="Calibri"/>
              <a:cs typeface="Calibri"/>
              <a:sym typeface="Calibri"/>
            </a:endParaRPr>
          </a:p>
        </p:txBody>
      </p:sp>
      <p:sp>
        <p:nvSpPr>
          <p:cNvPr id="390" name="Google Shape;390;p13"/>
          <p:cNvSpPr/>
          <p:nvPr/>
        </p:nvSpPr>
        <p:spPr>
          <a:xfrm>
            <a:off x="7068312" y="1947672"/>
            <a:ext cx="256032" cy="8412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5E1"/>
              </a:buClr>
              <a:buSzPts val="1600"/>
              <a:buFont typeface="Georgia"/>
              <a:buNone/>
            </a:pPr>
            <a:r>
              <a:rPr b="1" i="0" lang="en-US" sz="1600" u="none" cap="none" strike="noStrike">
                <a:solidFill>
                  <a:srgbClr val="CBD5E1"/>
                </a:solidFill>
                <a:latin typeface="Georgia"/>
                <a:ea typeface="Georgia"/>
                <a:cs typeface="Georgia"/>
                <a:sym typeface="Georgia"/>
              </a:rPr>
              <a:t>→</a:t>
            </a:r>
            <a:endParaRPr b="0" i="0" sz="1600" u="none" cap="none" strike="noStrike">
              <a:solidFill>
                <a:schemeClr val="dk1"/>
              </a:solidFill>
              <a:latin typeface="Calibri"/>
              <a:ea typeface="Calibri"/>
              <a:cs typeface="Calibri"/>
              <a:sym typeface="Calibri"/>
            </a:endParaRPr>
          </a:p>
        </p:txBody>
      </p:sp>
      <p:sp>
        <p:nvSpPr>
          <p:cNvPr id="391" name="Google Shape;391;p13"/>
          <p:cNvSpPr/>
          <p:nvPr/>
        </p:nvSpPr>
        <p:spPr>
          <a:xfrm>
            <a:off x="7342632" y="1947672"/>
            <a:ext cx="1915668" cy="841248"/>
          </a:xfrm>
          <a:prstGeom prst="rect">
            <a:avLst/>
          </a:prstGeom>
          <a:solidFill>
            <a:srgbClr val="F8FAFC"/>
          </a:solidFill>
          <a:ln cap="flat" cmpd="sng" w="12700">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3"/>
          <p:cNvSpPr/>
          <p:nvPr/>
        </p:nvSpPr>
        <p:spPr>
          <a:xfrm>
            <a:off x="7452360" y="2039112"/>
            <a:ext cx="1732788"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8"/>
              </a:buClr>
              <a:buSzPts val="850"/>
              <a:buFont typeface="Calibri"/>
              <a:buNone/>
            </a:pPr>
            <a:r>
              <a:rPr b="1" i="0" lang="en-US" sz="850" u="none" cap="none" strike="noStrike">
                <a:solidFill>
                  <a:srgbClr val="8A98A8"/>
                </a:solidFill>
                <a:latin typeface="Calibri"/>
                <a:ea typeface="Calibri"/>
                <a:cs typeface="Calibri"/>
                <a:sym typeface="Calibri"/>
              </a:rPr>
              <a:t>READY</a:t>
            </a:r>
            <a:endParaRPr b="0" i="0" sz="850" u="none" cap="none" strike="noStrike">
              <a:solidFill>
                <a:schemeClr val="dk1"/>
              </a:solidFill>
              <a:latin typeface="Calibri"/>
              <a:ea typeface="Calibri"/>
              <a:cs typeface="Calibri"/>
              <a:sym typeface="Calibri"/>
            </a:endParaRPr>
          </a:p>
        </p:txBody>
      </p:sp>
      <p:sp>
        <p:nvSpPr>
          <p:cNvPr id="393" name="Google Shape;393;p13"/>
          <p:cNvSpPr/>
          <p:nvPr/>
        </p:nvSpPr>
        <p:spPr>
          <a:xfrm>
            <a:off x="7452360" y="2221992"/>
            <a:ext cx="1732788"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803D"/>
              </a:buClr>
              <a:buSzPts val="2400"/>
              <a:buFont typeface="Georgia"/>
              <a:buNone/>
            </a:pPr>
            <a:r>
              <a:rPr b="1" i="0" lang="en-US" sz="2400" u="none" cap="none" strike="noStrike">
                <a:solidFill>
                  <a:srgbClr val="15803D"/>
                </a:solidFill>
                <a:latin typeface="Georgia"/>
                <a:ea typeface="Georgia"/>
                <a:cs typeface="Georgia"/>
                <a:sym typeface="Georgia"/>
              </a:rPr>
              <a:t>420</a:t>
            </a:r>
            <a:endParaRPr b="0" i="0" sz="2400" u="none" cap="none" strike="noStrike">
              <a:solidFill>
                <a:schemeClr val="dk1"/>
              </a:solidFill>
              <a:latin typeface="Calibri"/>
              <a:ea typeface="Calibri"/>
              <a:cs typeface="Calibri"/>
              <a:sym typeface="Calibri"/>
            </a:endParaRPr>
          </a:p>
        </p:txBody>
      </p:sp>
      <p:sp>
        <p:nvSpPr>
          <p:cNvPr id="394" name="Google Shape;394;p13"/>
          <p:cNvSpPr/>
          <p:nvPr/>
        </p:nvSpPr>
        <p:spPr>
          <a:xfrm>
            <a:off x="9240012" y="1947672"/>
            <a:ext cx="256032" cy="8412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5E1"/>
              </a:buClr>
              <a:buSzPts val="1600"/>
              <a:buFont typeface="Georgia"/>
              <a:buNone/>
            </a:pPr>
            <a:r>
              <a:rPr b="1" i="0" lang="en-US" sz="1600" u="none" cap="none" strike="noStrike">
                <a:solidFill>
                  <a:srgbClr val="CBD5E1"/>
                </a:solidFill>
                <a:latin typeface="Georgia"/>
                <a:ea typeface="Georgia"/>
                <a:cs typeface="Georgia"/>
                <a:sym typeface="Georgia"/>
              </a:rPr>
              <a:t>→</a:t>
            </a:r>
            <a:endParaRPr b="0" i="0" sz="1600" u="none" cap="none" strike="noStrike">
              <a:solidFill>
                <a:schemeClr val="dk1"/>
              </a:solidFill>
              <a:latin typeface="Calibri"/>
              <a:ea typeface="Calibri"/>
              <a:cs typeface="Calibri"/>
              <a:sym typeface="Calibri"/>
            </a:endParaRPr>
          </a:p>
        </p:txBody>
      </p:sp>
      <p:sp>
        <p:nvSpPr>
          <p:cNvPr id="395" name="Google Shape;395;p13"/>
          <p:cNvSpPr/>
          <p:nvPr/>
        </p:nvSpPr>
        <p:spPr>
          <a:xfrm>
            <a:off x="9514332" y="1947672"/>
            <a:ext cx="1915668" cy="841248"/>
          </a:xfrm>
          <a:prstGeom prst="rect">
            <a:avLst/>
          </a:prstGeom>
          <a:solidFill>
            <a:srgbClr val="F8FAFC"/>
          </a:solidFill>
          <a:ln cap="flat" cmpd="sng" w="12700">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3"/>
          <p:cNvSpPr/>
          <p:nvPr/>
        </p:nvSpPr>
        <p:spPr>
          <a:xfrm>
            <a:off x="9624060" y="2039112"/>
            <a:ext cx="1732788"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8"/>
              </a:buClr>
              <a:buSzPts val="850"/>
              <a:buFont typeface="Calibri"/>
              <a:buNone/>
            </a:pPr>
            <a:r>
              <a:rPr b="1" i="0" lang="en-US" sz="850" u="none" cap="none" strike="noStrike">
                <a:solidFill>
                  <a:srgbClr val="8A98A8"/>
                </a:solidFill>
                <a:latin typeface="Calibri"/>
                <a:ea typeface="Calibri"/>
                <a:cs typeface="Calibri"/>
                <a:sym typeface="Calibri"/>
              </a:rPr>
              <a:t>REVIEW</a:t>
            </a:r>
            <a:endParaRPr b="0" i="0" sz="850" u="none" cap="none" strike="noStrike">
              <a:solidFill>
                <a:schemeClr val="dk1"/>
              </a:solidFill>
              <a:latin typeface="Calibri"/>
              <a:ea typeface="Calibri"/>
              <a:cs typeface="Calibri"/>
              <a:sym typeface="Calibri"/>
            </a:endParaRPr>
          </a:p>
        </p:txBody>
      </p:sp>
      <p:sp>
        <p:nvSpPr>
          <p:cNvPr id="397" name="Google Shape;397;p13"/>
          <p:cNvSpPr/>
          <p:nvPr/>
        </p:nvSpPr>
        <p:spPr>
          <a:xfrm>
            <a:off x="9624060" y="2221992"/>
            <a:ext cx="1732788"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2400"/>
              <a:buFont typeface="Georgia"/>
              <a:buNone/>
            </a:pPr>
            <a:r>
              <a:rPr b="1" i="0" lang="en-US" sz="2400" u="none" cap="none" strike="noStrike">
                <a:solidFill>
                  <a:srgbClr val="B45309"/>
                </a:solidFill>
                <a:latin typeface="Georgia"/>
                <a:ea typeface="Georgia"/>
                <a:cs typeface="Georgia"/>
                <a:sym typeface="Georgia"/>
              </a:rPr>
              <a:t>180</a:t>
            </a:r>
            <a:endParaRPr b="0" i="0" sz="2400" u="none" cap="none" strike="noStrike">
              <a:solidFill>
                <a:schemeClr val="dk1"/>
              </a:solidFill>
              <a:latin typeface="Calibri"/>
              <a:ea typeface="Calibri"/>
              <a:cs typeface="Calibri"/>
              <a:sym typeface="Calibri"/>
            </a:endParaRPr>
          </a:p>
        </p:txBody>
      </p:sp>
      <p:sp>
        <p:nvSpPr>
          <p:cNvPr id="398" name="Google Shape;398;p13"/>
          <p:cNvSpPr/>
          <p:nvPr/>
        </p:nvSpPr>
        <p:spPr>
          <a:xfrm>
            <a:off x="2999232" y="2999232"/>
            <a:ext cx="4078224" cy="2743200"/>
          </a:xfrm>
          <a:prstGeom prst="rect">
            <a:avLst/>
          </a:prstGeom>
          <a:solidFill>
            <a:srgbClr val="FFFFFF"/>
          </a:solidFill>
          <a:ln cap="flat" cmpd="sng" w="12700">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3"/>
          <p:cNvSpPr/>
          <p:nvPr/>
        </p:nvSpPr>
        <p:spPr>
          <a:xfrm>
            <a:off x="3163824" y="3108960"/>
            <a:ext cx="38039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200"/>
              <a:buFont typeface="Calibri"/>
              <a:buNone/>
            </a:pPr>
            <a:r>
              <a:rPr b="1" i="0" lang="en-US" sz="1200" u="none" cap="none" strike="noStrike">
                <a:solidFill>
                  <a:srgbClr val="0F172A"/>
                </a:solidFill>
                <a:latin typeface="Calibri"/>
                <a:ea typeface="Calibri"/>
                <a:cs typeface="Calibri"/>
                <a:sym typeface="Calibri"/>
              </a:rPr>
              <a:t>Shared approval pool</a:t>
            </a:r>
            <a:endParaRPr b="0" i="0" sz="1200" u="none" cap="none" strike="noStrike">
              <a:solidFill>
                <a:schemeClr val="dk1"/>
              </a:solidFill>
              <a:latin typeface="Calibri"/>
              <a:ea typeface="Calibri"/>
              <a:cs typeface="Calibri"/>
              <a:sym typeface="Calibri"/>
            </a:endParaRPr>
          </a:p>
        </p:txBody>
      </p:sp>
      <p:sp>
        <p:nvSpPr>
          <p:cNvPr id="400" name="Google Shape;400;p13"/>
          <p:cNvSpPr/>
          <p:nvPr/>
        </p:nvSpPr>
        <p:spPr>
          <a:xfrm>
            <a:off x="3163824" y="3456432"/>
            <a:ext cx="3749040" cy="566928"/>
          </a:xfrm>
          <a:prstGeom prst="rect">
            <a:avLst/>
          </a:prstGeom>
          <a:solidFill>
            <a:srgbClr val="E8F6EE"/>
          </a:solidFill>
          <a:ln cap="flat" cmpd="sng" w="12700">
            <a:solidFill>
              <a:srgbClr val="1580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3"/>
          <p:cNvSpPr/>
          <p:nvPr/>
        </p:nvSpPr>
        <p:spPr>
          <a:xfrm>
            <a:off x="3310128" y="3456432"/>
            <a:ext cx="224942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803D"/>
              </a:buClr>
              <a:buSzPts val="1150"/>
              <a:buFont typeface="Calibri"/>
              <a:buNone/>
            </a:pPr>
            <a:r>
              <a:rPr b="1" i="0" lang="en-US" sz="1150" u="none" cap="none" strike="noStrike">
                <a:solidFill>
                  <a:srgbClr val="15803D"/>
                </a:solidFill>
                <a:latin typeface="Calibri"/>
                <a:ea typeface="Calibri"/>
                <a:cs typeface="Calibri"/>
                <a:sym typeface="Calibri"/>
              </a:rPr>
              <a:t>420 passed every check</a:t>
            </a:r>
            <a:endParaRPr b="0" i="0" sz="1150" u="none" cap="none" strike="noStrike">
              <a:solidFill>
                <a:schemeClr val="dk1"/>
              </a:solidFill>
              <a:latin typeface="Calibri"/>
              <a:ea typeface="Calibri"/>
              <a:cs typeface="Calibri"/>
              <a:sym typeface="Calibri"/>
            </a:endParaRPr>
          </a:p>
        </p:txBody>
      </p:sp>
      <p:sp>
        <p:nvSpPr>
          <p:cNvPr id="402" name="Google Shape;402;p13"/>
          <p:cNvSpPr/>
          <p:nvPr/>
        </p:nvSpPr>
        <p:spPr>
          <a:xfrm>
            <a:off x="5559552" y="3566160"/>
            <a:ext cx="1325880" cy="347472"/>
          </a:xfrm>
          <a:prstGeom prst="roundRect">
            <a:avLst>
              <a:gd fmla="val 50000" name="adj"/>
            </a:avLst>
          </a:prstGeom>
          <a:solidFill>
            <a:srgbClr val="1580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3"/>
          <p:cNvSpPr/>
          <p:nvPr/>
        </p:nvSpPr>
        <p:spPr>
          <a:xfrm>
            <a:off x="5559552" y="3566160"/>
            <a:ext cx="132588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Approve all 420</a:t>
            </a:r>
            <a:endParaRPr b="0" i="0" sz="1000" u="none" cap="none" strike="noStrike">
              <a:solidFill>
                <a:schemeClr val="dk1"/>
              </a:solidFill>
              <a:latin typeface="Calibri"/>
              <a:ea typeface="Calibri"/>
              <a:cs typeface="Calibri"/>
              <a:sym typeface="Calibri"/>
            </a:endParaRPr>
          </a:p>
        </p:txBody>
      </p:sp>
      <p:sp>
        <p:nvSpPr>
          <p:cNvPr id="404" name="Google Shape;404;p13"/>
          <p:cNvSpPr/>
          <p:nvPr/>
        </p:nvSpPr>
        <p:spPr>
          <a:xfrm>
            <a:off x="3273552" y="4187952"/>
            <a:ext cx="206654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100"/>
              <a:buFont typeface="Calibri"/>
              <a:buNone/>
            </a:pPr>
            <a:r>
              <a:rPr b="1" i="0" lang="en-US" sz="1100" u="none" cap="none" strike="noStrike">
                <a:solidFill>
                  <a:srgbClr val="0F172A"/>
                </a:solidFill>
                <a:latin typeface="Calibri"/>
                <a:ea typeface="Calibri"/>
                <a:cs typeface="Calibri"/>
                <a:sym typeface="Calibri"/>
              </a:rPr>
              <a:t>Old Tom Distillery</a:t>
            </a:r>
            <a:endParaRPr b="0" i="0" sz="1100" u="none" cap="none" strike="noStrike">
              <a:solidFill>
                <a:schemeClr val="dk1"/>
              </a:solidFill>
              <a:latin typeface="Calibri"/>
              <a:ea typeface="Calibri"/>
              <a:cs typeface="Calibri"/>
              <a:sym typeface="Calibri"/>
            </a:endParaRPr>
          </a:p>
        </p:txBody>
      </p:sp>
      <p:sp>
        <p:nvSpPr>
          <p:cNvPr id="405" name="Google Shape;405;p13"/>
          <p:cNvSpPr/>
          <p:nvPr/>
        </p:nvSpPr>
        <p:spPr>
          <a:xfrm>
            <a:off x="3273552" y="4389120"/>
            <a:ext cx="20665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8"/>
              </a:buClr>
              <a:buSzPts val="950"/>
              <a:buFont typeface="Calibri"/>
              <a:buNone/>
            </a:pPr>
            <a:r>
              <a:rPr b="0" i="0" lang="en-US" sz="950" u="none" cap="none" strike="noStrike">
                <a:solidFill>
                  <a:srgbClr val="8A98A8"/>
                </a:solidFill>
                <a:latin typeface="Calibri"/>
                <a:ea typeface="Calibri"/>
                <a:cs typeface="Calibri"/>
                <a:sym typeface="Calibri"/>
              </a:rPr>
              <a:t>Bourbon · 750 mL</a:t>
            </a:r>
            <a:endParaRPr b="0" i="0" sz="950" u="none" cap="none" strike="noStrike">
              <a:solidFill>
                <a:schemeClr val="dk1"/>
              </a:solidFill>
              <a:latin typeface="Calibri"/>
              <a:ea typeface="Calibri"/>
              <a:cs typeface="Calibri"/>
              <a:sym typeface="Calibri"/>
            </a:endParaRPr>
          </a:p>
        </p:txBody>
      </p:sp>
      <p:sp>
        <p:nvSpPr>
          <p:cNvPr id="406" name="Google Shape;406;p13"/>
          <p:cNvSpPr/>
          <p:nvPr/>
        </p:nvSpPr>
        <p:spPr>
          <a:xfrm>
            <a:off x="6117336" y="4224528"/>
            <a:ext cx="777240" cy="274320"/>
          </a:xfrm>
          <a:prstGeom prst="roundRect">
            <a:avLst>
              <a:gd fmla="val 50000" name="adj"/>
            </a:avLst>
          </a:prstGeom>
          <a:solidFill>
            <a:srgbClr val="E8F6EE"/>
          </a:solidFill>
          <a:ln cap="flat" cmpd="sng" w="12700">
            <a:solidFill>
              <a:srgbClr val="1580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3"/>
          <p:cNvSpPr/>
          <p:nvPr/>
        </p:nvSpPr>
        <p:spPr>
          <a:xfrm>
            <a:off x="6117336" y="4224528"/>
            <a:ext cx="7772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803D"/>
              </a:buClr>
              <a:buSzPts val="850"/>
              <a:buFont typeface="Calibri"/>
              <a:buNone/>
            </a:pPr>
            <a:r>
              <a:rPr b="1" i="0" lang="en-US" sz="850" u="none" cap="none" strike="noStrike">
                <a:solidFill>
                  <a:srgbClr val="15803D"/>
                </a:solidFill>
                <a:latin typeface="Calibri"/>
                <a:ea typeface="Calibri"/>
                <a:cs typeface="Calibri"/>
                <a:sym typeface="Calibri"/>
              </a:rPr>
              <a:t>✓ Match</a:t>
            </a:r>
            <a:endParaRPr b="0" i="0" sz="850" u="none" cap="none" strike="noStrike">
              <a:solidFill>
                <a:schemeClr val="dk1"/>
              </a:solidFill>
              <a:latin typeface="Calibri"/>
              <a:ea typeface="Calibri"/>
              <a:cs typeface="Calibri"/>
              <a:sym typeface="Calibri"/>
            </a:endParaRPr>
          </a:p>
        </p:txBody>
      </p:sp>
      <p:sp>
        <p:nvSpPr>
          <p:cNvPr id="408" name="Google Shape;408;p13"/>
          <p:cNvSpPr/>
          <p:nvPr/>
        </p:nvSpPr>
        <p:spPr>
          <a:xfrm>
            <a:off x="3273552" y="4645152"/>
            <a:ext cx="206654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100"/>
              <a:buFont typeface="Calibri"/>
              <a:buNone/>
            </a:pPr>
            <a:r>
              <a:rPr b="1" i="0" lang="en-US" sz="1100" u="none" cap="none" strike="noStrike">
                <a:solidFill>
                  <a:srgbClr val="0F172A"/>
                </a:solidFill>
                <a:latin typeface="Calibri"/>
                <a:ea typeface="Calibri"/>
                <a:cs typeface="Calibri"/>
                <a:sym typeface="Calibri"/>
              </a:rPr>
              <a:t>Silver Branch Gin</a:t>
            </a:r>
            <a:endParaRPr b="0" i="0" sz="1100" u="none" cap="none" strike="noStrike">
              <a:solidFill>
                <a:schemeClr val="dk1"/>
              </a:solidFill>
              <a:latin typeface="Calibri"/>
              <a:ea typeface="Calibri"/>
              <a:cs typeface="Calibri"/>
              <a:sym typeface="Calibri"/>
            </a:endParaRPr>
          </a:p>
        </p:txBody>
      </p:sp>
      <p:sp>
        <p:nvSpPr>
          <p:cNvPr id="409" name="Google Shape;409;p13"/>
          <p:cNvSpPr/>
          <p:nvPr/>
        </p:nvSpPr>
        <p:spPr>
          <a:xfrm>
            <a:off x="3273552" y="4846320"/>
            <a:ext cx="20665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8"/>
              </a:buClr>
              <a:buSzPts val="950"/>
              <a:buFont typeface="Calibri"/>
              <a:buNone/>
            </a:pPr>
            <a:r>
              <a:rPr b="0" i="0" lang="en-US" sz="950" u="none" cap="none" strike="noStrike">
                <a:solidFill>
                  <a:srgbClr val="8A98A8"/>
                </a:solidFill>
                <a:latin typeface="Calibri"/>
                <a:ea typeface="Calibri"/>
                <a:cs typeface="Calibri"/>
                <a:sym typeface="Calibri"/>
              </a:rPr>
              <a:t>Gin · 750 mL</a:t>
            </a:r>
            <a:endParaRPr b="0" i="0" sz="950" u="none" cap="none" strike="noStrike">
              <a:solidFill>
                <a:schemeClr val="dk1"/>
              </a:solidFill>
              <a:latin typeface="Calibri"/>
              <a:ea typeface="Calibri"/>
              <a:cs typeface="Calibri"/>
              <a:sym typeface="Calibri"/>
            </a:endParaRPr>
          </a:p>
        </p:txBody>
      </p:sp>
      <p:sp>
        <p:nvSpPr>
          <p:cNvPr id="410" name="Google Shape;410;p13"/>
          <p:cNvSpPr/>
          <p:nvPr/>
        </p:nvSpPr>
        <p:spPr>
          <a:xfrm>
            <a:off x="6117336" y="4681728"/>
            <a:ext cx="777240" cy="274320"/>
          </a:xfrm>
          <a:prstGeom prst="roundRect">
            <a:avLst>
              <a:gd fmla="val 50000" name="adj"/>
            </a:avLst>
          </a:prstGeom>
          <a:solidFill>
            <a:srgbClr val="E8F6EE"/>
          </a:solidFill>
          <a:ln cap="flat" cmpd="sng" w="12700">
            <a:solidFill>
              <a:srgbClr val="1580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3"/>
          <p:cNvSpPr/>
          <p:nvPr/>
        </p:nvSpPr>
        <p:spPr>
          <a:xfrm>
            <a:off x="6117336" y="4681728"/>
            <a:ext cx="7772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803D"/>
              </a:buClr>
              <a:buSzPts val="850"/>
              <a:buFont typeface="Calibri"/>
              <a:buNone/>
            </a:pPr>
            <a:r>
              <a:rPr b="1" i="0" lang="en-US" sz="850" u="none" cap="none" strike="noStrike">
                <a:solidFill>
                  <a:srgbClr val="15803D"/>
                </a:solidFill>
                <a:latin typeface="Calibri"/>
                <a:ea typeface="Calibri"/>
                <a:cs typeface="Calibri"/>
                <a:sym typeface="Calibri"/>
              </a:rPr>
              <a:t>✓ Match</a:t>
            </a:r>
            <a:endParaRPr b="0" i="0" sz="850" u="none" cap="none" strike="noStrike">
              <a:solidFill>
                <a:schemeClr val="dk1"/>
              </a:solidFill>
              <a:latin typeface="Calibri"/>
              <a:ea typeface="Calibri"/>
              <a:cs typeface="Calibri"/>
              <a:sym typeface="Calibri"/>
            </a:endParaRPr>
          </a:p>
        </p:txBody>
      </p:sp>
      <p:sp>
        <p:nvSpPr>
          <p:cNvPr id="412" name="Google Shape;412;p13"/>
          <p:cNvSpPr/>
          <p:nvPr/>
        </p:nvSpPr>
        <p:spPr>
          <a:xfrm>
            <a:off x="3273552" y="5102352"/>
            <a:ext cx="206654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100"/>
              <a:buFont typeface="Calibri"/>
              <a:buNone/>
            </a:pPr>
            <a:r>
              <a:rPr b="1" i="0" lang="en-US" sz="1100" u="none" cap="none" strike="noStrike">
                <a:solidFill>
                  <a:srgbClr val="0F172A"/>
                </a:solidFill>
                <a:latin typeface="Calibri"/>
                <a:ea typeface="Calibri"/>
                <a:cs typeface="Calibri"/>
                <a:sym typeface="Calibri"/>
              </a:rPr>
              <a:t>Maple Hollow Cream</a:t>
            </a:r>
            <a:endParaRPr b="0" i="0" sz="1100" u="none" cap="none" strike="noStrike">
              <a:solidFill>
                <a:schemeClr val="dk1"/>
              </a:solidFill>
              <a:latin typeface="Calibri"/>
              <a:ea typeface="Calibri"/>
              <a:cs typeface="Calibri"/>
              <a:sym typeface="Calibri"/>
            </a:endParaRPr>
          </a:p>
        </p:txBody>
      </p:sp>
      <p:sp>
        <p:nvSpPr>
          <p:cNvPr id="413" name="Google Shape;413;p13"/>
          <p:cNvSpPr/>
          <p:nvPr/>
        </p:nvSpPr>
        <p:spPr>
          <a:xfrm>
            <a:off x="3273552" y="5303520"/>
            <a:ext cx="20665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8"/>
              </a:buClr>
              <a:buSzPts val="950"/>
              <a:buFont typeface="Calibri"/>
              <a:buNone/>
            </a:pPr>
            <a:r>
              <a:rPr b="0" i="0" lang="en-US" sz="950" u="none" cap="none" strike="noStrike">
                <a:solidFill>
                  <a:srgbClr val="8A98A8"/>
                </a:solidFill>
                <a:latin typeface="Calibri"/>
                <a:ea typeface="Calibri"/>
                <a:cs typeface="Calibri"/>
                <a:sym typeface="Calibri"/>
              </a:rPr>
              <a:t>Liqueur · 750 mL</a:t>
            </a:r>
            <a:endParaRPr b="0" i="0" sz="950" u="none" cap="none" strike="noStrike">
              <a:solidFill>
                <a:schemeClr val="dk1"/>
              </a:solidFill>
              <a:latin typeface="Calibri"/>
              <a:ea typeface="Calibri"/>
              <a:cs typeface="Calibri"/>
              <a:sym typeface="Calibri"/>
            </a:endParaRPr>
          </a:p>
        </p:txBody>
      </p:sp>
      <p:sp>
        <p:nvSpPr>
          <p:cNvPr id="414" name="Google Shape;414;p13"/>
          <p:cNvSpPr/>
          <p:nvPr/>
        </p:nvSpPr>
        <p:spPr>
          <a:xfrm>
            <a:off x="6117336" y="5138928"/>
            <a:ext cx="777240" cy="274320"/>
          </a:xfrm>
          <a:prstGeom prst="roundRect">
            <a:avLst>
              <a:gd fmla="val 50000" name="adj"/>
            </a:avLst>
          </a:prstGeom>
          <a:solidFill>
            <a:srgbClr val="E8F6EE"/>
          </a:solidFill>
          <a:ln cap="flat" cmpd="sng" w="12700">
            <a:solidFill>
              <a:srgbClr val="1580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3"/>
          <p:cNvSpPr/>
          <p:nvPr/>
        </p:nvSpPr>
        <p:spPr>
          <a:xfrm>
            <a:off x="6117336" y="5138928"/>
            <a:ext cx="7772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803D"/>
              </a:buClr>
              <a:buSzPts val="850"/>
              <a:buFont typeface="Calibri"/>
              <a:buNone/>
            </a:pPr>
            <a:r>
              <a:rPr b="1" i="0" lang="en-US" sz="850" u="none" cap="none" strike="noStrike">
                <a:solidFill>
                  <a:srgbClr val="15803D"/>
                </a:solidFill>
                <a:latin typeface="Calibri"/>
                <a:ea typeface="Calibri"/>
                <a:cs typeface="Calibri"/>
                <a:sym typeface="Calibri"/>
              </a:rPr>
              <a:t>✓ Match</a:t>
            </a:r>
            <a:endParaRPr b="0" i="0" sz="850" u="none" cap="none" strike="noStrike">
              <a:solidFill>
                <a:schemeClr val="dk1"/>
              </a:solidFill>
              <a:latin typeface="Calibri"/>
              <a:ea typeface="Calibri"/>
              <a:cs typeface="Calibri"/>
              <a:sym typeface="Calibri"/>
            </a:endParaRPr>
          </a:p>
        </p:txBody>
      </p:sp>
      <p:sp>
        <p:nvSpPr>
          <p:cNvPr id="416" name="Google Shape;416;p13"/>
          <p:cNvSpPr/>
          <p:nvPr/>
        </p:nvSpPr>
        <p:spPr>
          <a:xfrm>
            <a:off x="3273552" y="5541264"/>
            <a:ext cx="362102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8"/>
              </a:buClr>
              <a:buSzPts val="950"/>
              <a:buFont typeface="Calibri"/>
              <a:buNone/>
            </a:pPr>
            <a:r>
              <a:rPr b="0" i="1" lang="en-US" sz="950" u="none" cap="none" strike="noStrike">
                <a:solidFill>
                  <a:srgbClr val="8A98A8"/>
                </a:solidFill>
                <a:latin typeface="Calibri"/>
                <a:ea typeface="Calibri"/>
                <a:cs typeface="Calibri"/>
                <a:sym typeface="Calibri"/>
              </a:rPr>
              <a:t>+ 417 more clean applications</a:t>
            </a:r>
            <a:endParaRPr b="0" i="0" sz="950" u="none" cap="none" strike="noStrike">
              <a:solidFill>
                <a:schemeClr val="dk1"/>
              </a:solidFill>
              <a:latin typeface="Calibri"/>
              <a:ea typeface="Calibri"/>
              <a:cs typeface="Calibri"/>
              <a:sym typeface="Calibri"/>
            </a:endParaRPr>
          </a:p>
        </p:txBody>
      </p:sp>
      <p:sp>
        <p:nvSpPr>
          <p:cNvPr id="417" name="Google Shape;417;p13"/>
          <p:cNvSpPr/>
          <p:nvPr/>
        </p:nvSpPr>
        <p:spPr>
          <a:xfrm>
            <a:off x="7351776" y="2999232"/>
            <a:ext cx="4078224" cy="2743200"/>
          </a:xfrm>
          <a:prstGeom prst="rect">
            <a:avLst/>
          </a:prstGeom>
          <a:solidFill>
            <a:srgbClr val="FFFFFF"/>
          </a:solidFill>
          <a:ln cap="flat" cmpd="sng" w="12700">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3"/>
          <p:cNvSpPr/>
          <p:nvPr/>
        </p:nvSpPr>
        <p:spPr>
          <a:xfrm>
            <a:off x="7516368" y="3108960"/>
            <a:ext cx="38039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200"/>
              <a:buFont typeface="Calibri"/>
              <a:buNone/>
            </a:pPr>
            <a:r>
              <a:rPr b="1" i="0" lang="en-US" sz="1200" u="none" cap="none" strike="noStrike">
                <a:solidFill>
                  <a:srgbClr val="0F172A"/>
                </a:solidFill>
                <a:latin typeface="Calibri"/>
                <a:ea typeface="Calibri"/>
                <a:cs typeface="Calibri"/>
                <a:sym typeface="Calibri"/>
              </a:rPr>
              <a:t>Review distribution</a:t>
            </a:r>
            <a:endParaRPr b="0" i="0" sz="1200" u="none" cap="none" strike="noStrike">
              <a:solidFill>
                <a:schemeClr val="dk1"/>
              </a:solidFill>
              <a:latin typeface="Calibri"/>
              <a:ea typeface="Calibri"/>
              <a:cs typeface="Calibri"/>
              <a:sym typeface="Calibri"/>
            </a:endParaRPr>
          </a:p>
        </p:txBody>
      </p:sp>
      <p:sp>
        <p:nvSpPr>
          <p:cNvPr id="419" name="Google Shape;419;p13"/>
          <p:cNvSpPr/>
          <p:nvPr/>
        </p:nvSpPr>
        <p:spPr>
          <a:xfrm>
            <a:off x="7516368" y="3108960"/>
            <a:ext cx="3803904"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8A8"/>
              </a:buClr>
              <a:buSzPts val="950"/>
              <a:buFont typeface="Calibri"/>
              <a:buNone/>
            </a:pPr>
            <a:r>
              <a:rPr b="0" i="0" lang="en-US" sz="950" u="none" cap="none" strike="noStrike">
                <a:solidFill>
                  <a:srgbClr val="8A98A8"/>
                </a:solidFill>
                <a:latin typeface="Calibri"/>
                <a:ea typeface="Calibri"/>
                <a:cs typeface="Calibri"/>
                <a:sym typeface="Calibri"/>
              </a:rPr>
              <a:t>180 exceptions across the team</a:t>
            </a:r>
            <a:endParaRPr b="0" i="0" sz="950" u="none" cap="none" strike="noStrike">
              <a:solidFill>
                <a:schemeClr val="dk1"/>
              </a:solidFill>
              <a:latin typeface="Calibri"/>
              <a:ea typeface="Calibri"/>
              <a:cs typeface="Calibri"/>
              <a:sym typeface="Calibri"/>
            </a:endParaRPr>
          </a:p>
        </p:txBody>
      </p:sp>
      <p:sp>
        <p:nvSpPr>
          <p:cNvPr id="420" name="Google Shape;420;p13"/>
          <p:cNvSpPr/>
          <p:nvPr/>
        </p:nvSpPr>
        <p:spPr>
          <a:xfrm>
            <a:off x="7516368" y="3456432"/>
            <a:ext cx="3749040" cy="457200"/>
          </a:xfrm>
          <a:prstGeom prst="rect">
            <a:avLst/>
          </a:prstGeom>
          <a:solidFill>
            <a:srgbClr val="FFF7ED"/>
          </a:solidFill>
          <a:ln cap="flat" cmpd="sng" w="12700">
            <a:solidFill>
              <a:srgbClr val="B4530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3"/>
          <p:cNvSpPr/>
          <p:nvPr/>
        </p:nvSpPr>
        <p:spPr>
          <a:xfrm>
            <a:off x="7662672" y="3456432"/>
            <a:ext cx="362102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050"/>
              <a:buFont typeface="Calibri"/>
              <a:buNone/>
            </a:pPr>
            <a:r>
              <a:rPr b="1" i="0" lang="en-US" sz="1050" u="none" cap="none" strike="noStrike">
                <a:solidFill>
                  <a:srgbClr val="B45309"/>
                </a:solidFill>
                <a:latin typeface="Calibri"/>
                <a:ea typeface="Calibri"/>
                <a:cs typeface="Calibri"/>
                <a:sym typeface="Calibri"/>
              </a:rPr>
              <a:t>? Pool · 24 waiting to be pulled</a:t>
            </a:r>
            <a:endParaRPr b="0" i="0" sz="1050" u="none" cap="none" strike="noStrike">
              <a:solidFill>
                <a:schemeClr val="dk1"/>
              </a:solidFill>
              <a:latin typeface="Calibri"/>
              <a:ea typeface="Calibri"/>
              <a:cs typeface="Calibri"/>
              <a:sym typeface="Calibri"/>
            </a:endParaRPr>
          </a:p>
        </p:txBody>
      </p:sp>
      <p:sp>
        <p:nvSpPr>
          <p:cNvPr id="422" name="Google Shape;422;p13"/>
          <p:cNvSpPr/>
          <p:nvPr/>
        </p:nvSpPr>
        <p:spPr>
          <a:xfrm>
            <a:off x="7626096" y="4096512"/>
            <a:ext cx="162763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050"/>
              <a:buFont typeface="Calibri"/>
              <a:buNone/>
            </a:pPr>
            <a:r>
              <a:rPr b="0" i="0" lang="en-US" sz="1050" u="none" cap="none" strike="noStrike">
                <a:solidFill>
                  <a:srgbClr val="0F172A"/>
                </a:solidFill>
                <a:latin typeface="Calibri"/>
                <a:ea typeface="Calibri"/>
                <a:cs typeface="Calibri"/>
                <a:sym typeface="Calibri"/>
              </a:rPr>
              <a:t>Jenny Park  </a:t>
            </a:r>
            <a:r>
              <a:rPr b="0" i="0" lang="en-US" sz="850" u="none" cap="none" strike="noStrike">
                <a:solidFill>
                  <a:srgbClr val="8A98A8"/>
                </a:solidFill>
                <a:latin typeface="Calibri"/>
                <a:ea typeface="Calibri"/>
                <a:cs typeface="Calibri"/>
                <a:sym typeface="Calibri"/>
              </a:rPr>
              <a:t>Spirits</a:t>
            </a:r>
            <a:endParaRPr b="0" i="0" sz="1050" u="none" cap="none" strike="noStrike">
              <a:solidFill>
                <a:schemeClr val="dk1"/>
              </a:solidFill>
              <a:latin typeface="Calibri"/>
              <a:ea typeface="Calibri"/>
              <a:cs typeface="Calibri"/>
              <a:sym typeface="Calibri"/>
            </a:endParaRPr>
          </a:p>
        </p:txBody>
      </p:sp>
      <p:sp>
        <p:nvSpPr>
          <p:cNvPr id="423" name="Google Shape;423;p13"/>
          <p:cNvSpPr/>
          <p:nvPr/>
        </p:nvSpPr>
        <p:spPr>
          <a:xfrm>
            <a:off x="9272016" y="4169664"/>
            <a:ext cx="1472184" cy="146304"/>
          </a:xfrm>
          <a:prstGeom prst="rect">
            <a:avLst/>
          </a:prstGeom>
          <a:solidFill>
            <a:srgbClr val="EEF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3"/>
          <p:cNvSpPr/>
          <p:nvPr/>
        </p:nvSpPr>
        <p:spPr>
          <a:xfrm>
            <a:off x="9272016" y="4169664"/>
            <a:ext cx="1329715" cy="146304"/>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3"/>
          <p:cNvSpPr/>
          <p:nvPr/>
        </p:nvSpPr>
        <p:spPr>
          <a:xfrm>
            <a:off x="10881360" y="4096512"/>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B7F"/>
              </a:buClr>
              <a:buSzPts val="1050"/>
              <a:buFont typeface="Calibri"/>
              <a:buNone/>
            </a:pPr>
            <a:r>
              <a:rPr b="1" i="0" lang="en-US" sz="1050" u="none" cap="none" strike="noStrike">
                <a:solidFill>
                  <a:srgbClr val="5B6B7F"/>
                </a:solidFill>
                <a:latin typeface="Calibri"/>
                <a:ea typeface="Calibri"/>
                <a:cs typeface="Calibri"/>
                <a:sym typeface="Calibri"/>
              </a:rPr>
              <a:t>28</a:t>
            </a:r>
            <a:endParaRPr b="0" i="0" sz="1050" u="none" cap="none" strike="noStrike">
              <a:solidFill>
                <a:schemeClr val="dk1"/>
              </a:solidFill>
              <a:latin typeface="Calibri"/>
              <a:ea typeface="Calibri"/>
              <a:cs typeface="Calibri"/>
              <a:sym typeface="Calibri"/>
            </a:endParaRPr>
          </a:p>
        </p:txBody>
      </p:sp>
      <p:sp>
        <p:nvSpPr>
          <p:cNvPr id="426" name="Google Shape;426;p13"/>
          <p:cNvSpPr/>
          <p:nvPr/>
        </p:nvSpPr>
        <p:spPr>
          <a:xfrm>
            <a:off x="7626096" y="4480560"/>
            <a:ext cx="162763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050"/>
              <a:buFont typeface="Calibri"/>
              <a:buNone/>
            </a:pPr>
            <a:r>
              <a:rPr b="0" i="0" lang="en-US" sz="1050" u="none" cap="none" strike="noStrike">
                <a:solidFill>
                  <a:srgbClr val="0F172A"/>
                </a:solidFill>
                <a:latin typeface="Calibri"/>
                <a:ea typeface="Calibri"/>
                <a:cs typeface="Calibri"/>
                <a:sym typeface="Calibri"/>
              </a:rPr>
              <a:t>Dave Morrison  </a:t>
            </a:r>
            <a:r>
              <a:rPr b="0" i="0" lang="en-US" sz="850" u="none" cap="none" strike="noStrike">
                <a:solidFill>
                  <a:srgbClr val="8A98A8"/>
                </a:solidFill>
                <a:latin typeface="Calibri"/>
                <a:ea typeface="Calibri"/>
                <a:cs typeface="Calibri"/>
                <a:sym typeface="Calibri"/>
              </a:rPr>
              <a:t>Wine</a:t>
            </a:r>
            <a:endParaRPr b="0" i="0" sz="1050" u="none" cap="none" strike="noStrike">
              <a:solidFill>
                <a:schemeClr val="dk1"/>
              </a:solidFill>
              <a:latin typeface="Calibri"/>
              <a:ea typeface="Calibri"/>
              <a:cs typeface="Calibri"/>
              <a:sym typeface="Calibri"/>
            </a:endParaRPr>
          </a:p>
        </p:txBody>
      </p:sp>
      <p:sp>
        <p:nvSpPr>
          <p:cNvPr id="427" name="Google Shape;427;p13"/>
          <p:cNvSpPr/>
          <p:nvPr/>
        </p:nvSpPr>
        <p:spPr>
          <a:xfrm>
            <a:off x="9272016" y="4553712"/>
            <a:ext cx="1472184" cy="146304"/>
          </a:xfrm>
          <a:prstGeom prst="rect">
            <a:avLst/>
          </a:prstGeom>
          <a:solidFill>
            <a:srgbClr val="EEF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3"/>
          <p:cNvSpPr/>
          <p:nvPr/>
        </p:nvSpPr>
        <p:spPr>
          <a:xfrm>
            <a:off x="9272016" y="4553712"/>
            <a:ext cx="1472184" cy="146304"/>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3"/>
          <p:cNvSpPr/>
          <p:nvPr/>
        </p:nvSpPr>
        <p:spPr>
          <a:xfrm>
            <a:off x="10881360" y="448056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B7F"/>
              </a:buClr>
              <a:buSzPts val="1050"/>
              <a:buFont typeface="Calibri"/>
              <a:buNone/>
            </a:pPr>
            <a:r>
              <a:rPr b="1" i="0" lang="en-US" sz="1050" u="none" cap="none" strike="noStrike">
                <a:solidFill>
                  <a:srgbClr val="5B6B7F"/>
                </a:solidFill>
                <a:latin typeface="Calibri"/>
                <a:ea typeface="Calibri"/>
                <a:cs typeface="Calibri"/>
                <a:sym typeface="Calibri"/>
              </a:rPr>
              <a:t>31</a:t>
            </a:r>
            <a:endParaRPr b="0" i="0" sz="1050" u="none" cap="none" strike="noStrike">
              <a:solidFill>
                <a:schemeClr val="dk1"/>
              </a:solidFill>
              <a:latin typeface="Calibri"/>
              <a:ea typeface="Calibri"/>
              <a:cs typeface="Calibri"/>
              <a:sym typeface="Calibri"/>
            </a:endParaRPr>
          </a:p>
        </p:txBody>
      </p:sp>
      <p:sp>
        <p:nvSpPr>
          <p:cNvPr id="430" name="Google Shape;430;p13"/>
          <p:cNvSpPr/>
          <p:nvPr/>
        </p:nvSpPr>
        <p:spPr>
          <a:xfrm>
            <a:off x="7626096" y="4864608"/>
            <a:ext cx="162763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050"/>
              <a:buFont typeface="Calibri"/>
              <a:buNone/>
            </a:pPr>
            <a:r>
              <a:rPr b="0" i="0" lang="en-US" sz="1050" u="none" cap="none" strike="noStrike">
                <a:solidFill>
                  <a:srgbClr val="0F172A"/>
                </a:solidFill>
                <a:latin typeface="Calibri"/>
                <a:ea typeface="Calibri"/>
                <a:cs typeface="Calibri"/>
                <a:sym typeface="Calibri"/>
              </a:rPr>
              <a:t>Marcus Lee  </a:t>
            </a:r>
            <a:r>
              <a:rPr b="0" i="0" lang="en-US" sz="850" u="none" cap="none" strike="noStrike">
                <a:solidFill>
                  <a:srgbClr val="8A98A8"/>
                </a:solidFill>
                <a:latin typeface="Calibri"/>
                <a:ea typeface="Calibri"/>
                <a:cs typeface="Calibri"/>
                <a:sym typeface="Calibri"/>
              </a:rPr>
              <a:t>Malt</a:t>
            </a:r>
            <a:endParaRPr b="0" i="0" sz="1050" u="none" cap="none" strike="noStrike">
              <a:solidFill>
                <a:schemeClr val="dk1"/>
              </a:solidFill>
              <a:latin typeface="Calibri"/>
              <a:ea typeface="Calibri"/>
              <a:cs typeface="Calibri"/>
              <a:sym typeface="Calibri"/>
            </a:endParaRPr>
          </a:p>
        </p:txBody>
      </p:sp>
      <p:sp>
        <p:nvSpPr>
          <p:cNvPr id="431" name="Google Shape;431;p13"/>
          <p:cNvSpPr/>
          <p:nvPr/>
        </p:nvSpPr>
        <p:spPr>
          <a:xfrm>
            <a:off x="9272016" y="4937760"/>
            <a:ext cx="1472184" cy="146304"/>
          </a:xfrm>
          <a:prstGeom prst="rect">
            <a:avLst/>
          </a:prstGeom>
          <a:solidFill>
            <a:srgbClr val="EEF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3"/>
          <p:cNvSpPr/>
          <p:nvPr/>
        </p:nvSpPr>
        <p:spPr>
          <a:xfrm>
            <a:off x="9272016" y="4937760"/>
            <a:ext cx="1234735" cy="146304"/>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3"/>
          <p:cNvSpPr/>
          <p:nvPr/>
        </p:nvSpPr>
        <p:spPr>
          <a:xfrm>
            <a:off x="10881360" y="4864608"/>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B7F"/>
              </a:buClr>
              <a:buSzPts val="1050"/>
              <a:buFont typeface="Calibri"/>
              <a:buNone/>
            </a:pPr>
            <a:r>
              <a:rPr b="1" i="0" lang="en-US" sz="1050" u="none" cap="none" strike="noStrike">
                <a:solidFill>
                  <a:srgbClr val="5B6B7F"/>
                </a:solidFill>
                <a:latin typeface="Calibri"/>
                <a:ea typeface="Calibri"/>
                <a:cs typeface="Calibri"/>
                <a:sym typeface="Calibri"/>
              </a:rPr>
              <a:t>26</a:t>
            </a:r>
            <a:endParaRPr b="0" i="0" sz="1050" u="none" cap="none" strike="noStrike">
              <a:solidFill>
                <a:schemeClr val="dk1"/>
              </a:solidFill>
              <a:latin typeface="Calibri"/>
              <a:ea typeface="Calibri"/>
              <a:cs typeface="Calibri"/>
              <a:sym typeface="Calibri"/>
            </a:endParaRPr>
          </a:p>
        </p:txBody>
      </p:sp>
      <p:sp>
        <p:nvSpPr>
          <p:cNvPr id="434" name="Google Shape;434;p13"/>
          <p:cNvSpPr/>
          <p:nvPr/>
        </p:nvSpPr>
        <p:spPr>
          <a:xfrm>
            <a:off x="7626096" y="5248656"/>
            <a:ext cx="162763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050"/>
              <a:buFont typeface="Calibri"/>
              <a:buNone/>
            </a:pPr>
            <a:r>
              <a:rPr b="0" i="0" lang="en-US" sz="1050" u="none" cap="none" strike="noStrike">
                <a:solidFill>
                  <a:srgbClr val="0F172A"/>
                </a:solidFill>
                <a:latin typeface="Calibri"/>
                <a:ea typeface="Calibri"/>
                <a:cs typeface="Calibri"/>
                <a:sym typeface="Calibri"/>
              </a:rPr>
              <a:t>Ana Ruiz  </a:t>
            </a:r>
            <a:r>
              <a:rPr b="0" i="0" lang="en-US" sz="850" u="none" cap="none" strike="noStrike">
                <a:solidFill>
                  <a:srgbClr val="8A98A8"/>
                </a:solidFill>
                <a:latin typeface="Calibri"/>
                <a:ea typeface="Calibri"/>
                <a:cs typeface="Calibri"/>
                <a:sym typeface="Calibri"/>
              </a:rPr>
              <a:t>Wine</a:t>
            </a:r>
            <a:endParaRPr b="0" i="0" sz="1050" u="none" cap="none" strike="noStrike">
              <a:solidFill>
                <a:schemeClr val="dk1"/>
              </a:solidFill>
              <a:latin typeface="Calibri"/>
              <a:ea typeface="Calibri"/>
              <a:cs typeface="Calibri"/>
              <a:sym typeface="Calibri"/>
            </a:endParaRPr>
          </a:p>
        </p:txBody>
      </p:sp>
      <p:sp>
        <p:nvSpPr>
          <p:cNvPr id="435" name="Google Shape;435;p13"/>
          <p:cNvSpPr/>
          <p:nvPr/>
        </p:nvSpPr>
        <p:spPr>
          <a:xfrm>
            <a:off x="9272016" y="5321808"/>
            <a:ext cx="1472184" cy="146304"/>
          </a:xfrm>
          <a:prstGeom prst="rect">
            <a:avLst/>
          </a:prstGeom>
          <a:solidFill>
            <a:srgbClr val="EEF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3"/>
          <p:cNvSpPr/>
          <p:nvPr/>
        </p:nvSpPr>
        <p:spPr>
          <a:xfrm>
            <a:off x="9272016" y="5321808"/>
            <a:ext cx="1424694" cy="146304"/>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3"/>
          <p:cNvSpPr/>
          <p:nvPr/>
        </p:nvSpPr>
        <p:spPr>
          <a:xfrm>
            <a:off x="10881360" y="5248656"/>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B7F"/>
              </a:buClr>
              <a:buSzPts val="1050"/>
              <a:buFont typeface="Calibri"/>
              <a:buNone/>
            </a:pPr>
            <a:r>
              <a:rPr b="1" i="0" lang="en-US" sz="1050" u="none" cap="none" strike="noStrike">
                <a:solidFill>
                  <a:srgbClr val="5B6B7F"/>
                </a:solidFill>
                <a:latin typeface="Calibri"/>
                <a:ea typeface="Calibri"/>
                <a:cs typeface="Calibri"/>
                <a:sym typeface="Calibri"/>
              </a:rPr>
              <a:t>30</a:t>
            </a:r>
            <a:endParaRPr b="0" i="0" sz="1050" u="none" cap="none" strike="noStrike">
              <a:solidFill>
                <a:schemeClr val="dk1"/>
              </a:solidFill>
              <a:latin typeface="Calibri"/>
              <a:ea typeface="Calibri"/>
              <a:cs typeface="Calibri"/>
              <a:sym typeface="Calibri"/>
            </a:endParaRPr>
          </a:p>
        </p:txBody>
      </p:sp>
      <p:sp>
        <p:nvSpPr>
          <p:cNvPr id="438" name="Google Shape;438;p13"/>
          <p:cNvSpPr/>
          <p:nvPr/>
        </p:nvSpPr>
        <p:spPr>
          <a:xfrm>
            <a:off x="685800" y="6446520"/>
            <a:ext cx="6400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AI Label Verification · Approach &amp; Design</a:t>
            </a:r>
            <a:endParaRPr b="0" i="0" sz="900" u="none" cap="none" strike="noStrike">
              <a:solidFill>
                <a:schemeClr val="dk1"/>
              </a:solidFill>
              <a:latin typeface="Calibri"/>
              <a:ea typeface="Calibri"/>
              <a:cs typeface="Calibri"/>
              <a:sym typeface="Calibri"/>
            </a:endParaRPr>
          </a:p>
        </p:txBody>
      </p:sp>
      <p:sp>
        <p:nvSpPr>
          <p:cNvPr id="439" name="Google Shape;439;p13"/>
          <p:cNvSpPr/>
          <p:nvPr/>
        </p:nvSpPr>
        <p:spPr>
          <a:xfrm>
            <a:off x="11185855" y="6446520"/>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11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444" name="Shape 444"/>
        <p:cNvGrpSpPr/>
        <p:nvPr/>
      </p:nvGrpSpPr>
      <p:grpSpPr>
        <a:xfrm>
          <a:off x="0" y="0"/>
          <a:ext cx="0" cy="0"/>
          <a:chOff x="0" y="0"/>
          <a:chExt cx="0" cy="0"/>
        </a:xfrm>
      </p:grpSpPr>
      <p:sp>
        <p:nvSpPr>
          <p:cNvPr id="445" name="Google Shape;445;p14"/>
          <p:cNvSpPr/>
          <p:nvPr/>
        </p:nvSpPr>
        <p:spPr>
          <a:xfrm>
            <a:off x="685800" y="457200"/>
            <a:ext cx="107899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63EB"/>
              </a:buClr>
              <a:buSzPts val="1200"/>
              <a:buFont typeface="Calibri"/>
              <a:buNone/>
            </a:pPr>
            <a:r>
              <a:rPr b="1" i="0" lang="en-US" sz="1200" u="none" cap="none" strike="noStrike">
                <a:solidFill>
                  <a:srgbClr val="2563EB"/>
                </a:solidFill>
                <a:latin typeface="Calibri"/>
                <a:ea typeface="Calibri"/>
                <a:cs typeface="Calibri"/>
                <a:sym typeface="Calibri"/>
              </a:rPr>
              <a:t>PRODUCT · AGENT VIEW</a:t>
            </a:r>
            <a:endParaRPr b="0" i="0" sz="1200" u="none" cap="none" strike="noStrike">
              <a:solidFill>
                <a:schemeClr val="dk1"/>
              </a:solidFill>
              <a:latin typeface="Calibri"/>
              <a:ea typeface="Calibri"/>
              <a:cs typeface="Calibri"/>
              <a:sym typeface="Calibri"/>
            </a:endParaRPr>
          </a:p>
        </p:txBody>
      </p:sp>
      <p:sp>
        <p:nvSpPr>
          <p:cNvPr id="446" name="Google Shape;446;p14"/>
          <p:cNvSpPr/>
          <p:nvPr/>
        </p:nvSpPr>
        <p:spPr>
          <a:xfrm>
            <a:off x="685800" y="749808"/>
            <a:ext cx="107899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Georgia"/>
              <a:buNone/>
            </a:pPr>
            <a:r>
              <a:rPr b="1" i="0" lang="en-US" sz="3200" u="none" cap="none" strike="noStrike">
                <a:solidFill>
                  <a:srgbClr val="0F172A"/>
                </a:solidFill>
                <a:latin typeface="Georgia"/>
                <a:ea typeface="Georgia"/>
                <a:cs typeface="Georgia"/>
                <a:sym typeface="Georgia"/>
              </a:rPr>
              <a:t>An agent's queue — pulled from the pool</a:t>
            </a:r>
            <a:endParaRPr b="0" i="0" sz="3200" u="none" cap="none" strike="noStrike">
              <a:solidFill>
                <a:schemeClr val="dk1"/>
              </a:solidFill>
              <a:latin typeface="Calibri"/>
              <a:ea typeface="Calibri"/>
              <a:cs typeface="Calibri"/>
              <a:sym typeface="Calibri"/>
            </a:endParaRPr>
          </a:p>
        </p:txBody>
      </p:sp>
      <p:sp>
        <p:nvSpPr>
          <p:cNvPr id="447" name="Google Shape;447;p14"/>
          <p:cNvSpPr/>
          <p:nvPr/>
        </p:nvSpPr>
        <p:spPr>
          <a:xfrm>
            <a:off x="502920" y="1417320"/>
            <a:ext cx="11183112" cy="507492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4"/>
          <p:cNvSpPr/>
          <p:nvPr/>
        </p:nvSpPr>
        <p:spPr>
          <a:xfrm>
            <a:off x="502920" y="1417320"/>
            <a:ext cx="11183112" cy="365760"/>
          </a:xfrm>
          <a:prstGeom prst="rect">
            <a:avLst/>
          </a:prstGeom>
          <a:solidFill>
            <a:srgbClr val="EEF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4"/>
          <p:cNvSpPr/>
          <p:nvPr/>
        </p:nvSpPr>
        <p:spPr>
          <a:xfrm>
            <a:off x="704088" y="1536192"/>
            <a:ext cx="118872" cy="118872"/>
          </a:xfrm>
          <a:prstGeom prst="ellipse">
            <a:avLst/>
          </a:prstGeom>
          <a:solidFill>
            <a:srgbClr val="E262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4"/>
          <p:cNvSpPr/>
          <p:nvPr/>
        </p:nvSpPr>
        <p:spPr>
          <a:xfrm>
            <a:off x="886968" y="1536192"/>
            <a:ext cx="118872" cy="118872"/>
          </a:xfrm>
          <a:prstGeom prst="ellipse">
            <a:avLst/>
          </a:prstGeom>
          <a:solidFill>
            <a:srgbClr val="E2B0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4"/>
          <p:cNvSpPr/>
          <p:nvPr/>
        </p:nvSpPr>
        <p:spPr>
          <a:xfrm>
            <a:off x="1069848" y="1536192"/>
            <a:ext cx="118872" cy="118872"/>
          </a:xfrm>
          <a:prstGeom prst="ellipse">
            <a:avLst/>
          </a:prstGeom>
          <a:solidFill>
            <a:srgbClr val="5CB8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4"/>
          <p:cNvSpPr/>
          <p:nvPr/>
        </p:nvSpPr>
        <p:spPr>
          <a:xfrm>
            <a:off x="502920" y="1453896"/>
            <a:ext cx="1118311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8A8"/>
              </a:buClr>
              <a:buSzPts val="1000"/>
              <a:buFont typeface="Calibri"/>
              <a:buNone/>
            </a:pPr>
            <a:r>
              <a:rPr b="0" i="0" lang="en-US" sz="1000" u="none" cap="none" strike="noStrike">
                <a:solidFill>
                  <a:srgbClr val="8A98A8"/>
                </a:solidFill>
                <a:latin typeface="Calibri"/>
                <a:ea typeface="Calibri"/>
                <a:cs typeface="Calibri"/>
                <a:sym typeface="Calibri"/>
              </a:rPr>
              <a:t>labelcheck.ttb.gov</a:t>
            </a:r>
            <a:endParaRPr b="0" i="0" sz="1000" u="none" cap="none" strike="noStrike">
              <a:solidFill>
                <a:schemeClr val="dk1"/>
              </a:solidFill>
              <a:latin typeface="Calibri"/>
              <a:ea typeface="Calibri"/>
              <a:cs typeface="Calibri"/>
              <a:sym typeface="Calibri"/>
            </a:endParaRPr>
          </a:p>
        </p:txBody>
      </p:sp>
      <p:sp>
        <p:nvSpPr>
          <p:cNvPr id="453" name="Google Shape;453;p14"/>
          <p:cNvSpPr/>
          <p:nvPr/>
        </p:nvSpPr>
        <p:spPr>
          <a:xfrm>
            <a:off x="502920" y="1783080"/>
            <a:ext cx="2240280" cy="4709160"/>
          </a:xfrm>
          <a:prstGeom prst="rect">
            <a:avLst/>
          </a:prstGeom>
          <a:solidFill>
            <a:srgbClr val="FBFCFE"/>
          </a:solidFill>
          <a:ln cap="flat" cmpd="sng" w="12700">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4"/>
          <p:cNvSpPr/>
          <p:nvPr/>
        </p:nvSpPr>
        <p:spPr>
          <a:xfrm>
            <a:off x="685800" y="1947672"/>
            <a:ext cx="365760" cy="365760"/>
          </a:xfrm>
          <a:prstGeom prst="roundRect">
            <a:avLst>
              <a:gd fmla="val 17500" name="adj"/>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4"/>
          <p:cNvSpPr/>
          <p:nvPr/>
        </p:nvSpPr>
        <p:spPr>
          <a:xfrm>
            <a:off x="685800" y="1947672"/>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Georgia"/>
              <a:buNone/>
            </a:pPr>
            <a:r>
              <a:rPr b="1" i="0" lang="en-US" sz="1500" u="none" cap="none" strike="noStrike">
                <a:solidFill>
                  <a:srgbClr val="FFFFFF"/>
                </a:solidFill>
                <a:latin typeface="Georgia"/>
                <a:ea typeface="Georgia"/>
                <a:cs typeface="Georgia"/>
                <a:sym typeface="Georgia"/>
              </a:rPr>
              <a:t>L</a:t>
            </a:r>
            <a:endParaRPr b="0" i="0" sz="1500" u="none" cap="none" strike="noStrike">
              <a:solidFill>
                <a:schemeClr val="dk1"/>
              </a:solidFill>
              <a:latin typeface="Calibri"/>
              <a:ea typeface="Calibri"/>
              <a:cs typeface="Calibri"/>
              <a:sym typeface="Calibri"/>
            </a:endParaRPr>
          </a:p>
        </p:txBody>
      </p:sp>
      <p:sp>
        <p:nvSpPr>
          <p:cNvPr id="456" name="Google Shape;456;p14"/>
          <p:cNvSpPr/>
          <p:nvPr/>
        </p:nvSpPr>
        <p:spPr>
          <a:xfrm>
            <a:off x="1143000" y="1965960"/>
            <a:ext cx="14630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300"/>
              <a:buFont typeface="Calibri"/>
              <a:buNone/>
            </a:pPr>
            <a:r>
              <a:rPr b="1" i="0" lang="en-US" sz="1300" u="none" cap="none" strike="noStrike">
                <a:solidFill>
                  <a:srgbClr val="0F172A"/>
                </a:solidFill>
                <a:latin typeface="Calibri"/>
                <a:ea typeface="Calibri"/>
                <a:cs typeface="Calibri"/>
                <a:sym typeface="Calibri"/>
              </a:rPr>
              <a:t>LabelCheck</a:t>
            </a:r>
            <a:endParaRPr b="0" i="0" sz="1300" u="none" cap="none" strike="noStrike">
              <a:solidFill>
                <a:schemeClr val="dk1"/>
              </a:solidFill>
              <a:latin typeface="Calibri"/>
              <a:ea typeface="Calibri"/>
              <a:cs typeface="Calibri"/>
              <a:sym typeface="Calibri"/>
            </a:endParaRPr>
          </a:p>
        </p:txBody>
      </p:sp>
      <p:sp>
        <p:nvSpPr>
          <p:cNvPr id="457" name="Google Shape;457;p14"/>
          <p:cNvSpPr/>
          <p:nvPr/>
        </p:nvSpPr>
        <p:spPr>
          <a:xfrm>
            <a:off x="685800" y="2496312"/>
            <a:ext cx="1874520" cy="310896"/>
          </a:xfrm>
          <a:prstGeom prst="roundRect">
            <a:avLst>
              <a:gd fmla="val 17647" name="adj"/>
            </a:avLst>
          </a:prstGeom>
          <a:solidFill>
            <a:srgbClr val="FFFFFF"/>
          </a:solidFill>
          <a:ln cap="flat" cmpd="sng" w="12700">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4"/>
          <p:cNvSpPr/>
          <p:nvPr/>
        </p:nvSpPr>
        <p:spPr>
          <a:xfrm>
            <a:off x="1618488" y="2496312"/>
            <a:ext cx="941832" cy="310896"/>
          </a:xfrm>
          <a:prstGeom prst="roundRect">
            <a:avLst>
              <a:gd fmla="val 17647" name="adj"/>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4"/>
          <p:cNvSpPr/>
          <p:nvPr/>
        </p:nvSpPr>
        <p:spPr>
          <a:xfrm>
            <a:off x="685800" y="2496312"/>
            <a:ext cx="941832"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7F"/>
              </a:buClr>
              <a:buSzPts val="1050"/>
              <a:buFont typeface="Calibri"/>
              <a:buNone/>
            </a:pPr>
            <a:r>
              <a:rPr b="1" i="0" lang="en-US" sz="1050" u="none" cap="none" strike="noStrike">
                <a:solidFill>
                  <a:srgbClr val="5B6B7F"/>
                </a:solidFill>
                <a:latin typeface="Calibri"/>
                <a:ea typeface="Calibri"/>
                <a:cs typeface="Calibri"/>
                <a:sym typeface="Calibri"/>
              </a:rPr>
              <a:t>Admin</a:t>
            </a:r>
            <a:endParaRPr b="0" i="0" sz="1050" u="none" cap="none" strike="noStrike">
              <a:solidFill>
                <a:schemeClr val="dk1"/>
              </a:solidFill>
              <a:latin typeface="Calibri"/>
              <a:ea typeface="Calibri"/>
              <a:cs typeface="Calibri"/>
              <a:sym typeface="Calibri"/>
            </a:endParaRPr>
          </a:p>
        </p:txBody>
      </p:sp>
      <p:sp>
        <p:nvSpPr>
          <p:cNvPr id="460" name="Google Shape;460;p14"/>
          <p:cNvSpPr/>
          <p:nvPr/>
        </p:nvSpPr>
        <p:spPr>
          <a:xfrm>
            <a:off x="1618488" y="2496312"/>
            <a:ext cx="941832"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Agent</a:t>
            </a:r>
            <a:endParaRPr b="0" i="0" sz="1050" u="none" cap="none" strike="noStrike">
              <a:solidFill>
                <a:schemeClr val="dk1"/>
              </a:solidFill>
              <a:latin typeface="Calibri"/>
              <a:ea typeface="Calibri"/>
              <a:cs typeface="Calibri"/>
              <a:sym typeface="Calibri"/>
            </a:endParaRPr>
          </a:p>
        </p:txBody>
      </p:sp>
      <p:sp>
        <p:nvSpPr>
          <p:cNvPr id="461" name="Google Shape;461;p14"/>
          <p:cNvSpPr/>
          <p:nvPr/>
        </p:nvSpPr>
        <p:spPr>
          <a:xfrm>
            <a:off x="630936" y="2980944"/>
            <a:ext cx="1984248" cy="402336"/>
          </a:xfrm>
          <a:prstGeom prst="rect">
            <a:avLst/>
          </a:prstGeom>
          <a:solidFill>
            <a:srgbClr val="EAF0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4"/>
          <p:cNvSpPr/>
          <p:nvPr/>
        </p:nvSpPr>
        <p:spPr>
          <a:xfrm>
            <a:off x="777240" y="3017520"/>
            <a:ext cx="17830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250"/>
              <a:buFont typeface="Calibri"/>
              <a:buNone/>
            </a:pPr>
            <a:r>
              <a:rPr b="1" i="0" lang="en-US" sz="1250" u="none" cap="none" strike="noStrike">
                <a:solidFill>
                  <a:srgbClr val="2563EB"/>
                </a:solidFill>
                <a:latin typeface="Calibri"/>
                <a:ea typeface="Calibri"/>
                <a:cs typeface="Calibri"/>
                <a:sym typeface="Calibri"/>
              </a:rPr>
              <a:t>My Queue</a:t>
            </a:r>
            <a:endParaRPr b="0" i="0" sz="1250" u="none" cap="none" strike="noStrike">
              <a:solidFill>
                <a:schemeClr val="dk1"/>
              </a:solidFill>
              <a:latin typeface="Calibri"/>
              <a:ea typeface="Calibri"/>
              <a:cs typeface="Calibri"/>
              <a:sym typeface="Calibri"/>
            </a:endParaRPr>
          </a:p>
        </p:txBody>
      </p:sp>
      <p:sp>
        <p:nvSpPr>
          <p:cNvPr id="463" name="Google Shape;463;p14"/>
          <p:cNvSpPr/>
          <p:nvPr/>
        </p:nvSpPr>
        <p:spPr>
          <a:xfrm>
            <a:off x="777240" y="3474720"/>
            <a:ext cx="17830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250"/>
              <a:buFont typeface="Calibri"/>
              <a:buNone/>
            </a:pPr>
            <a:r>
              <a:rPr b="0" i="0" lang="en-US" sz="1250" u="none" cap="none" strike="noStrike">
                <a:solidFill>
                  <a:srgbClr val="475569"/>
                </a:solidFill>
                <a:latin typeface="Calibri"/>
                <a:ea typeface="Calibri"/>
                <a:cs typeface="Calibri"/>
                <a:sym typeface="Calibri"/>
              </a:rPr>
              <a:t>My Stats</a:t>
            </a:r>
            <a:endParaRPr b="0" i="0" sz="1250" u="none" cap="none" strike="noStrike">
              <a:solidFill>
                <a:schemeClr val="dk1"/>
              </a:solidFill>
              <a:latin typeface="Calibri"/>
              <a:ea typeface="Calibri"/>
              <a:cs typeface="Calibri"/>
              <a:sym typeface="Calibri"/>
            </a:endParaRPr>
          </a:p>
        </p:txBody>
      </p:sp>
      <p:sp>
        <p:nvSpPr>
          <p:cNvPr id="464" name="Google Shape;464;p14"/>
          <p:cNvSpPr/>
          <p:nvPr/>
        </p:nvSpPr>
        <p:spPr>
          <a:xfrm>
            <a:off x="777240" y="3931920"/>
            <a:ext cx="17830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250"/>
              <a:buFont typeface="Calibri"/>
              <a:buNone/>
            </a:pPr>
            <a:r>
              <a:rPr b="0" i="0" lang="en-US" sz="1250" u="none" cap="none" strike="noStrike">
                <a:solidFill>
                  <a:srgbClr val="475569"/>
                </a:solidFill>
                <a:latin typeface="Calibri"/>
                <a:ea typeface="Calibri"/>
                <a:cs typeface="Calibri"/>
                <a:sym typeface="Calibri"/>
              </a:rPr>
              <a:t>Profile</a:t>
            </a:r>
            <a:endParaRPr b="0" i="0" sz="1250" u="none" cap="none" strike="noStrike">
              <a:solidFill>
                <a:schemeClr val="dk1"/>
              </a:solidFill>
              <a:latin typeface="Calibri"/>
              <a:ea typeface="Calibri"/>
              <a:cs typeface="Calibri"/>
              <a:sym typeface="Calibri"/>
            </a:endParaRPr>
          </a:p>
        </p:txBody>
      </p:sp>
      <p:sp>
        <p:nvSpPr>
          <p:cNvPr id="465" name="Google Shape;465;p14"/>
          <p:cNvSpPr/>
          <p:nvPr/>
        </p:nvSpPr>
        <p:spPr>
          <a:xfrm>
            <a:off x="685800" y="5925312"/>
            <a:ext cx="365760" cy="365760"/>
          </a:xfrm>
          <a:prstGeom prst="ellipse">
            <a:avLst/>
          </a:prstGeom>
          <a:solidFill>
            <a:srgbClr val="DBEA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4"/>
          <p:cNvSpPr/>
          <p:nvPr/>
        </p:nvSpPr>
        <p:spPr>
          <a:xfrm>
            <a:off x="685800" y="5925312"/>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3A5E"/>
              </a:buClr>
              <a:buSzPts val="1100"/>
              <a:buFont typeface="Calibri"/>
              <a:buNone/>
            </a:pPr>
            <a:r>
              <a:rPr b="1" i="0" lang="en-US" sz="1100" u="none" cap="none" strike="noStrike">
                <a:solidFill>
                  <a:srgbClr val="1C3A5E"/>
                </a:solidFill>
                <a:latin typeface="Calibri"/>
                <a:ea typeface="Calibri"/>
                <a:cs typeface="Calibri"/>
                <a:sym typeface="Calibri"/>
              </a:rPr>
              <a:t>JP</a:t>
            </a:r>
            <a:endParaRPr b="0" i="0" sz="1100" u="none" cap="none" strike="noStrike">
              <a:solidFill>
                <a:schemeClr val="dk1"/>
              </a:solidFill>
              <a:latin typeface="Calibri"/>
              <a:ea typeface="Calibri"/>
              <a:cs typeface="Calibri"/>
              <a:sym typeface="Calibri"/>
            </a:endParaRPr>
          </a:p>
        </p:txBody>
      </p:sp>
      <p:sp>
        <p:nvSpPr>
          <p:cNvPr id="467" name="Google Shape;467;p14"/>
          <p:cNvSpPr/>
          <p:nvPr/>
        </p:nvSpPr>
        <p:spPr>
          <a:xfrm>
            <a:off x="1143000" y="5907024"/>
            <a:ext cx="1463040" cy="402336"/>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0F172A"/>
              </a:buClr>
              <a:buSzPts val="1200"/>
              <a:buFont typeface="Calibri"/>
              <a:buNone/>
            </a:pPr>
            <a:r>
              <a:rPr b="1" i="0" lang="en-US" sz="1200" u="none" cap="none" strike="noStrike">
                <a:solidFill>
                  <a:srgbClr val="0F172A"/>
                </a:solidFill>
                <a:latin typeface="Calibri"/>
                <a:ea typeface="Calibri"/>
                <a:cs typeface="Calibri"/>
                <a:sym typeface="Calibri"/>
              </a:rPr>
              <a:t>Jenny Park</a:t>
            </a:r>
            <a:endParaRPr b="0" i="0" sz="1200" u="none" cap="none" strike="noStrike">
              <a:solidFill>
                <a:schemeClr val="dk1"/>
              </a:solidFill>
              <a:latin typeface="Calibri"/>
              <a:ea typeface="Calibri"/>
              <a:cs typeface="Calibri"/>
              <a:sym typeface="Calibri"/>
            </a:endParaRPr>
          </a:p>
          <a:p>
            <a:pPr indent="0" lvl="0" marL="0" marR="0" rtl="0" algn="l">
              <a:lnSpc>
                <a:spcPct val="95000"/>
              </a:lnSpc>
              <a:spcBef>
                <a:spcPts val="0"/>
              </a:spcBef>
              <a:spcAft>
                <a:spcPts val="0"/>
              </a:spcAft>
              <a:buClr>
                <a:srgbClr val="8A98A8"/>
              </a:buClr>
              <a:buSzPts val="1000"/>
              <a:buFont typeface="Calibri"/>
              <a:buNone/>
            </a:pPr>
            <a:r>
              <a:rPr b="0" i="0" lang="en-US" sz="1000" u="none" cap="none" strike="noStrike">
                <a:solidFill>
                  <a:srgbClr val="8A98A8"/>
                </a:solidFill>
                <a:latin typeface="Calibri"/>
                <a:ea typeface="Calibri"/>
                <a:cs typeface="Calibri"/>
                <a:sym typeface="Calibri"/>
              </a:rPr>
              <a:t>Agent</a:t>
            </a:r>
            <a:endParaRPr b="0" i="0" sz="1200" u="none" cap="none" strike="noStrike">
              <a:solidFill>
                <a:schemeClr val="dk1"/>
              </a:solidFill>
              <a:latin typeface="Calibri"/>
              <a:ea typeface="Calibri"/>
              <a:cs typeface="Calibri"/>
              <a:sym typeface="Calibri"/>
            </a:endParaRPr>
          </a:p>
        </p:txBody>
      </p:sp>
      <p:sp>
        <p:nvSpPr>
          <p:cNvPr id="468" name="Google Shape;468;p14"/>
          <p:cNvSpPr/>
          <p:nvPr/>
        </p:nvSpPr>
        <p:spPr>
          <a:xfrm>
            <a:off x="2999232" y="1947672"/>
            <a:ext cx="8430768" cy="777240"/>
          </a:xfrm>
          <a:prstGeom prst="rect">
            <a:avLst/>
          </a:prstGeom>
          <a:solidFill>
            <a:srgbClr val="FFFFFF"/>
          </a:solidFill>
          <a:ln cap="flat" cmpd="sng" w="12700">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4"/>
          <p:cNvSpPr/>
          <p:nvPr/>
        </p:nvSpPr>
        <p:spPr>
          <a:xfrm>
            <a:off x="3227832" y="2075688"/>
            <a:ext cx="6236208"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1250"/>
              <a:buFont typeface="Calibri"/>
              <a:buNone/>
            </a:pPr>
            <a:r>
              <a:rPr b="1" i="0" lang="en-US" sz="1250" u="none" cap="none" strike="noStrike">
                <a:solidFill>
                  <a:srgbClr val="0F172A"/>
                </a:solidFill>
                <a:latin typeface="Calibri"/>
                <a:ea typeface="Calibri"/>
                <a:cs typeface="Calibri"/>
                <a:sym typeface="Calibri"/>
              </a:rPr>
              <a:t>5 applications you pulled from the shared review pool</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A98A8"/>
              </a:buClr>
              <a:buSzPts val="1000"/>
              <a:buFont typeface="Calibri"/>
              <a:buNone/>
            </a:pPr>
            <a:r>
              <a:rPr b="0" i="0" lang="en-US" sz="1000" u="none" cap="none" strike="noStrike">
                <a:solidFill>
                  <a:srgbClr val="8A98A8"/>
                </a:solidFill>
                <a:latin typeface="Calibri"/>
                <a:ea typeface="Calibri"/>
                <a:cs typeface="Calibri"/>
                <a:sym typeface="Calibri"/>
              </a:rPr>
              <a:t>24 still waiting in the pool. Pull the next when you finish.</a:t>
            </a:r>
            <a:endParaRPr b="0" i="0" sz="1250" u="none" cap="none" strike="noStrike">
              <a:solidFill>
                <a:schemeClr val="dk1"/>
              </a:solidFill>
              <a:latin typeface="Calibri"/>
              <a:ea typeface="Calibri"/>
              <a:cs typeface="Calibri"/>
              <a:sym typeface="Calibri"/>
            </a:endParaRPr>
          </a:p>
        </p:txBody>
      </p:sp>
      <p:sp>
        <p:nvSpPr>
          <p:cNvPr id="470" name="Google Shape;470;p14"/>
          <p:cNvSpPr/>
          <p:nvPr/>
        </p:nvSpPr>
        <p:spPr>
          <a:xfrm>
            <a:off x="9646920" y="2148840"/>
            <a:ext cx="1554480" cy="384048"/>
          </a:xfrm>
          <a:prstGeom prst="roundRect">
            <a:avLst>
              <a:gd fmla="val 50000" name="adj"/>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4"/>
          <p:cNvSpPr/>
          <p:nvPr/>
        </p:nvSpPr>
        <p:spPr>
          <a:xfrm>
            <a:off x="9646920" y="2148840"/>
            <a:ext cx="15544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Get next from pool</a:t>
            </a:r>
            <a:endParaRPr b="0" i="0" sz="1100" u="none" cap="none" strike="noStrike">
              <a:solidFill>
                <a:schemeClr val="dk1"/>
              </a:solidFill>
              <a:latin typeface="Calibri"/>
              <a:ea typeface="Calibri"/>
              <a:cs typeface="Calibri"/>
              <a:sym typeface="Calibri"/>
            </a:endParaRPr>
          </a:p>
        </p:txBody>
      </p:sp>
      <p:sp>
        <p:nvSpPr>
          <p:cNvPr id="472" name="Google Shape;472;p14"/>
          <p:cNvSpPr/>
          <p:nvPr/>
        </p:nvSpPr>
        <p:spPr>
          <a:xfrm>
            <a:off x="2999232" y="2907792"/>
            <a:ext cx="843076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000"/>
              <a:buFont typeface="Calibri"/>
              <a:buNone/>
            </a:pPr>
            <a:r>
              <a:rPr b="1" i="0" lang="en-US" sz="1000" u="none" cap="none" strike="noStrike">
                <a:solidFill>
                  <a:srgbClr val="5B6B7F"/>
                </a:solidFill>
                <a:latin typeface="Calibri"/>
                <a:ea typeface="Calibri"/>
                <a:cs typeface="Calibri"/>
                <a:sym typeface="Calibri"/>
              </a:rPr>
              <a:t>YOUR CLAIMED EXCEPTIONS</a:t>
            </a:r>
            <a:endParaRPr b="0" i="0" sz="1000" u="none" cap="none" strike="noStrike">
              <a:solidFill>
                <a:schemeClr val="dk1"/>
              </a:solidFill>
              <a:latin typeface="Calibri"/>
              <a:ea typeface="Calibri"/>
              <a:cs typeface="Calibri"/>
              <a:sym typeface="Calibri"/>
            </a:endParaRPr>
          </a:p>
        </p:txBody>
      </p:sp>
      <p:sp>
        <p:nvSpPr>
          <p:cNvPr id="473" name="Google Shape;473;p14"/>
          <p:cNvSpPr/>
          <p:nvPr/>
        </p:nvSpPr>
        <p:spPr>
          <a:xfrm>
            <a:off x="2999232" y="3227832"/>
            <a:ext cx="8430768" cy="512064"/>
          </a:xfrm>
          <a:prstGeom prst="rect">
            <a:avLst/>
          </a:prstGeom>
          <a:solidFill>
            <a:srgbClr val="FFFFFF"/>
          </a:solidFill>
          <a:ln cap="flat" cmpd="sng" w="12700">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4"/>
          <p:cNvSpPr/>
          <p:nvPr/>
        </p:nvSpPr>
        <p:spPr>
          <a:xfrm>
            <a:off x="2999232" y="3227832"/>
            <a:ext cx="64008" cy="512064"/>
          </a:xfrm>
          <a:prstGeom prst="rect">
            <a:avLst/>
          </a:prstGeom>
          <a:solidFill>
            <a:srgbClr val="B91C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4"/>
          <p:cNvSpPr/>
          <p:nvPr/>
        </p:nvSpPr>
        <p:spPr>
          <a:xfrm>
            <a:off x="3227832" y="3282696"/>
            <a:ext cx="393192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150"/>
              <a:buFont typeface="Calibri"/>
              <a:buNone/>
            </a:pPr>
            <a:r>
              <a:rPr b="1" i="0" lang="en-US" sz="1150" u="none" cap="none" strike="noStrike">
                <a:solidFill>
                  <a:srgbClr val="0F172A"/>
                </a:solidFill>
                <a:latin typeface="Calibri"/>
                <a:ea typeface="Calibri"/>
                <a:cs typeface="Calibri"/>
                <a:sym typeface="Calibri"/>
              </a:rPr>
              <a:t>Harbor Mist Vodka  </a:t>
            </a:r>
            <a:r>
              <a:rPr b="0" i="0" lang="en-US" sz="950" u="none" cap="none" strike="noStrike">
                <a:solidFill>
                  <a:srgbClr val="8A98A8"/>
                </a:solidFill>
                <a:latin typeface="Calibri"/>
                <a:ea typeface="Calibri"/>
                <a:cs typeface="Calibri"/>
                <a:sym typeface="Calibri"/>
              </a:rPr>
              <a:t>Vodka · HM-26-0810</a:t>
            </a:r>
            <a:endParaRPr b="0" i="0" sz="1150" u="none" cap="none" strike="noStrike">
              <a:solidFill>
                <a:schemeClr val="dk1"/>
              </a:solidFill>
              <a:latin typeface="Calibri"/>
              <a:ea typeface="Calibri"/>
              <a:cs typeface="Calibri"/>
              <a:sym typeface="Calibri"/>
            </a:endParaRPr>
          </a:p>
        </p:txBody>
      </p:sp>
      <p:sp>
        <p:nvSpPr>
          <p:cNvPr id="476" name="Google Shape;476;p14"/>
          <p:cNvSpPr/>
          <p:nvPr/>
        </p:nvSpPr>
        <p:spPr>
          <a:xfrm>
            <a:off x="7296912" y="3227832"/>
            <a:ext cx="2578608"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50"/>
              <a:buFont typeface="Calibri"/>
              <a:buNone/>
            </a:pPr>
            <a:r>
              <a:rPr b="0" i="0" lang="en-US" sz="1050" u="none" cap="none" strike="noStrike">
                <a:solidFill>
                  <a:srgbClr val="334155"/>
                </a:solidFill>
                <a:latin typeface="Calibri"/>
                <a:ea typeface="Calibri"/>
                <a:cs typeface="Calibri"/>
                <a:sym typeface="Calibri"/>
              </a:rPr>
              <a:t>Alcohol content: form 40% vs label 45%</a:t>
            </a:r>
            <a:endParaRPr b="0" i="0" sz="1050" u="none" cap="none" strike="noStrike">
              <a:solidFill>
                <a:schemeClr val="dk1"/>
              </a:solidFill>
              <a:latin typeface="Calibri"/>
              <a:ea typeface="Calibri"/>
              <a:cs typeface="Calibri"/>
              <a:sym typeface="Calibri"/>
            </a:endParaRPr>
          </a:p>
        </p:txBody>
      </p:sp>
      <p:sp>
        <p:nvSpPr>
          <p:cNvPr id="477" name="Google Shape;477;p14"/>
          <p:cNvSpPr/>
          <p:nvPr/>
        </p:nvSpPr>
        <p:spPr>
          <a:xfrm>
            <a:off x="10058400" y="3346704"/>
            <a:ext cx="1143000" cy="274320"/>
          </a:xfrm>
          <a:prstGeom prst="roundRect">
            <a:avLst>
              <a:gd fmla="val 50000" name="adj"/>
            </a:avLst>
          </a:prstGeom>
          <a:solidFill>
            <a:srgbClr val="FAEAEA"/>
          </a:solidFill>
          <a:ln cap="flat" cmpd="sng" w="12700">
            <a:solidFill>
              <a:srgbClr val="B91C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4"/>
          <p:cNvSpPr/>
          <p:nvPr/>
        </p:nvSpPr>
        <p:spPr>
          <a:xfrm>
            <a:off x="10058400" y="3346704"/>
            <a:ext cx="11430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91C1C"/>
              </a:buClr>
              <a:buSzPts val="900"/>
              <a:buFont typeface="Calibri"/>
              <a:buNone/>
            </a:pPr>
            <a:r>
              <a:rPr b="1" i="0" lang="en-US" sz="900" u="none" cap="none" strike="noStrike">
                <a:solidFill>
                  <a:srgbClr val="B91C1C"/>
                </a:solidFill>
                <a:latin typeface="Calibri"/>
                <a:ea typeface="Calibri"/>
                <a:cs typeface="Calibri"/>
                <a:sym typeface="Calibri"/>
              </a:rPr>
              <a:t>✕ Mismatch</a:t>
            </a:r>
            <a:endParaRPr b="0" i="0" sz="900" u="none" cap="none" strike="noStrike">
              <a:solidFill>
                <a:schemeClr val="dk1"/>
              </a:solidFill>
              <a:latin typeface="Calibri"/>
              <a:ea typeface="Calibri"/>
              <a:cs typeface="Calibri"/>
              <a:sym typeface="Calibri"/>
            </a:endParaRPr>
          </a:p>
        </p:txBody>
      </p:sp>
      <p:sp>
        <p:nvSpPr>
          <p:cNvPr id="479" name="Google Shape;479;p14"/>
          <p:cNvSpPr/>
          <p:nvPr/>
        </p:nvSpPr>
        <p:spPr>
          <a:xfrm>
            <a:off x="2999232" y="3794760"/>
            <a:ext cx="8430768" cy="512064"/>
          </a:xfrm>
          <a:prstGeom prst="rect">
            <a:avLst/>
          </a:prstGeom>
          <a:solidFill>
            <a:srgbClr val="FFFFFF"/>
          </a:solidFill>
          <a:ln cap="flat" cmpd="sng" w="12700">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4"/>
          <p:cNvSpPr/>
          <p:nvPr/>
        </p:nvSpPr>
        <p:spPr>
          <a:xfrm>
            <a:off x="2999232" y="3794760"/>
            <a:ext cx="64008" cy="512064"/>
          </a:xfrm>
          <a:prstGeom prst="rect">
            <a:avLst/>
          </a:prstGeom>
          <a:solidFill>
            <a:srgbClr val="B91C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4"/>
          <p:cNvSpPr/>
          <p:nvPr/>
        </p:nvSpPr>
        <p:spPr>
          <a:xfrm>
            <a:off x="3227832" y="3849624"/>
            <a:ext cx="393192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150"/>
              <a:buFont typeface="Calibri"/>
              <a:buNone/>
            </a:pPr>
            <a:r>
              <a:rPr b="1" i="0" lang="en-US" sz="1150" u="none" cap="none" strike="noStrike">
                <a:solidFill>
                  <a:srgbClr val="0F172A"/>
                </a:solidFill>
                <a:latin typeface="Calibri"/>
                <a:ea typeface="Calibri"/>
                <a:cs typeface="Calibri"/>
                <a:sym typeface="Calibri"/>
              </a:rPr>
              <a:t>Cedar Ridge Reserve  </a:t>
            </a:r>
            <a:r>
              <a:rPr b="0" i="0" lang="en-US" sz="950" u="none" cap="none" strike="noStrike">
                <a:solidFill>
                  <a:srgbClr val="8A98A8"/>
                </a:solidFill>
                <a:latin typeface="Calibri"/>
                <a:ea typeface="Calibri"/>
                <a:cs typeface="Calibri"/>
                <a:sym typeface="Calibri"/>
              </a:rPr>
              <a:t>Rye Whiskey · CR-26-0655</a:t>
            </a:r>
            <a:endParaRPr b="0" i="0" sz="1150" u="none" cap="none" strike="noStrike">
              <a:solidFill>
                <a:schemeClr val="dk1"/>
              </a:solidFill>
              <a:latin typeface="Calibri"/>
              <a:ea typeface="Calibri"/>
              <a:cs typeface="Calibri"/>
              <a:sym typeface="Calibri"/>
            </a:endParaRPr>
          </a:p>
        </p:txBody>
      </p:sp>
      <p:sp>
        <p:nvSpPr>
          <p:cNvPr id="482" name="Google Shape;482;p14"/>
          <p:cNvSpPr/>
          <p:nvPr/>
        </p:nvSpPr>
        <p:spPr>
          <a:xfrm>
            <a:off x="7296912" y="3794760"/>
            <a:ext cx="2578608"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50"/>
              <a:buFont typeface="Calibri"/>
              <a:buNone/>
            </a:pPr>
            <a:r>
              <a:rPr b="0" i="0" lang="en-US" sz="1050" u="none" cap="none" strike="noStrike">
                <a:solidFill>
                  <a:srgbClr val="334155"/>
                </a:solidFill>
                <a:latin typeface="Calibri"/>
                <a:ea typeface="Calibri"/>
                <a:cs typeface="Calibri"/>
                <a:sym typeface="Calibri"/>
              </a:rPr>
              <a:t>Government warning heading not in all caps</a:t>
            </a:r>
            <a:endParaRPr b="0" i="0" sz="1050" u="none" cap="none" strike="noStrike">
              <a:solidFill>
                <a:schemeClr val="dk1"/>
              </a:solidFill>
              <a:latin typeface="Calibri"/>
              <a:ea typeface="Calibri"/>
              <a:cs typeface="Calibri"/>
              <a:sym typeface="Calibri"/>
            </a:endParaRPr>
          </a:p>
        </p:txBody>
      </p:sp>
      <p:sp>
        <p:nvSpPr>
          <p:cNvPr id="483" name="Google Shape;483;p14"/>
          <p:cNvSpPr/>
          <p:nvPr/>
        </p:nvSpPr>
        <p:spPr>
          <a:xfrm>
            <a:off x="10058400" y="3913632"/>
            <a:ext cx="1143000" cy="274320"/>
          </a:xfrm>
          <a:prstGeom prst="roundRect">
            <a:avLst>
              <a:gd fmla="val 50000" name="adj"/>
            </a:avLst>
          </a:prstGeom>
          <a:solidFill>
            <a:srgbClr val="FAEAEA"/>
          </a:solidFill>
          <a:ln cap="flat" cmpd="sng" w="12700">
            <a:solidFill>
              <a:srgbClr val="B91C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4"/>
          <p:cNvSpPr/>
          <p:nvPr/>
        </p:nvSpPr>
        <p:spPr>
          <a:xfrm>
            <a:off x="10058400" y="3913632"/>
            <a:ext cx="11430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91C1C"/>
              </a:buClr>
              <a:buSzPts val="900"/>
              <a:buFont typeface="Calibri"/>
              <a:buNone/>
            </a:pPr>
            <a:r>
              <a:rPr b="1" i="0" lang="en-US" sz="900" u="none" cap="none" strike="noStrike">
                <a:solidFill>
                  <a:srgbClr val="B91C1C"/>
                </a:solidFill>
                <a:latin typeface="Calibri"/>
                <a:ea typeface="Calibri"/>
                <a:cs typeface="Calibri"/>
                <a:sym typeface="Calibri"/>
              </a:rPr>
              <a:t>✕ Mismatch</a:t>
            </a:r>
            <a:endParaRPr b="0" i="0" sz="900" u="none" cap="none" strike="noStrike">
              <a:solidFill>
                <a:schemeClr val="dk1"/>
              </a:solidFill>
              <a:latin typeface="Calibri"/>
              <a:ea typeface="Calibri"/>
              <a:cs typeface="Calibri"/>
              <a:sym typeface="Calibri"/>
            </a:endParaRPr>
          </a:p>
        </p:txBody>
      </p:sp>
      <p:sp>
        <p:nvSpPr>
          <p:cNvPr id="485" name="Google Shape;485;p14"/>
          <p:cNvSpPr/>
          <p:nvPr/>
        </p:nvSpPr>
        <p:spPr>
          <a:xfrm>
            <a:off x="2999232" y="4361688"/>
            <a:ext cx="8430768" cy="512064"/>
          </a:xfrm>
          <a:prstGeom prst="rect">
            <a:avLst/>
          </a:prstGeom>
          <a:solidFill>
            <a:srgbClr val="FFFFFF"/>
          </a:solidFill>
          <a:ln cap="flat" cmpd="sng" w="12700">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4"/>
          <p:cNvSpPr/>
          <p:nvPr/>
        </p:nvSpPr>
        <p:spPr>
          <a:xfrm>
            <a:off x="2999232" y="4361688"/>
            <a:ext cx="64008" cy="512064"/>
          </a:xfrm>
          <a:prstGeom prst="rect">
            <a:avLst/>
          </a:prstGeom>
          <a:solidFill>
            <a:srgbClr val="B91C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4"/>
          <p:cNvSpPr/>
          <p:nvPr/>
        </p:nvSpPr>
        <p:spPr>
          <a:xfrm>
            <a:off x="3227832" y="4416552"/>
            <a:ext cx="393192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150"/>
              <a:buFont typeface="Calibri"/>
              <a:buNone/>
            </a:pPr>
            <a:r>
              <a:rPr b="1" i="0" lang="en-US" sz="1150" u="none" cap="none" strike="noStrike">
                <a:solidFill>
                  <a:srgbClr val="0F172A"/>
                </a:solidFill>
                <a:latin typeface="Calibri"/>
                <a:ea typeface="Calibri"/>
                <a:cs typeface="Calibri"/>
                <a:sym typeface="Calibri"/>
              </a:rPr>
              <a:t>Coastal Pale Ale  </a:t>
            </a:r>
            <a:r>
              <a:rPr b="0" i="0" lang="en-US" sz="950" u="none" cap="none" strike="noStrike">
                <a:solidFill>
                  <a:srgbClr val="8A98A8"/>
                </a:solidFill>
                <a:latin typeface="Calibri"/>
                <a:ea typeface="Calibri"/>
                <a:cs typeface="Calibri"/>
                <a:sym typeface="Calibri"/>
              </a:rPr>
              <a:t>Malt Beverage · CP-26-1402</a:t>
            </a:r>
            <a:endParaRPr b="0" i="0" sz="1150" u="none" cap="none" strike="noStrike">
              <a:solidFill>
                <a:schemeClr val="dk1"/>
              </a:solidFill>
              <a:latin typeface="Calibri"/>
              <a:ea typeface="Calibri"/>
              <a:cs typeface="Calibri"/>
              <a:sym typeface="Calibri"/>
            </a:endParaRPr>
          </a:p>
        </p:txBody>
      </p:sp>
      <p:sp>
        <p:nvSpPr>
          <p:cNvPr id="488" name="Google Shape;488;p14"/>
          <p:cNvSpPr/>
          <p:nvPr/>
        </p:nvSpPr>
        <p:spPr>
          <a:xfrm>
            <a:off x="7296912" y="4361688"/>
            <a:ext cx="2578608"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50"/>
              <a:buFont typeface="Calibri"/>
              <a:buNone/>
            </a:pPr>
            <a:r>
              <a:rPr b="0" i="0" lang="en-US" sz="1050" u="none" cap="none" strike="noStrike">
                <a:solidFill>
                  <a:srgbClr val="334155"/>
                </a:solidFill>
                <a:latin typeface="Calibri"/>
                <a:ea typeface="Calibri"/>
                <a:cs typeface="Calibri"/>
                <a:sym typeface="Calibri"/>
              </a:rPr>
              <a:t>Net contents: form 12 fl oz vs label 16 fl oz</a:t>
            </a:r>
            <a:endParaRPr b="0" i="0" sz="1050" u="none" cap="none" strike="noStrike">
              <a:solidFill>
                <a:schemeClr val="dk1"/>
              </a:solidFill>
              <a:latin typeface="Calibri"/>
              <a:ea typeface="Calibri"/>
              <a:cs typeface="Calibri"/>
              <a:sym typeface="Calibri"/>
            </a:endParaRPr>
          </a:p>
        </p:txBody>
      </p:sp>
      <p:sp>
        <p:nvSpPr>
          <p:cNvPr id="489" name="Google Shape;489;p14"/>
          <p:cNvSpPr/>
          <p:nvPr/>
        </p:nvSpPr>
        <p:spPr>
          <a:xfrm>
            <a:off x="10058400" y="4480560"/>
            <a:ext cx="1143000" cy="274320"/>
          </a:xfrm>
          <a:prstGeom prst="roundRect">
            <a:avLst>
              <a:gd fmla="val 50000" name="adj"/>
            </a:avLst>
          </a:prstGeom>
          <a:solidFill>
            <a:srgbClr val="FAEAEA"/>
          </a:solidFill>
          <a:ln cap="flat" cmpd="sng" w="12700">
            <a:solidFill>
              <a:srgbClr val="B91C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4"/>
          <p:cNvSpPr/>
          <p:nvPr/>
        </p:nvSpPr>
        <p:spPr>
          <a:xfrm>
            <a:off x="10058400" y="4480560"/>
            <a:ext cx="11430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91C1C"/>
              </a:buClr>
              <a:buSzPts val="900"/>
              <a:buFont typeface="Calibri"/>
              <a:buNone/>
            </a:pPr>
            <a:r>
              <a:rPr b="1" i="0" lang="en-US" sz="900" u="none" cap="none" strike="noStrike">
                <a:solidFill>
                  <a:srgbClr val="B91C1C"/>
                </a:solidFill>
                <a:latin typeface="Calibri"/>
                <a:ea typeface="Calibri"/>
                <a:cs typeface="Calibri"/>
                <a:sym typeface="Calibri"/>
              </a:rPr>
              <a:t>✕ Mismatch</a:t>
            </a:r>
            <a:endParaRPr b="0" i="0" sz="900" u="none" cap="none" strike="noStrike">
              <a:solidFill>
                <a:schemeClr val="dk1"/>
              </a:solidFill>
              <a:latin typeface="Calibri"/>
              <a:ea typeface="Calibri"/>
              <a:cs typeface="Calibri"/>
              <a:sym typeface="Calibri"/>
            </a:endParaRPr>
          </a:p>
        </p:txBody>
      </p:sp>
      <p:sp>
        <p:nvSpPr>
          <p:cNvPr id="491" name="Google Shape;491;p14"/>
          <p:cNvSpPr/>
          <p:nvPr/>
        </p:nvSpPr>
        <p:spPr>
          <a:xfrm>
            <a:off x="2999232" y="4928616"/>
            <a:ext cx="8430768" cy="512064"/>
          </a:xfrm>
          <a:prstGeom prst="rect">
            <a:avLst/>
          </a:prstGeom>
          <a:solidFill>
            <a:srgbClr val="FFFFFF"/>
          </a:solidFill>
          <a:ln cap="flat" cmpd="sng" w="12700">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4"/>
          <p:cNvSpPr/>
          <p:nvPr/>
        </p:nvSpPr>
        <p:spPr>
          <a:xfrm>
            <a:off x="2999232" y="4928616"/>
            <a:ext cx="64008" cy="512064"/>
          </a:xfrm>
          <a:prstGeom prst="rect">
            <a:avLst/>
          </a:prstGeom>
          <a:solidFill>
            <a:srgbClr val="B45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4"/>
          <p:cNvSpPr/>
          <p:nvPr/>
        </p:nvSpPr>
        <p:spPr>
          <a:xfrm>
            <a:off x="3227832" y="4983480"/>
            <a:ext cx="393192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150"/>
              <a:buFont typeface="Calibri"/>
              <a:buNone/>
            </a:pPr>
            <a:r>
              <a:rPr b="1" i="0" lang="en-US" sz="1150" u="none" cap="none" strike="noStrike">
                <a:solidFill>
                  <a:srgbClr val="0F172A"/>
                </a:solidFill>
                <a:latin typeface="Calibri"/>
                <a:ea typeface="Calibri"/>
                <a:cs typeface="Calibri"/>
                <a:sym typeface="Calibri"/>
              </a:rPr>
              <a:t>Pages 1907 Lager  </a:t>
            </a:r>
            <a:r>
              <a:rPr b="0" i="0" lang="en-US" sz="950" u="none" cap="none" strike="noStrike">
                <a:solidFill>
                  <a:srgbClr val="8A98A8"/>
                </a:solidFill>
                <a:latin typeface="Calibri"/>
                <a:ea typeface="Calibri"/>
                <a:cs typeface="Calibri"/>
                <a:sym typeface="Calibri"/>
              </a:rPr>
              <a:t>Malt Beverage · PG-26-0298</a:t>
            </a:r>
            <a:endParaRPr b="0" i="0" sz="1150" u="none" cap="none" strike="noStrike">
              <a:solidFill>
                <a:schemeClr val="dk1"/>
              </a:solidFill>
              <a:latin typeface="Calibri"/>
              <a:ea typeface="Calibri"/>
              <a:cs typeface="Calibri"/>
              <a:sym typeface="Calibri"/>
            </a:endParaRPr>
          </a:p>
        </p:txBody>
      </p:sp>
      <p:sp>
        <p:nvSpPr>
          <p:cNvPr id="494" name="Google Shape;494;p14"/>
          <p:cNvSpPr/>
          <p:nvPr/>
        </p:nvSpPr>
        <p:spPr>
          <a:xfrm>
            <a:off x="7296912" y="4928616"/>
            <a:ext cx="2578608"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50"/>
              <a:buFont typeface="Calibri"/>
              <a:buNone/>
            </a:pPr>
            <a:r>
              <a:rPr b="0" i="0" lang="en-US" sz="1050" u="none" cap="none" strike="noStrike">
                <a:solidFill>
                  <a:srgbClr val="334155"/>
                </a:solidFill>
                <a:latin typeface="Calibri"/>
                <a:ea typeface="Calibri"/>
                <a:cs typeface="Calibri"/>
                <a:sym typeface="Calibri"/>
              </a:rPr>
              <a:t>Image too blurry to read — request a better photo</a:t>
            </a:r>
            <a:endParaRPr b="0" i="0" sz="1050" u="none" cap="none" strike="noStrike">
              <a:solidFill>
                <a:schemeClr val="dk1"/>
              </a:solidFill>
              <a:latin typeface="Calibri"/>
              <a:ea typeface="Calibri"/>
              <a:cs typeface="Calibri"/>
              <a:sym typeface="Calibri"/>
            </a:endParaRPr>
          </a:p>
        </p:txBody>
      </p:sp>
      <p:sp>
        <p:nvSpPr>
          <p:cNvPr id="495" name="Google Shape;495;p14"/>
          <p:cNvSpPr/>
          <p:nvPr/>
        </p:nvSpPr>
        <p:spPr>
          <a:xfrm>
            <a:off x="10058400" y="5047488"/>
            <a:ext cx="1143000" cy="274320"/>
          </a:xfrm>
          <a:prstGeom prst="roundRect">
            <a:avLst>
              <a:gd fmla="val 50000" name="adj"/>
            </a:avLst>
          </a:prstGeom>
          <a:solidFill>
            <a:srgbClr val="FBF1E0"/>
          </a:solidFill>
          <a:ln cap="flat" cmpd="sng" w="12700">
            <a:solidFill>
              <a:srgbClr val="B4530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4"/>
          <p:cNvSpPr/>
          <p:nvPr/>
        </p:nvSpPr>
        <p:spPr>
          <a:xfrm>
            <a:off x="10058400" y="5047488"/>
            <a:ext cx="11430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45309"/>
              </a:buClr>
              <a:buSzPts val="900"/>
              <a:buFont typeface="Calibri"/>
              <a:buNone/>
            </a:pPr>
            <a:r>
              <a:rPr b="1" i="0" lang="en-US" sz="900" u="none" cap="none" strike="noStrike">
                <a:solidFill>
                  <a:srgbClr val="B45309"/>
                </a:solidFill>
                <a:latin typeface="Calibri"/>
                <a:ea typeface="Calibri"/>
                <a:cs typeface="Calibri"/>
                <a:sym typeface="Calibri"/>
              </a:rPr>
              <a:t>? Review</a:t>
            </a:r>
            <a:endParaRPr b="0" i="0" sz="900" u="none" cap="none" strike="noStrike">
              <a:solidFill>
                <a:schemeClr val="dk1"/>
              </a:solidFill>
              <a:latin typeface="Calibri"/>
              <a:ea typeface="Calibri"/>
              <a:cs typeface="Calibri"/>
              <a:sym typeface="Calibri"/>
            </a:endParaRPr>
          </a:p>
        </p:txBody>
      </p:sp>
      <p:sp>
        <p:nvSpPr>
          <p:cNvPr id="497" name="Google Shape;497;p14"/>
          <p:cNvSpPr/>
          <p:nvPr/>
        </p:nvSpPr>
        <p:spPr>
          <a:xfrm>
            <a:off x="2999232" y="5495544"/>
            <a:ext cx="8430768" cy="512064"/>
          </a:xfrm>
          <a:prstGeom prst="rect">
            <a:avLst/>
          </a:prstGeom>
          <a:solidFill>
            <a:srgbClr val="FFFFFF"/>
          </a:solidFill>
          <a:ln cap="flat" cmpd="sng" w="12700">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4"/>
          <p:cNvSpPr/>
          <p:nvPr/>
        </p:nvSpPr>
        <p:spPr>
          <a:xfrm>
            <a:off x="2999232" y="5495544"/>
            <a:ext cx="64008" cy="512064"/>
          </a:xfrm>
          <a:prstGeom prst="rect">
            <a:avLst/>
          </a:prstGeom>
          <a:solidFill>
            <a:srgbClr val="B45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4"/>
          <p:cNvSpPr/>
          <p:nvPr/>
        </p:nvSpPr>
        <p:spPr>
          <a:xfrm>
            <a:off x="3227832" y="5550408"/>
            <a:ext cx="393192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150"/>
              <a:buFont typeface="Calibri"/>
              <a:buNone/>
            </a:pPr>
            <a:r>
              <a:rPr b="1" i="0" lang="en-US" sz="1150" u="none" cap="none" strike="noStrike">
                <a:solidFill>
                  <a:srgbClr val="0F172A"/>
                </a:solidFill>
                <a:latin typeface="Calibri"/>
                <a:ea typeface="Calibri"/>
                <a:cs typeface="Calibri"/>
                <a:sym typeface="Calibri"/>
              </a:rPr>
              <a:t>Dunmore Single Malt  </a:t>
            </a:r>
            <a:r>
              <a:rPr b="0" i="0" lang="en-US" sz="950" u="none" cap="none" strike="noStrike">
                <a:solidFill>
                  <a:srgbClr val="8A98A8"/>
                </a:solidFill>
                <a:latin typeface="Calibri"/>
                <a:ea typeface="Calibri"/>
                <a:cs typeface="Calibri"/>
                <a:sym typeface="Calibri"/>
              </a:rPr>
              <a:t>Whisky · DM-26-0744</a:t>
            </a:r>
            <a:endParaRPr b="0" i="0" sz="1150" u="none" cap="none" strike="noStrike">
              <a:solidFill>
                <a:schemeClr val="dk1"/>
              </a:solidFill>
              <a:latin typeface="Calibri"/>
              <a:ea typeface="Calibri"/>
              <a:cs typeface="Calibri"/>
              <a:sym typeface="Calibri"/>
            </a:endParaRPr>
          </a:p>
        </p:txBody>
      </p:sp>
      <p:sp>
        <p:nvSpPr>
          <p:cNvPr id="500" name="Google Shape;500;p14"/>
          <p:cNvSpPr/>
          <p:nvPr/>
        </p:nvSpPr>
        <p:spPr>
          <a:xfrm>
            <a:off x="7296912" y="5495544"/>
            <a:ext cx="2578608"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50"/>
              <a:buFont typeface="Calibri"/>
              <a:buNone/>
            </a:pPr>
            <a:r>
              <a:rPr b="0" i="0" lang="en-US" sz="1050" u="none" cap="none" strike="noStrike">
                <a:solidFill>
                  <a:srgbClr val="334155"/>
                </a:solidFill>
                <a:latin typeface="Calibri"/>
                <a:ea typeface="Calibri"/>
                <a:cs typeface="Calibri"/>
                <a:sym typeface="Calibri"/>
              </a:rPr>
              <a:t>Brand near-miss — ‘Dunmore’ vs ‘Dun More’</a:t>
            </a:r>
            <a:endParaRPr b="0" i="0" sz="1050" u="none" cap="none" strike="noStrike">
              <a:solidFill>
                <a:schemeClr val="dk1"/>
              </a:solidFill>
              <a:latin typeface="Calibri"/>
              <a:ea typeface="Calibri"/>
              <a:cs typeface="Calibri"/>
              <a:sym typeface="Calibri"/>
            </a:endParaRPr>
          </a:p>
        </p:txBody>
      </p:sp>
      <p:sp>
        <p:nvSpPr>
          <p:cNvPr id="501" name="Google Shape;501;p14"/>
          <p:cNvSpPr/>
          <p:nvPr/>
        </p:nvSpPr>
        <p:spPr>
          <a:xfrm>
            <a:off x="10058400" y="5614416"/>
            <a:ext cx="1143000" cy="274320"/>
          </a:xfrm>
          <a:prstGeom prst="roundRect">
            <a:avLst>
              <a:gd fmla="val 50000" name="adj"/>
            </a:avLst>
          </a:prstGeom>
          <a:solidFill>
            <a:srgbClr val="FBF1E0"/>
          </a:solidFill>
          <a:ln cap="flat" cmpd="sng" w="12700">
            <a:solidFill>
              <a:srgbClr val="B4530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4"/>
          <p:cNvSpPr/>
          <p:nvPr/>
        </p:nvSpPr>
        <p:spPr>
          <a:xfrm>
            <a:off x="10058400" y="5614416"/>
            <a:ext cx="11430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45309"/>
              </a:buClr>
              <a:buSzPts val="900"/>
              <a:buFont typeface="Calibri"/>
              <a:buNone/>
            </a:pPr>
            <a:r>
              <a:rPr b="1" i="0" lang="en-US" sz="900" u="none" cap="none" strike="noStrike">
                <a:solidFill>
                  <a:srgbClr val="B45309"/>
                </a:solidFill>
                <a:latin typeface="Calibri"/>
                <a:ea typeface="Calibri"/>
                <a:cs typeface="Calibri"/>
                <a:sym typeface="Calibri"/>
              </a:rPr>
              <a:t>? Review</a:t>
            </a:r>
            <a:endParaRPr b="0" i="0" sz="900" u="none" cap="none" strike="noStrike">
              <a:solidFill>
                <a:schemeClr val="dk1"/>
              </a:solidFill>
              <a:latin typeface="Calibri"/>
              <a:ea typeface="Calibri"/>
              <a:cs typeface="Calibri"/>
              <a:sym typeface="Calibri"/>
            </a:endParaRPr>
          </a:p>
        </p:txBody>
      </p:sp>
      <p:sp>
        <p:nvSpPr>
          <p:cNvPr id="503" name="Google Shape;503;p14"/>
          <p:cNvSpPr/>
          <p:nvPr/>
        </p:nvSpPr>
        <p:spPr>
          <a:xfrm>
            <a:off x="685800" y="6446520"/>
            <a:ext cx="6400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AI Label Verification · Approach &amp; Design</a:t>
            </a:r>
            <a:endParaRPr b="0" i="0" sz="900" u="none" cap="none" strike="noStrike">
              <a:solidFill>
                <a:schemeClr val="dk1"/>
              </a:solidFill>
              <a:latin typeface="Calibri"/>
              <a:ea typeface="Calibri"/>
              <a:cs typeface="Calibri"/>
              <a:sym typeface="Calibri"/>
            </a:endParaRPr>
          </a:p>
        </p:txBody>
      </p:sp>
      <p:sp>
        <p:nvSpPr>
          <p:cNvPr id="504" name="Google Shape;504;p14"/>
          <p:cNvSpPr/>
          <p:nvPr/>
        </p:nvSpPr>
        <p:spPr>
          <a:xfrm>
            <a:off x="11185855" y="6446520"/>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509" name="Shape 509"/>
        <p:cNvGrpSpPr/>
        <p:nvPr/>
      </p:nvGrpSpPr>
      <p:grpSpPr>
        <a:xfrm>
          <a:off x="0" y="0"/>
          <a:ext cx="0" cy="0"/>
          <a:chOff x="0" y="0"/>
          <a:chExt cx="0" cy="0"/>
        </a:xfrm>
      </p:grpSpPr>
      <p:sp>
        <p:nvSpPr>
          <p:cNvPr id="510" name="Google Shape;510;p15"/>
          <p:cNvSpPr/>
          <p:nvPr/>
        </p:nvSpPr>
        <p:spPr>
          <a:xfrm>
            <a:off x="685800" y="457200"/>
            <a:ext cx="107899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63EB"/>
              </a:buClr>
              <a:buSzPts val="1200"/>
              <a:buFont typeface="Calibri"/>
              <a:buNone/>
            </a:pPr>
            <a:r>
              <a:rPr b="1" i="0" lang="en-US" sz="1200" u="none" cap="none" strike="noStrike">
                <a:solidFill>
                  <a:srgbClr val="2563EB"/>
                </a:solidFill>
                <a:latin typeface="Calibri"/>
                <a:ea typeface="Calibri"/>
                <a:cs typeface="Calibri"/>
                <a:sym typeface="Calibri"/>
              </a:rPr>
              <a:t>BUILT TO SCALE</a:t>
            </a:r>
            <a:endParaRPr b="0" i="0" sz="1200" u="none" cap="none" strike="noStrike">
              <a:solidFill>
                <a:schemeClr val="dk1"/>
              </a:solidFill>
              <a:latin typeface="Calibri"/>
              <a:ea typeface="Calibri"/>
              <a:cs typeface="Calibri"/>
              <a:sym typeface="Calibri"/>
            </a:endParaRPr>
          </a:p>
        </p:txBody>
      </p:sp>
      <p:sp>
        <p:nvSpPr>
          <p:cNvPr id="511" name="Google Shape;511;p15"/>
          <p:cNvSpPr/>
          <p:nvPr/>
        </p:nvSpPr>
        <p:spPr>
          <a:xfrm>
            <a:off x="685800" y="749808"/>
            <a:ext cx="107899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Georgia"/>
              <a:buNone/>
            </a:pPr>
            <a:r>
              <a:rPr b="1" i="0" lang="en-US" sz="3200" u="none" cap="none" strike="noStrike">
                <a:solidFill>
                  <a:srgbClr val="0F172A"/>
                </a:solidFill>
                <a:latin typeface="Georgia"/>
                <a:ea typeface="Georgia"/>
                <a:cs typeface="Georgia"/>
                <a:sym typeface="Georgia"/>
              </a:rPr>
              <a:t>Specialists, an assistant, a managed knowledge base</a:t>
            </a:r>
            <a:endParaRPr b="0" i="0" sz="3200" u="none" cap="none" strike="noStrike">
              <a:solidFill>
                <a:schemeClr val="dk1"/>
              </a:solidFill>
              <a:latin typeface="Calibri"/>
              <a:ea typeface="Calibri"/>
              <a:cs typeface="Calibri"/>
              <a:sym typeface="Calibri"/>
            </a:endParaRPr>
          </a:p>
        </p:txBody>
      </p:sp>
      <p:sp>
        <p:nvSpPr>
          <p:cNvPr id="512" name="Google Shape;512;p15"/>
          <p:cNvSpPr/>
          <p:nvPr/>
        </p:nvSpPr>
        <p:spPr>
          <a:xfrm>
            <a:off x="685800" y="2011680"/>
            <a:ext cx="3383280" cy="301752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5"/>
          <p:cNvSpPr/>
          <p:nvPr/>
        </p:nvSpPr>
        <p:spPr>
          <a:xfrm>
            <a:off x="685800" y="2011680"/>
            <a:ext cx="3383280" cy="109728"/>
          </a:xfrm>
          <a:prstGeom prst="rect">
            <a:avLst/>
          </a:prstGeom>
          <a:solidFill>
            <a:srgbClr val="1580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5"/>
          <p:cNvSpPr/>
          <p:nvPr/>
        </p:nvSpPr>
        <p:spPr>
          <a:xfrm>
            <a:off x="960120" y="2286000"/>
            <a:ext cx="2834640" cy="73152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15803D"/>
              </a:buClr>
              <a:buSzPts val="1800"/>
              <a:buFont typeface="Georgia"/>
              <a:buNone/>
            </a:pPr>
            <a:r>
              <a:rPr b="1" i="0" lang="en-US" sz="1800" u="none" cap="none" strike="noStrike">
                <a:solidFill>
                  <a:srgbClr val="15803D"/>
                </a:solidFill>
                <a:latin typeface="Georgia"/>
                <a:ea typeface="Georgia"/>
                <a:cs typeface="Georgia"/>
                <a:sym typeface="Georgia"/>
              </a:rPr>
              <a:t>Beverage specialists</a:t>
            </a:r>
            <a:endParaRPr b="0" i="0" sz="1800" u="none" cap="none" strike="noStrike">
              <a:solidFill>
                <a:schemeClr val="dk1"/>
              </a:solidFill>
              <a:latin typeface="Calibri"/>
              <a:ea typeface="Calibri"/>
              <a:cs typeface="Calibri"/>
              <a:sym typeface="Calibri"/>
            </a:endParaRPr>
          </a:p>
        </p:txBody>
      </p:sp>
      <p:sp>
        <p:nvSpPr>
          <p:cNvPr id="515" name="Google Shape;515;p15"/>
          <p:cNvSpPr/>
          <p:nvPr/>
        </p:nvSpPr>
        <p:spPr>
          <a:xfrm>
            <a:off x="960120" y="3154680"/>
            <a:ext cx="2834640" cy="17830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0F172A"/>
              </a:buClr>
              <a:buSzPts val="1300"/>
              <a:buFont typeface="Calibri"/>
              <a:buNone/>
            </a:pPr>
            <a:r>
              <a:rPr b="0" i="0" lang="en-US" sz="1300" u="none" cap="none" strike="noStrike">
                <a:solidFill>
                  <a:srgbClr val="0F172A"/>
                </a:solidFill>
                <a:latin typeface="Calibri"/>
                <a:ea typeface="Calibri"/>
                <a:cs typeface="Calibri"/>
                <a:sym typeface="Calibri"/>
              </a:rPr>
              <a:t>Exceptions route to the agent who specializes in that label type — wine, distilled spirits, or malt beverage — with overflow so nothing stalls. Specialists read their own type faster and more accurately.</a:t>
            </a:r>
            <a:endParaRPr b="0" i="0" sz="1300" u="none" cap="none" strike="noStrike">
              <a:solidFill>
                <a:schemeClr val="dk1"/>
              </a:solidFill>
              <a:latin typeface="Calibri"/>
              <a:ea typeface="Calibri"/>
              <a:cs typeface="Calibri"/>
              <a:sym typeface="Calibri"/>
            </a:endParaRPr>
          </a:p>
        </p:txBody>
      </p:sp>
      <p:sp>
        <p:nvSpPr>
          <p:cNvPr id="516" name="Google Shape;516;p15"/>
          <p:cNvSpPr/>
          <p:nvPr/>
        </p:nvSpPr>
        <p:spPr>
          <a:xfrm>
            <a:off x="4297680" y="2011680"/>
            <a:ext cx="3383280" cy="301752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5"/>
          <p:cNvSpPr/>
          <p:nvPr/>
        </p:nvSpPr>
        <p:spPr>
          <a:xfrm>
            <a:off x="4297680" y="2011680"/>
            <a:ext cx="3383280" cy="109728"/>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5"/>
          <p:cNvSpPr/>
          <p:nvPr/>
        </p:nvSpPr>
        <p:spPr>
          <a:xfrm>
            <a:off x="4572000" y="2286000"/>
            <a:ext cx="2834640" cy="73152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2563EB"/>
              </a:buClr>
              <a:buSzPts val="1800"/>
              <a:buFont typeface="Georgia"/>
              <a:buNone/>
            </a:pPr>
            <a:r>
              <a:rPr b="1" i="0" lang="en-US" sz="1800" u="none" cap="none" strike="noStrike">
                <a:solidFill>
                  <a:srgbClr val="2563EB"/>
                </a:solidFill>
                <a:latin typeface="Georgia"/>
                <a:ea typeface="Georgia"/>
                <a:cs typeface="Georgia"/>
                <a:sym typeface="Georgia"/>
              </a:rPr>
              <a:t>Read-only assistant</a:t>
            </a:r>
            <a:endParaRPr b="0" i="0" sz="1800" u="none" cap="none" strike="noStrike">
              <a:solidFill>
                <a:schemeClr val="dk1"/>
              </a:solidFill>
              <a:latin typeface="Calibri"/>
              <a:ea typeface="Calibri"/>
              <a:cs typeface="Calibri"/>
              <a:sym typeface="Calibri"/>
            </a:endParaRPr>
          </a:p>
        </p:txBody>
      </p:sp>
      <p:sp>
        <p:nvSpPr>
          <p:cNvPr id="519" name="Google Shape;519;p15"/>
          <p:cNvSpPr/>
          <p:nvPr/>
        </p:nvSpPr>
        <p:spPr>
          <a:xfrm>
            <a:off x="4572000" y="3154680"/>
            <a:ext cx="2834640" cy="17830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0F172A"/>
              </a:buClr>
              <a:buSzPts val="1300"/>
              <a:buFont typeface="Calibri"/>
              <a:buNone/>
            </a:pPr>
            <a:r>
              <a:rPr b="0" i="0" lang="en-US" sz="1300" u="none" cap="none" strike="noStrike">
                <a:solidFill>
                  <a:srgbClr val="0F172A"/>
                </a:solidFill>
                <a:latin typeface="Calibri"/>
                <a:ea typeface="Calibri"/>
                <a:cs typeface="Calibri"/>
                <a:sym typeface="Calibri"/>
              </a:rPr>
              <a:t>A bottom-right helper that answers questions, onboards new agents, and summarizes each user's own role-scoped numbers. It explains and summarizes; it never decides or changes records.</a:t>
            </a:r>
            <a:endParaRPr b="0" i="0" sz="1300" u="none" cap="none" strike="noStrike">
              <a:solidFill>
                <a:schemeClr val="dk1"/>
              </a:solidFill>
              <a:latin typeface="Calibri"/>
              <a:ea typeface="Calibri"/>
              <a:cs typeface="Calibri"/>
              <a:sym typeface="Calibri"/>
            </a:endParaRPr>
          </a:p>
        </p:txBody>
      </p:sp>
      <p:sp>
        <p:nvSpPr>
          <p:cNvPr id="520" name="Google Shape;520;p15"/>
          <p:cNvSpPr/>
          <p:nvPr/>
        </p:nvSpPr>
        <p:spPr>
          <a:xfrm>
            <a:off x="7909560" y="2011680"/>
            <a:ext cx="3383280" cy="301752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5"/>
          <p:cNvSpPr/>
          <p:nvPr/>
        </p:nvSpPr>
        <p:spPr>
          <a:xfrm>
            <a:off x="7909560" y="2011680"/>
            <a:ext cx="3383280" cy="109728"/>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5"/>
          <p:cNvSpPr/>
          <p:nvPr/>
        </p:nvSpPr>
        <p:spPr>
          <a:xfrm>
            <a:off x="8183880" y="2286000"/>
            <a:ext cx="2834640" cy="73152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1C3A5E"/>
              </a:buClr>
              <a:buSzPts val="1800"/>
              <a:buFont typeface="Georgia"/>
              <a:buNone/>
            </a:pPr>
            <a:r>
              <a:rPr b="1" i="0" lang="en-US" sz="1800" u="none" cap="none" strike="noStrike">
                <a:solidFill>
                  <a:srgbClr val="1C3A5E"/>
                </a:solidFill>
                <a:latin typeface="Georgia"/>
                <a:ea typeface="Georgia"/>
                <a:cs typeface="Georgia"/>
                <a:sym typeface="Georgia"/>
              </a:rPr>
              <a:t>Managed knowledge base</a:t>
            </a:r>
            <a:endParaRPr b="0" i="0" sz="1800" u="none" cap="none" strike="noStrike">
              <a:solidFill>
                <a:schemeClr val="dk1"/>
              </a:solidFill>
              <a:latin typeface="Calibri"/>
              <a:ea typeface="Calibri"/>
              <a:cs typeface="Calibri"/>
              <a:sym typeface="Calibri"/>
            </a:endParaRPr>
          </a:p>
        </p:txBody>
      </p:sp>
      <p:sp>
        <p:nvSpPr>
          <p:cNvPr id="523" name="Google Shape;523;p15"/>
          <p:cNvSpPr/>
          <p:nvPr/>
        </p:nvSpPr>
        <p:spPr>
          <a:xfrm>
            <a:off x="8183880" y="3154680"/>
            <a:ext cx="2834640" cy="17830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0F172A"/>
              </a:buClr>
              <a:buSzPts val="1300"/>
              <a:buFont typeface="Calibri"/>
              <a:buNone/>
            </a:pPr>
            <a:r>
              <a:rPr b="0" i="0" lang="en-US" sz="1300" u="none" cap="none" strike="noStrike">
                <a:solidFill>
                  <a:srgbClr val="0F172A"/>
                </a:solidFill>
                <a:latin typeface="Calibri"/>
                <a:ea typeface="Calibri"/>
                <a:cs typeface="Calibri"/>
                <a:sym typeface="Calibri"/>
              </a:rPr>
              <a:t>Admins upload the documents the assistant is grounded in — chunked, embedded, and indexed — so it can cite only approved sources. Observability measures whether answers stay grounded.</a:t>
            </a:r>
            <a:endParaRPr b="0" i="0" sz="1300" u="none" cap="none" strike="noStrike">
              <a:solidFill>
                <a:schemeClr val="dk1"/>
              </a:solidFill>
              <a:latin typeface="Calibri"/>
              <a:ea typeface="Calibri"/>
              <a:cs typeface="Calibri"/>
              <a:sym typeface="Calibri"/>
            </a:endParaRPr>
          </a:p>
        </p:txBody>
      </p:sp>
      <p:sp>
        <p:nvSpPr>
          <p:cNvPr id="524" name="Google Shape;524;p15"/>
          <p:cNvSpPr/>
          <p:nvPr/>
        </p:nvSpPr>
        <p:spPr>
          <a:xfrm>
            <a:off x="685800" y="5257800"/>
            <a:ext cx="1081735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3A5E"/>
              </a:buClr>
              <a:buSzPts val="1300"/>
              <a:buFont typeface="Calibri"/>
              <a:buNone/>
            </a:pPr>
            <a:r>
              <a:rPr b="0" i="1" lang="en-US" sz="1300" u="none" cap="none" strike="noStrike">
                <a:solidFill>
                  <a:srgbClr val="1C3A5E"/>
                </a:solidFill>
                <a:latin typeface="Calibri"/>
                <a:ea typeface="Calibri"/>
                <a:cs typeface="Calibri"/>
                <a:sym typeface="Calibri"/>
              </a:rPr>
              <a:t>Each builds on the same access scoping and the same self-hostable, in-boundary AI stack.</a:t>
            </a:r>
            <a:endParaRPr b="0" i="0" sz="1300" u="none" cap="none" strike="noStrike">
              <a:solidFill>
                <a:schemeClr val="dk1"/>
              </a:solidFill>
              <a:latin typeface="Calibri"/>
              <a:ea typeface="Calibri"/>
              <a:cs typeface="Calibri"/>
              <a:sym typeface="Calibri"/>
            </a:endParaRPr>
          </a:p>
        </p:txBody>
      </p:sp>
      <p:sp>
        <p:nvSpPr>
          <p:cNvPr id="525" name="Google Shape;525;p15"/>
          <p:cNvSpPr/>
          <p:nvPr/>
        </p:nvSpPr>
        <p:spPr>
          <a:xfrm>
            <a:off x="685800" y="6446520"/>
            <a:ext cx="6400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AI Label Verification · Approach &amp; Design</a:t>
            </a:r>
            <a:endParaRPr b="0" i="0" sz="900" u="none" cap="none" strike="noStrike">
              <a:solidFill>
                <a:schemeClr val="dk1"/>
              </a:solidFill>
              <a:latin typeface="Calibri"/>
              <a:ea typeface="Calibri"/>
              <a:cs typeface="Calibri"/>
              <a:sym typeface="Calibri"/>
            </a:endParaRPr>
          </a:p>
        </p:txBody>
      </p:sp>
      <p:sp>
        <p:nvSpPr>
          <p:cNvPr id="526" name="Google Shape;526;p15"/>
          <p:cNvSpPr/>
          <p:nvPr/>
        </p:nvSpPr>
        <p:spPr>
          <a:xfrm>
            <a:off x="11185855" y="6446520"/>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13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531" name="Shape 531"/>
        <p:cNvGrpSpPr/>
        <p:nvPr/>
      </p:nvGrpSpPr>
      <p:grpSpPr>
        <a:xfrm>
          <a:off x="0" y="0"/>
          <a:ext cx="0" cy="0"/>
          <a:chOff x="0" y="0"/>
          <a:chExt cx="0" cy="0"/>
        </a:xfrm>
      </p:grpSpPr>
      <p:sp>
        <p:nvSpPr>
          <p:cNvPr id="532" name="Google Shape;532;p16"/>
          <p:cNvSpPr/>
          <p:nvPr/>
        </p:nvSpPr>
        <p:spPr>
          <a:xfrm>
            <a:off x="685800" y="457200"/>
            <a:ext cx="107899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63EB"/>
              </a:buClr>
              <a:buSzPts val="1200"/>
              <a:buFont typeface="Calibri"/>
              <a:buNone/>
            </a:pPr>
            <a:r>
              <a:rPr b="1" i="0" lang="en-US" sz="1200" u="none" cap="none" strike="noStrike">
                <a:solidFill>
                  <a:srgbClr val="2563EB"/>
                </a:solidFill>
                <a:latin typeface="Calibri"/>
                <a:ea typeface="Calibri"/>
                <a:cs typeface="Calibri"/>
                <a:sym typeface="Calibri"/>
              </a:rPr>
              <a:t>HOW IT FITS THE TTB PROCESS</a:t>
            </a:r>
            <a:endParaRPr b="0" i="0" sz="1200" u="none" cap="none" strike="noStrike">
              <a:solidFill>
                <a:schemeClr val="dk1"/>
              </a:solidFill>
              <a:latin typeface="Calibri"/>
              <a:ea typeface="Calibri"/>
              <a:cs typeface="Calibri"/>
              <a:sym typeface="Calibri"/>
            </a:endParaRPr>
          </a:p>
        </p:txBody>
      </p:sp>
      <p:sp>
        <p:nvSpPr>
          <p:cNvPr id="533" name="Google Shape;533;p16"/>
          <p:cNvSpPr/>
          <p:nvPr/>
        </p:nvSpPr>
        <p:spPr>
          <a:xfrm>
            <a:off x="685800" y="749808"/>
            <a:ext cx="107899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Georgia"/>
              <a:buNone/>
            </a:pPr>
            <a:r>
              <a:rPr b="1" i="0" lang="en-US" sz="3200" u="none" cap="none" strike="noStrike">
                <a:solidFill>
                  <a:srgbClr val="0F172A"/>
                </a:solidFill>
                <a:latin typeface="Georgia"/>
                <a:ea typeface="Georgia"/>
                <a:cs typeface="Georgia"/>
                <a:sym typeface="Georgia"/>
              </a:rPr>
              <a:t>Where applications come from, where decisions go</a:t>
            </a:r>
            <a:endParaRPr b="0" i="0" sz="3200" u="none" cap="none" strike="noStrike">
              <a:solidFill>
                <a:schemeClr val="dk1"/>
              </a:solidFill>
              <a:latin typeface="Calibri"/>
              <a:ea typeface="Calibri"/>
              <a:cs typeface="Calibri"/>
              <a:sym typeface="Calibri"/>
            </a:endParaRPr>
          </a:p>
        </p:txBody>
      </p:sp>
      <p:sp>
        <p:nvSpPr>
          <p:cNvPr id="534" name="Google Shape;534;p16"/>
          <p:cNvSpPr/>
          <p:nvPr/>
        </p:nvSpPr>
        <p:spPr>
          <a:xfrm>
            <a:off x="731520" y="2240280"/>
            <a:ext cx="2377440" cy="137160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6"/>
          <p:cNvSpPr/>
          <p:nvPr/>
        </p:nvSpPr>
        <p:spPr>
          <a:xfrm>
            <a:off x="731520" y="2240280"/>
            <a:ext cx="2377440" cy="91440"/>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6"/>
          <p:cNvSpPr/>
          <p:nvPr/>
        </p:nvSpPr>
        <p:spPr>
          <a:xfrm>
            <a:off x="868680" y="2514600"/>
            <a:ext cx="21031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600"/>
              <a:buFont typeface="Georgia"/>
              <a:buNone/>
            </a:pPr>
            <a:r>
              <a:rPr b="1" i="0" lang="en-US" sz="1600" u="none" cap="none" strike="noStrike">
                <a:solidFill>
                  <a:srgbClr val="0F172A"/>
                </a:solidFill>
                <a:latin typeface="Georgia"/>
                <a:ea typeface="Georgia"/>
                <a:cs typeface="Georgia"/>
                <a:sym typeface="Georgia"/>
              </a:rPr>
              <a:t>Applicant</a:t>
            </a:r>
            <a:endParaRPr b="0" i="0" sz="1600" u="none" cap="none" strike="noStrike">
              <a:solidFill>
                <a:schemeClr val="dk1"/>
              </a:solidFill>
              <a:latin typeface="Calibri"/>
              <a:ea typeface="Calibri"/>
              <a:cs typeface="Calibri"/>
              <a:sym typeface="Calibri"/>
            </a:endParaRPr>
          </a:p>
        </p:txBody>
      </p:sp>
      <p:sp>
        <p:nvSpPr>
          <p:cNvPr id="537" name="Google Shape;537;p16"/>
          <p:cNvSpPr/>
          <p:nvPr/>
        </p:nvSpPr>
        <p:spPr>
          <a:xfrm>
            <a:off x="868680" y="3017520"/>
            <a:ext cx="21031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7F"/>
              </a:buClr>
              <a:buSzPts val="1150"/>
              <a:buFont typeface="Calibri"/>
              <a:buNone/>
            </a:pPr>
            <a:r>
              <a:rPr b="0" i="0" lang="en-US" sz="1150" u="none" cap="none" strike="noStrike">
                <a:solidFill>
                  <a:srgbClr val="5B6B7F"/>
                </a:solidFill>
                <a:latin typeface="Calibri"/>
                <a:ea typeface="Calibri"/>
                <a:cs typeface="Calibri"/>
                <a:sym typeface="Calibri"/>
              </a:rPr>
              <a:t>submits via COLAs Online</a:t>
            </a:r>
            <a:endParaRPr b="0" i="0" sz="1150" u="none" cap="none" strike="noStrike">
              <a:solidFill>
                <a:schemeClr val="dk1"/>
              </a:solidFill>
              <a:latin typeface="Calibri"/>
              <a:ea typeface="Calibri"/>
              <a:cs typeface="Calibri"/>
              <a:sym typeface="Calibri"/>
            </a:endParaRPr>
          </a:p>
        </p:txBody>
      </p:sp>
      <p:sp>
        <p:nvSpPr>
          <p:cNvPr id="538" name="Google Shape;538;p16"/>
          <p:cNvSpPr/>
          <p:nvPr/>
        </p:nvSpPr>
        <p:spPr>
          <a:xfrm>
            <a:off x="3127248" y="2651760"/>
            <a:ext cx="5029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8A8"/>
              </a:buClr>
              <a:buSzPts val="2400"/>
              <a:buFont typeface="Georgia"/>
              <a:buNone/>
            </a:pPr>
            <a:r>
              <a:rPr b="1" i="0" lang="en-US" sz="2400" u="none" cap="none" strike="noStrike">
                <a:solidFill>
                  <a:srgbClr val="8A98A8"/>
                </a:solidFill>
                <a:latin typeface="Georgia"/>
                <a:ea typeface="Georgia"/>
                <a:cs typeface="Georgia"/>
                <a:sym typeface="Georgia"/>
              </a:rPr>
              <a:t>→</a:t>
            </a:r>
            <a:endParaRPr b="0" i="0" sz="2400" u="none" cap="none" strike="noStrike">
              <a:solidFill>
                <a:schemeClr val="dk1"/>
              </a:solidFill>
              <a:latin typeface="Calibri"/>
              <a:ea typeface="Calibri"/>
              <a:cs typeface="Calibri"/>
              <a:sym typeface="Calibri"/>
            </a:endParaRPr>
          </a:p>
        </p:txBody>
      </p:sp>
      <p:sp>
        <p:nvSpPr>
          <p:cNvPr id="539" name="Google Shape;539;p16"/>
          <p:cNvSpPr/>
          <p:nvPr/>
        </p:nvSpPr>
        <p:spPr>
          <a:xfrm>
            <a:off x="3611880" y="2240280"/>
            <a:ext cx="2377440" cy="137160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6"/>
          <p:cNvSpPr/>
          <p:nvPr/>
        </p:nvSpPr>
        <p:spPr>
          <a:xfrm>
            <a:off x="3611880" y="2240280"/>
            <a:ext cx="2377440" cy="91440"/>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6"/>
          <p:cNvSpPr/>
          <p:nvPr/>
        </p:nvSpPr>
        <p:spPr>
          <a:xfrm>
            <a:off x="3749040" y="2514600"/>
            <a:ext cx="21031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600"/>
              <a:buFont typeface="Georgia"/>
              <a:buNone/>
            </a:pPr>
            <a:r>
              <a:rPr b="1" i="0" lang="en-US" sz="1600" u="none" cap="none" strike="noStrike">
                <a:solidFill>
                  <a:srgbClr val="0F172A"/>
                </a:solidFill>
                <a:latin typeface="Georgia"/>
                <a:ea typeface="Georgia"/>
                <a:cs typeface="Georgia"/>
                <a:sym typeface="Georgia"/>
              </a:rPr>
              <a:t>COLAs Online</a:t>
            </a:r>
            <a:endParaRPr b="0" i="0" sz="1600" u="none" cap="none" strike="noStrike">
              <a:solidFill>
                <a:schemeClr val="dk1"/>
              </a:solidFill>
              <a:latin typeface="Calibri"/>
              <a:ea typeface="Calibri"/>
              <a:cs typeface="Calibri"/>
              <a:sym typeface="Calibri"/>
            </a:endParaRPr>
          </a:p>
        </p:txBody>
      </p:sp>
      <p:sp>
        <p:nvSpPr>
          <p:cNvPr id="542" name="Google Shape;542;p16"/>
          <p:cNvSpPr/>
          <p:nvPr/>
        </p:nvSpPr>
        <p:spPr>
          <a:xfrm>
            <a:off x="3749040" y="3017520"/>
            <a:ext cx="21031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7F"/>
              </a:buClr>
              <a:buSzPts val="1150"/>
              <a:buFont typeface="Calibri"/>
              <a:buNone/>
            </a:pPr>
            <a:r>
              <a:rPr b="0" i="0" lang="en-US" sz="1150" u="none" cap="none" strike="noStrike">
                <a:solidFill>
                  <a:srgbClr val="5B6B7F"/>
                </a:solidFill>
                <a:latin typeface="Calibri"/>
                <a:ea typeface="Calibri"/>
                <a:cs typeface="Calibri"/>
                <a:sym typeface="Calibri"/>
              </a:rPr>
              <a:t>system of record</a:t>
            </a:r>
            <a:endParaRPr b="0" i="0" sz="1150" u="none" cap="none" strike="noStrike">
              <a:solidFill>
                <a:schemeClr val="dk1"/>
              </a:solidFill>
              <a:latin typeface="Calibri"/>
              <a:ea typeface="Calibri"/>
              <a:cs typeface="Calibri"/>
              <a:sym typeface="Calibri"/>
            </a:endParaRPr>
          </a:p>
        </p:txBody>
      </p:sp>
      <p:sp>
        <p:nvSpPr>
          <p:cNvPr id="543" name="Google Shape;543;p16"/>
          <p:cNvSpPr/>
          <p:nvPr/>
        </p:nvSpPr>
        <p:spPr>
          <a:xfrm>
            <a:off x="6007608" y="2651760"/>
            <a:ext cx="5029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8A8"/>
              </a:buClr>
              <a:buSzPts val="2400"/>
              <a:buFont typeface="Georgia"/>
              <a:buNone/>
            </a:pPr>
            <a:r>
              <a:rPr b="1" i="0" lang="en-US" sz="2400" u="none" cap="none" strike="noStrike">
                <a:solidFill>
                  <a:srgbClr val="8A98A8"/>
                </a:solidFill>
                <a:latin typeface="Georgia"/>
                <a:ea typeface="Georgia"/>
                <a:cs typeface="Georgia"/>
                <a:sym typeface="Georgia"/>
              </a:rPr>
              <a:t>→</a:t>
            </a:r>
            <a:endParaRPr b="0" i="0" sz="2400" u="none" cap="none" strike="noStrike">
              <a:solidFill>
                <a:schemeClr val="dk1"/>
              </a:solidFill>
              <a:latin typeface="Calibri"/>
              <a:ea typeface="Calibri"/>
              <a:cs typeface="Calibri"/>
              <a:sym typeface="Calibri"/>
            </a:endParaRPr>
          </a:p>
        </p:txBody>
      </p:sp>
      <p:sp>
        <p:nvSpPr>
          <p:cNvPr id="544" name="Google Shape;544;p16"/>
          <p:cNvSpPr/>
          <p:nvPr/>
        </p:nvSpPr>
        <p:spPr>
          <a:xfrm>
            <a:off x="6492240" y="2240280"/>
            <a:ext cx="2377440" cy="137160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6"/>
          <p:cNvSpPr/>
          <p:nvPr/>
        </p:nvSpPr>
        <p:spPr>
          <a:xfrm>
            <a:off x="6492240" y="2240280"/>
            <a:ext cx="2377440" cy="91440"/>
          </a:xfrm>
          <a:prstGeom prst="rect">
            <a:avLst/>
          </a:prstGeom>
          <a:solidFill>
            <a:srgbClr val="1580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6"/>
          <p:cNvSpPr/>
          <p:nvPr/>
        </p:nvSpPr>
        <p:spPr>
          <a:xfrm>
            <a:off x="6629400" y="2514600"/>
            <a:ext cx="21031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600"/>
              <a:buFont typeface="Georgia"/>
              <a:buNone/>
            </a:pPr>
            <a:r>
              <a:rPr b="1" i="0" lang="en-US" sz="1600" u="none" cap="none" strike="noStrike">
                <a:solidFill>
                  <a:srgbClr val="0F172A"/>
                </a:solidFill>
                <a:latin typeface="Georgia"/>
                <a:ea typeface="Georgia"/>
                <a:cs typeface="Georgia"/>
                <a:sym typeface="Georgia"/>
              </a:rPr>
              <a:t>LabelCheck</a:t>
            </a:r>
            <a:endParaRPr b="0" i="0" sz="1600" u="none" cap="none" strike="noStrike">
              <a:solidFill>
                <a:schemeClr val="dk1"/>
              </a:solidFill>
              <a:latin typeface="Calibri"/>
              <a:ea typeface="Calibri"/>
              <a:cs typeface="Calibri"/>
              <a:sym typeface="Calibri"/>
            </a:endParaRPr>
          </a:p>
        </p:txBody>
      </p:sp>
      <p:sp>
        <p:nvSpPr>
          <p:cNvPr id="547" name="Google Shape;547;p16"/>
          <p:cNvSpPr/>
          <p:nvPr/>
        </p:nvSpPr>
        <p:spPr>
          <a:xfrm>
            <a:off x="6629400" y="3017520"/>
            <a:ext cx="21031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7F"/>
              </a:buClr>
              <a:buSzPts val="1150"/>
              <a:buFont typeface="Calibri"/>
              <a:buNone/>
            </a:pPr>
            <a:r>
              <a:rPr b="0" i="0" lang="en-US" sz="1150" u="none" cap="none" strike="noStrike">
                <a:solidFill>
                  <a:srgbClr val="5B6B7F"/>
                </a:solidFill>
                <a:latin typeface="Calibri"/>
                <a:ea typeface="Calibri"/>
                <a:cs typeface="Calibri"/>
                <a:sym typeface="Calibri"/>
              </a:rPr>
              <a:t>verify · triage · agent decides</a:t>
            </a:r>
            <a:endParaRPr b="0" i="0" sz="1150" u="none" cap="none" strike="noStrike">
              <a:solidFill>
                <a:schemeClr val="dk1"/>
              </a:solidFill>
              <a:latin typeface="Calibri"/>
              <a:ea typeface="Calibri"/>
              <a:cs typeface="Calibri"/>
              <a:sym typeface="Calibri"/>
            </a:endParaRPr>
          </a:p>
        </p:txBody>
      </p:sp>
      <p:sp>
        <p:nvSpPr>
          <p:cNvPr id="548" name="Google Shape;548;p16"/>
          <p:cNvSpPr/>
          <p:nvPr/>
        </p:nvSpPr>
        <p:spPr>
          <a:xfrm>
            <a:off x="8887968" y="2651760"/>
            <a:ext cx="5029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8A8"/>
              </a:buClr>
              <a:buSzPts val="2400"/>
              <a:buFont typeface="Georgia"/>
              <a:buNone/>
            </a:pPr>
            <a:r>
              <a:rPr b="1" i="0" lang="en-US" sz="2400" u="none" cap="none" strike="noStrike">
                <a:solidFill>
                  <a:srgbClr val="8A98A8"/>
                </a:solidFill>
                <a:latin typeface="Georgia"/>
                <a:ea typeface="Georgia"/>
                <a:cs typeface="Georgia"/>
                <a:sym typeface="Georgia"/>
              </a:rPr>
              <a:t>→</a:t>
            </a:r>
            <a:endParaRPr b="0" i="0" sz="2400" u="none" cap="none" strike="noStrike">
              <a:solidFill>
                <a:schemeClr val="dk1"/>
              </a:solidFill>
              <a:latin typeface="Calibri"/>
              <a:ea typeface="Calibri"/>
              <a:cs typeface="Calibri"/>
              <a:sym typeface="Calibri"/>
            </a:endParaRPr>
          </a:p>
        </p:txBody>
      </p:sp>
      <p:sp>
        <p:nvSpPr>
          <p:cNvPr id="549" name="Google Shape;549;p16"/>
          <p:cNvSpPr/>
          <p:nvPr/>
        </p:nvSpPr>
        <p:spPr>
          <a:xfrm>
            <a:off x="9372600" y="2240280"/>
            <a:ext cx="2377440" cy="137160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6"/>
          <p:cNvSpPr/>
          <p:nvPr/>
        </p:nvSpPr>
        <p:spPr>
          <a:xfrm>
            <a:off x="9372600" y="2240280"/>
            <a:ext cx="2377440" cy="91440"/>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6"/>
          <p:cNvSpPr/>
          <p:nvPr/>
        </p:nvSpPr>
        <p:spPr>
          <a:xfrm>
            <a:off x="9509760" y="2514600"/>
            <a:ext cx="21031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600"/>
              <a:buFont typeface="Georgia"/>
              <a:buNone/>
            </a:pPr>
            <a:r>
              <a:rPr b="1" i="0" lang="en-US" sz="1600" u="none" cap="none" strike="noStrike">
                <a:solidFill>
                  <a:srgbClr val="0F172A"/>
                </a:solidFill>
                <a:latin typeface="Georgia"/>
                <a:ea typeface="Georgia"/>
                <a:cs typeface="Georgia"/>
                <a:sym typeface="Georgia"/>
              </a:rPr>
              <a:t>COLAs Online</a:t>
            </a:r>
            <a:endParaRPr b="0" i="0" sz="1600" u="none" cap="none" strike="noStrike">
              <a:solidFill>
                <a:schemeClr val="dk1"/>
              </a:solidFill>
              <a:latin typeface="Calibri"/>
              <a:ea typeface="Calibri"/>
              <a:cs typeface="Calibri"/>
              <a:sym typeface="Calibri"/>
            </a:endParaRPr>
          </a:p>
        </p:txBody>
      </p:sp>
      <p:sp>
        <p:nvSpPr>
          <p:cNvPr id="552" name="Google Shape;552;p16"/>
          <p:cNvSpPr/>
          <p:nvPr/>
        </p:nvSpPr>
        <p:spPr>
          <a:xfrm>
            <a:off x="9509760" y="3017520"/>
            <a:ext cx="21031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7F"/>
              </a:buClr>
              <a:buSzPts val="1150"/>
              <a:buFont typeface="Calibri"/>
              <a:buNone/>
            </a:pPr>
            <a:r>
              <a:rPr b="0" i="0" lang="en-US" sz="1150" u="none" cap="none" strike="noStrike">
                <a:solidFill>
                  <a:srgbClr val="5B6B7F"/>
                </a:solidFill>
                <a:latin typeface="Calibri"/>
                <a:ea typeface="Calibri"/>
                <a:cs typeface="Calibri"/>
                <a:sym typeface="Calibri"/>
              </a:rPr>
              <a:t>notifies applicant · publishes</a:t>
            </a:r>
            <a:endParaRPr b="0" i="0" sz="1150" u="none" cap="none" strike="noStrike">
              <a:solidFill>
                <a:schemeClr val="dk1"/>
              </a:solidFill>
              <a:latin typeface="Calibri"/>
              <a:ea typeface="Calibri"/>
              <a:cs typeface="Calibri"/>
              <a:sym typeface="Calibri"/>
            </a:endParaRPr>
          </a:p>
        </p:txBody>
      </p:sp>
      <p:sp>
        <p:nvSpPr>
          <p:cNvPr id="553" name="Google Shape;553;p16"/>
          <p:cNvSpPr/>
          <p:nvPr/>
        </p:nvSpPr>
        <p:spPr>
          <a:xfrm>
            <a:off x="685800" y="4114800"/>
            <a:ext cx="10789920" cy="1325880"/>
          </a:xfrm>
          <a:prstGeom prst="roundRect">
            <a:avLst>
              <a:gd fmla="val 6897" name="adj"/>
            </a:avLst>
          </a:prstGeom>
          <a:solidFill>
            <a:srgbClr val="EEF3FA"/>
          </a:solidFill>
          <a:ln cap="flat" cmpd="sng" w="12700">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6"/>
          <p:cNvSpPr/>
          <p:nvPr/>
        </p:nvSpPr>
        <p:spPr>
          <a:xfrm>
            <a:off x="1005840" y="4251960"/>
            <a:ext cx="10149840" cy="10515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1C3A5E"/>
              </a:buClr>
              <a:buSzPts val="1400"/>
              <a:buFont typeface="Calibri"/>
              <a:buNone/>
            </a:pPr>
            <a:r>
              <a:rPr b="1" i="0" lang="en-US" sz="1400" u="none" cap="none" strike="noStrike">
                <a:solidFill>
                  <a:srgbClr val="1C3A5E"/>
                </a:solidFill>
                <a:latin typeface="Calibri"/>
                <a:ea typeface="Calibri"/>
                <a:cs typeface="Calibri"/>
                <a:sym typeface="Calibri"/>
              </a:rPr>
              <a:t>In-boundary by design.  </a:t>
            </a:r>
            <a:r>
              <a:rPr b="0" i="0" lang="en-US" sz="1400" u="none" cap="none" strike="noStrike">
                <a:solidFill>
                  <a:srgbClr val="0F172A"/>
                </a:solidFill>
                <a:latin typeface="Calibri"/>
                <a:ea typeface="Calibri"/>
                <a:cs typeface="Calibri"/>
                <a:sym typeface="Calibri"/>
              </a:rPr>
              <a:t>Our tool reads applications from and writes dispositions back to COLAs Online, all inside the agency’s Azure boundary — never the public internet. </a:t>
            </a:r>
            <a:r>
              <a:rPr b="1" i="0" lang="en-US" sz="1400" u="none" cap="none" strike="noStrike">
                <a:solidFill>
                  <a:srgbClr val="0F172A"/>
                </a:solidFill>
                <a:latin typeface="Calibri"/>
                <a:ea typeface="Calibri"/>
                <a:cs typeface="Calibri"/>
                <a:sym typeface="Calibri"/>
              </a:rPr>
              <a:t>It sends no email: COLAs Online owns all applicant notification and Public Registry publishing.</a:t>
            </a:r>
            <a:endParaRPr b="0" i="0" sz="1400" u="none" cap="none" strike="noStrike">
              <a:solidFill>
                <a:schemeClr val="dk1"/>
              </a:solidFill>
              <a:latin typeface="Calibri"/>
              <a:ea typeface="Calibri"/>
              <a:cs typeface="Calibri"/>
              <a:sym typeface="Calibri"/>
            </a:endParaRPr>
          </a:p>
        </p:txBody>
      </p:sp>
      <p:sp>
        <p:nvSpPr>
          <p:cNvPr id="555" name="Google Shape;555;p16"/>
          <p:cNvSpPr/>
          <p:nvPr/>
        </p:nvSpPr>
        <p:spPr>
          <a:xfrm>
            <a:off x="685800" y="6446520"/>
            <a:ext cx="6400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AI Label Verification · Approach &amp; Design</a:t>
            </a:r>
            <a:endParaRPr b="0" i="0" sz="900" u="none" cap="none" strike="noStrike">
              <a:solidFill>
                <a:schemeClr val="dk1"/>
              </a:solidFill>
              <a:latin typeface="Calibri"/>
              <a:ea typeface="Calibri"/>
              <a:cs typeface="Calibri"/>
              <a:sym typeface="Calibri"/>
            </a:endParaRPr>
          </a:p>
        </p:txBody>
      </p:sp>
      <p:sp>
        <p:nvSpPr>
          <p:cNvPr id="556" name="Google Shape;556;p16"/>
          <p:cNvSpPr/>
          <p:nvPr/>
        </p:nvSpPr>
        <p:spPr>
          <a:xfrm>
            <a:off x="11185855" y="6446520"/>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14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561" name="Shape 561"/>
        <p:cNvGrpSpPr/>
        <p:nvPr/>
      </p:nvGrpSpPr>
      <p:grpSpPr>
        <a:xfrm>
          <a:off x="0" y="0"/>
          <a:ext cx="0" cy="0"/>
          <a:chOff x="0" y="0"/>
          <a:chExt cx="0" cy="0"/>
        </a:xfrm>
      </p:grpSpPr>
      <p:sp>
        <p:nvSpPr>
          <p:cNvPr id="562" name="Google Shape;562;p17"/>
          <p:cNvSpPr/>
          <p:nvPr/>
        </p:nvSpPr>
        <p:spPr>
          <a:xfrm>
            <a:off x="685800" y="457200"/>
            <a:ext cx="107899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63EB"/>
              </a:buClr>
              <a:buSzPts val="1200"/>
              <a:buFont typeface="Calibri"/>
              <a:buNone/>
            </a:pPr>
            <a:r>
              <a:rPr b="1" i="0" lang="en-US" sz="1200" u="none" cap="none" strike="noStrike">
                <a:solidFill>
                  <a:srgbClr val="2563EB"/>
                </a:solidFill>
                <a:latin typeface="Calibri"/>
                <a:ea typeface="Calibri"/>
                <a:cs typeface="Calibri"/>
                <a:sym typeface="Calibri"/>
              </a:rPr>
              <a:t>ARCHITECTURE &amp; STACK</a:t>
            </a:r>
            <a:endParaRPr b="0" i="0" sz="1200" u="none" cap="none" strike="noStrike">
              <a:solidFill>
                <a:schemeClr val="dk1"/>
              </a:solidFill>
              <a:latin typeface="Calibri"/>
              <a:ea typeface="Calibri"/>
              <a:cs typeface="Calibri"/>
              <a:sym typeface="Calibri"/>
            </a:endParaRPr>
          </a:p>
        </p:txBody>
      </p:sp>
      <p:sp>
        <p:nvSpPr>
          <p:cNvPr id="563" name="Google Shape;563;p17"/>
          <p:cNvSpPr/>
          <p:nvPr/>
        </p:nvSpPr>
        <p:spPr>
          <a:xfrm>
            <a:off x="685800" y="749808"/>
            <a:ext cx="107899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Georgia"/>
              <a:buNone/>
            </a:pPr>
            <a:r>
              <a:rPr b="1" i="0" lang="en-US" sz="3200" u="none" cap="none" strike="noStrike">
                <a:solidFill>
                  <a:srgbClr val="0F172A"/>
                </a:solidFill>
                <a:latin typeface="Georgia"/>
                <a:ea typeface="Georgia"/>
                <a:cs typeface="Georgia"/>
                <a:sym typeface="Georgia"/>
              </a:rPr>
              <a:t>Deliberately boring, appropriately scoped</a:t>
            </a:r>
            <a:endParaRPr b="0" i="0" sz="3200" u="none" cap="none" strike="noStrike">
              <a:solidFill>
                <a:schemeClr val="dk1"/>
              </a:solidFill>
              <a:latin typeface="Calibri"/>
              <a:ea typeface="Calibri"/>
              <a:cs typeface="Calibri"/>
              <a:sym typeface="Calibri"/>
            </a:endParaRPr>
          </a:p>
        </p:txBody>
      </p:sp>
      <p:sp>
        <p:nvSpPr>
          <p:cNvPr id="564" name="Google Shape;564;p17"/>
          <p:cNvSpPr/>
          <p:nvPr/>
        </p:nvSpPr>
        <p:spPr>
          <a:xfrm>
            <a:off x="685800" y="1965960"/>
            <a:ext cx="2331720" cy="91440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7"/>
          <p:cNvSpPr/>
          <p:nvPr/>
        </p:nvSpPr>
        <p:spPr>
          <a:xfrm>
            <a:off x="685800" y="1965960"/>
            <a:ext cx="233172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500"/>
              <a:buFont typeface="Calibri"/>
              <a:buNone/>
            </a:pPr>
            <a:r>
              <a:rPr b="1" i="0" lang="en-US" sz="1500" u="none" cap="none" strike="noStrike">
                <a:solidFill>
                  <a:srgbClr val="0F172A"/>
                </a:solidFill>
                <a:latin typeface="Calibri"/>
                <a:ea typeface="Calibri"/>
                <a:cs typeface="Calibri"/>
                <a:sym typeface="Calibri"/>
              </a:rPr>
              <a:t>Ingestion</a:t>
            </a:r>
            <a:endParaRPr b="0" i="0" sz="1500" u="none" cap="none" strike="noStrike">
              <a:solidFill>
                <a:schemeClr val="dk1"/>
              </a:solidFill>
              <a:latin typeface="Calibri"/>
              <a:ea typeface="Calibri"/>
              <a:cs typeface="Calibri"/>
              <a:sym typeface="Calibri"/>
            </a:endParaRPr>
          </a:p>
        </p:txBody>
      </p:sp>
      <p:sp>
        <p:nvSpPr>
          <p:cNvPr id="566" name="Google Shape;566;p17"/>
          <p:cNvSpPr/>
          <p:nvPr/>
        </p:nvSpPr>
        <p:spPr>
          <a:xfrm>
            <a:off x="2999232" y="1965960"/>
            <a:ext cx="27432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8A8"/>
              </a:buClr>
              <a:buSzPts val="2000"/>
              <a:buFont typeface="Georgia"/>
              <a:buNone/>
            </a:pPr>
            <a:r>
              <a:rPr b="1" i="0" lang="en-US" sz="2000" u="none" cap="none" strike="noStrike">
                <a:solidFill>
                  <a:srgbClr val="8A98A8"/>
                </a:solidFill>
                <a:latin typeface="Georgia"/>
                <a:ea typeface="Georgia"/>
                <a:cs typeface="Georgia"/>
                <a:sym typeface="Georgia"/>
              </a:rPr>
              <a:t>→</a:t>
            </a:r>
            <a:endParaRPr b="0" i="0" sz="2000" u="none" cap="none" strike="noStrike">
              <a:solidFill>
                <a:schemeClr val="dk1"/>
              </a:solidFill>
              <a:latin typeface="Calibri"/>
              <a:ea typeface="Calibri"/>
              <a:cs typeface="Calibri"/>
              <a:sym typeface="Calibri"/>
            </a:endParaRPr>
          </a:p>
        </p:txBody>
      </p:sp>
      <p:sp>
        <p:nvSpPr>
          <p:cNvPr id="567" name="Google Shape;567;p17"/>
          <p:cNvSpPr/>
          <p:nvPr/>
        </p:nvSpPr>
        <p:spPr>
          <a:xfrm>
            <a:off x="3291840" y="1965960"/>
            <a:ext cx="2331720" cy="91440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7"/>
          <p:cNvSpPr/>
          <p:nvPr/>
        </p:nvSpPr>
        <p:spPr>
          <a:xfrm>
            <a:off x="3291840" y="1965960"/>
            <a:ext cx="233172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500"/>
              <a:buFont typeface="Calibri"/>
              <a:buNone/>
            </a:pPr>
            <a:r>
              <a:rPr b="1" i="0" lang="en-US" sz="1500" u="none" cap="none" strike="noStrike">
                <a:solidFill>
                  <a:srgbClr val="0F172A"/>
                </a:solidFill>
                <a:latin typeface="Calibri"/>
                <a:ea typeface="Calibri"/>
                <a:cs typeface="Calibri"/>
                <a:sym typeface="Calibri"/>
              </a:rPr>
              <a:t>Extraction</a:t>
            </a:r>
            <a:endParaRPr b="0" i="0" sz="1500" u="none" cap="none" strike="noStrike">
              <a:solidFill>
                <a:schemeClr val="dk1"/>
              </a:solidFill>
              <a:latin typeface="Calibri"/>
              <a:ea typeface="Calibri"/>
              <a:cs typeface="Calibri"/>
              <a:sym typeface="Calibri"/>
            </a:endParaRPr>
          </a:p>
        </p:txBody>
      </p:sp>
      <p:sp>
        <p:nvSpPr>
          <p:cNvPr id="569" name="Google Shape;569;p17"/>
          <p:cNvSpPr/>
          <p:nvPr/>
        </p:nvSpPr>
        <p:spPr>
          <a:xfrm>
            <a:off x="5605272" y="1965960"/>
            <a:ext cx="27432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8A8"/>
              </a:buClr>
              <a:buSzPts val="2000"/>
              <a:buFont typeface="Georgia"/>
              <a:buNone/>
            </a:pPr>
            <a:r>
              <a:rPr b="1" i="0" lang="en-US" sz="2000" u="none" cap="none" strike="noStrike">
                <a:solidFill>
                  <a:srgbClr val="8A98A8"/>
                </a:solidFill>
                <a:latin typeface="Georgia"/>
                <a:ea typeface="Georgia"/>
                <a:cs typeface="Georgia"/>
                <a:sym typeface="Georgia"/>
              </a:rPr>
              <a:t>→</a:t>
            </a:r>
            <a:endParaRPr b="0" i="0" sz="2000" u="none" cap="none" strike="noStrike">
              <a:solidFill>
                <a:schemeClr val="dk1"/>
              </a:solidFill>
              <a:latin typeface="Calibri"/>
              <a:ea typeface="Calibri"/>
              <a:cs typeface="Calibri"/>
              <a:sym typeface="Calibri"/>
            </a:endParaRPr>
          </a:p>
        </p:txBody>
      </p:sp>
      <p:sp>
        <p:nvSpPr>
          <p:cNvPr id="570" name="Google Shape;570;p17"/>
          <p:cNvSpPr/>
          <p:nvPr/>
        </p:nvSpPr>
        <p:spPr>
          <a:xfrm>
            <a:off x="5897880" y="1965960"/>
            <a:ext cx="2331720" cy="91440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7"/>
          <p:cNvSpPr/>
          <p:nvPr/>
        </p:nvSpPr>
        <p:spPr>
          <a:xfrm>
            <a:off x="5897880" y="1965960"/>
            <a:ext cx="233172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500"/>
              <a:buFont typeface="Calibri"/>
              <a:buNone/>
            </a:pPr>
            <a:r>
              <a:rPr b="1" i="0" lang="en-US" sz="1500" u="none" cap="none" strike="noStrike">
                <a:solidFill>
                  <a:srgbClr val="0F172A"/>
                </a:solidFill>
                <a:latin typeface="Calibri"/>
                <a:ea typeface="Calibri"/>
                <a:cs typeface="Calibri"/>
                <a:sym typeface="Calibri"/>
              </a:rPr>
              <a:t>Matching</a:t>
            </a:r>
            <a:endParaRPr b="0" i="0" sz="1500" u="none" cap="none" strike="noStrike">
              <a:solidFill>
                <a:schemeClr val="dk1"/>
              </a:solidFill>
              <a:latin typeface="Calibri"/>
              <a:ea typeface="Calibri"/>
              <a:cs typeface="Calibri"/>
              <a:sym typeface="Calibri"/>
            </a:endParaRPr>
          </a:p>
        </p:txBody>
      </p:sp>
      <p:sp>
        <p:nvSpPr>
          <p:cNvPr id="572" name="Google Shape;572;p17"/>
          <p:cNvSpPr/>
          <p:nvPr/>
        </p:nvSpPr>
        <p:spPr>
          <a:xfrm>
            <a:off x="8211312" y="1965960"/>
            <a:ext cx="27432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8A8"/>
              </a:buClr>
              <a:buSzPts val="2000"/>
              <a:buFont typeface="Georgia"/>
              <a:buNone/>
            </a:pPr>
            <a:r>
              <a:rPr b="1" i="0" lang="en-US" sz="2000" u="none" cap="none" strike="noStrike">
                <a:solidFill>
                  <a:srgbClr val="8A98A8"/>
                </a:solidFill>
                <a:latin typeface="Georgia"/>
                <a:ea typeface="Georgia"/>
                <a:cs typeface="Georgia"/>
                <a:sym typeface="Georgia"/>
              </a:rPr>
              <a:t>→</a:t>
            </a:r>
            <a:endParaRPr b="0" i="0" sz="2000" u="none" cap="none" strike="noStrike">
              <a:solidFill>
                <a:schemeClr val="dk1"/>
              </a:solidFill>
              <a:latin typeface="Calibri"/>
              <a:ea typeface="Calibri"/>
              <a:cs typeface="Calibri"/>
              <a:sym typeface="Calibri"/>
            </a:endParaRPr>
          </a:p>
        </p:txBody>
      </p:sp>
      <p:sp>
        <p:nvSpPr>
          <p:cNvPr id="573" name="Google Shape;573;p17"/>
          <p:cNvSpPr/>
          <p:nvPr/>
        </p:nvSpPr>
        <p:spPr>
          <a:xfrm>
            <a:off x="8503920" y="1965960"/>
            <a:ext cx="2331720" cy="91440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7"/>
          <p:cNvSpPr/>
          <p:nvPr/>
        </p:nvSpPr>
        <p:spPr>
          <a:xfrm>
            <a:off x="8503920" y="1965960"/>
            <a:ext cx="233172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500"/>
              <a:buFont typeface="Calibri"/>
              <a:buNone/>
            </a:pPr>
            <a:r>
              <a:rPr b="1" i="0" lang="en-US" sz="1500" u="none" cap="none" strike="noStrike">
                <a:solidFill>
                  <a:srgbClr val="0F172A"/>
                </a:solidFill>
                <a:latin typeface="Calibri"/>
                <a:ea typeface="Calibri"/>
                <a:cs typeface="Calibri"/>
                <a:sym typeface="Calibri"/>
              </a:rPr>
              <a:t>Triage</a:t>
            </a:r>
            <a:endParaRPr b="0" i="0" sz="1500" u="none" cap="none" strike="noStrike">
              <a:solidFill>
                <a:schemeClr val="dk1"/>
              </a:solidFill>
              <a:latin typeface="Calibri"/>
              <a:ea typeface="Calibri"/>
              <a:cs typeface="Calibri"/>
              <a:sym typeface="Calibri"/>
            </a:endParaRPr>
          </a:p>
        </p:txBody>
      </p:sp>
      <p:sp>
        <p:nvSpPr>
          <p:cNvPr id="575" name="Google Shape;575;p17"/>
          <p:cNvSpPr/>
          <p:nvPr/>
        </p:nvSpPr>
        <p:spPr>
          <a:xfrm>
            <a:off x="685800" y="3035808"/>
            <a:ext cx="10515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250"/>
              <a:buFont typeface="Calibri"/>
              <a:buNone/>
            </a:pPr>
            <a:r>
              <a:rPr b="0" i="1" lang="en-US" sz="1250" u="none" cap="none" strike="noStrike">
                <a:solidFill>
                  <a:srgbClr val="5B6B7F"/>
                </a:solidFill>
                <a:latin typeface="Calibri"/>
                <a:ea typeface="Calibri"/>
                <a:cs typeface="Calibri"/>
                <a:sym typeface="Calibri"/>
              </a:rPr>
              <a:t>Vision model behind a swappable adapter  ·  mock adapter for offline dev &amp; tests  ·  a thin work router for the exception pool</a:t>
            </a:r>
            <a:endParaRPr b="0" i="0" sz="1250" u="none" cap="none" strike="noStrike">
              <a:solidFill>
                <a:schemeClr val="dk1"/>
              </a:solidFill>
              <a:latin typeface="Calibri"/>
              <a:ea typeface="Calibri"/>
              <a:cs typeface="Calibri"/>
              <a:sym typeface="Calibri"/>
            </a:endParaRPr>
          </a:p>
        </p:txBody>
      </p:sp>
      <p:sp>
        <p:nvSpPr>
          <p:cNvPr id="576" name="Google Shape;576;p17"/>
          <p:cNvSpPr/>
          <p:nvPr/>
        </p:nvSpPr>
        <p:spPr>
          <a:xfrm>
            <a:off x="685800" y="3703320"/>
            <a:ext cx="548640" cy="548640"/>
          </a:xfrm>
          <a:prstGeom prst="ellipse">
            <a:avLst/>
          </a:prstGeom>
          <a:solidFill>
            <a:srgbClr val="EAF0FB"/>
          </a:solidFill>
          <a:ln cap="flat" cmpd="sng" w="12700">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77" name="Google Shape;577;p17"/>
          <p:cNvPicPr preferRelativeResize="0"/>
          <p:nvPr/>
        </p:nvPicPr>
        <p:blipFill rotWithShape="1">
          <a:blip r:embed="rId3">
            <a:alphaModFix/>
          </a:blip>
          <a:srcRect b="0" l="0" r="0" t="0"/>
          <a:stretch/>
        </p:blipFill>
        <p:spPr>
          <a:xfrm>
            <a:off x="804672" y="3822192"/>
            <a:ext cx="310896" cy="310896"/>
          </a:xfrm>
          <a:prstGeom prst="rect">
            <a:avLst/>
          </a:prstGeom>
          <a:noFill/>
          <a:ln>
            <a:noFill/>
          </a:ln>
        </p:spPr>
      </p:pic>
      <p:sp>
        <p:nvSpPr>
          <p:cNvPr id="578" name="Google Shape;578;p17"/>
          <p:cNvSpPr/>
          <p:nvPr/>
        </p:nvSpPr>
        <p:spPr>
          <a:xfrm>
            <a:off x="1417320" y="3685032"/>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Calibri"/>
              <a:buNone/>
            </a:pPr>
            <a:r>
              <a:rPr b="1" i="0" lang="en-US" sz="1500" u="none" cap="none" strike="noStrike">
                <a:solidFill>
                  <a:srgbClr val="0F172A"/>
                </a:solidFill>
                <a:latin typeface="Calibri"/>
                <a:ea typeface="Calibri"/>
                <a:cs typeface="Calibri"/>
                <a:sym typeface="Calibri"/>
              </a:rPr>
              <a:t>TypeScript end-to-end</a:t>
            </a:r>
            <a:endParaRPr b="0" i="0" sz="1500" u="none" cap="none" strike="noStrike">
              <a:solidFill>
                <a:schemeClr val="dk1"/>
              </a:solidFill>
              <a:latin typeface="Calibri"/>
              <a:ea typeface="Calibri"/>
              <a:cs typeface="Calibri"/>
              <a:sym typeface="Calibri"/>
            </a:endParaRPr>
          </a:p>
        </p:txBody>
      </p:sp>
      <p:sp>
        <p:nvSpPr>
          <p:cNvPr id="579" name="Google Shape;579;p17"/>
          <p:cNvSpPr/>
          <p:nvPr/>
        </p:nvSpPr>
        <p:spPr>
          <a:xfrm>
            <a:off x="1417320" y="4014216"/>
            <a:ext cx="9692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250"/>
              <a:buFont typeface="Calibri"/>
              <a:buNone/>
            </a:pPr>
            <a:r>
              <a:rPr b="0" i="0" lang="en-US" sz="1250" u="none" cap="none" strike="noStrike">
                <a:solidFill>
                  <a:srgbClr val="5B6B7F"/>
                </a:solidFill>
                <a:latin typeface="Calibri"/>
                <a:ea typeface="Calibri"/>
                <a:cs typeface="Calibri"/>
                <a:sym typeface="Calibri"/>
              </a:rPr>
              <a:t>One language, one repo — Next.js front and back</a:t>
            </a:r>
            <a:endParaRPr b="0" i="0" sz="1250" u="none" cap="none" strike="noStrike">
              <a:solidFill>
                <a:schemeClr val="dk1"/>
              </a:solidFill>
              <a:latin typeface="Calibri"/>
              <a:ea typeface="Calibri"/>
              <a:cs typeface="Calibri"/>
              <a:sym typeface="Calibri"/>
            </a:endParaRPr>
          </a:p>
        </p:txBody>
      </p:sp>
      <p:sp>
        <p:nvSpPr>
          <p:cNvPr id="580" name="Google Shape;580;p17"/>
          <p:cNvSpPr/>
          <p:nvPr/>
        </p:nvSpPr>
        <p:spPr>
          <a:xfrm>
            <a:off x="685800" y="4544568"/>
            <a:ext cx="548640" cy="548640"/>
          </a:xfrm>
          <a:prstGeom prst="ellipse">
            <a:avLst/>
          </a:prstGeom>
          <a:solidFill>
            <a:srgbClr val="EAF0FB"/>
          </a:solidFill>
          <a:ln cap="flat" cmpd="sng" w="12700">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81" name="Google Shape;581;p17"/>
          <p:cNvPicPr preferRelativeResize="0"/>
          <p:nvPr/>
        </p:nvPicPr>
        <p:blipFill rotWithShape="1">
          <a:blip r:embed="rId4">
            <a:alphaModFix/>
          </a:blip>
          <a:srcRect b="0" l="0" r="0" t="0"/>
          <a:stretch/>
        </p:blipFill>
        <p:spPr>
          <a:xfrm>
            <a:off x="804672" y="4663440"/>
            <a:ext cx="310896" cy="310896"/>
          </a:xfrm>
          <a:prstGeom prst="rect">
            <a:avLst/>
          </a:prstGeom>
          <a:noFill/>
          <a:ln>
            <a:noFill/>
          </a:ln>
        </p:spPr>
      </p:pic>
      <p:sp>
        <p:nvSpPr>
          <p:cNvPr id="582" name="Google Shape;582;p17"/>
          <p:cNvSpPr/>
          <p:nvPr/>
        </p:nvSpPr>
        <p:spPr>
          <a:xfrm>
            <a:off x="1417320" y="452628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Calibri"/>
              <a:buNone/>
            </a:pPr>
            <a:r>
              <a:rPr b="1" i="0" lang="en-US" sz="1500" u="none" cap="none" strike="noStrike">
                <a:solidFill>
                  <a:srgbClr val="0F172A"/>
                </a:solidFill>
                <a:latin typeface="Calibri"/>
                <a:ea typeface="Calibri"/>
                <a:cs typeface="Calibri"/>
                <a:sym typeface="Calibri"/>
              </a:rPr>
              <a:t>Claude Sonnet 4.6 (default)</a:t>
            </a:r>
            <a:endParaRPr b="0" i="0" sz="1500" u="none" cap="none" strike="noStrike">
              <a:solidFill>
                <a:schemeClr val="dk1"/>
              </a:solidFill>
              <a:latin typeface="Calibri"/>
              <a:ea typeface="Calibri"/>
              <a:cs typeface="Calibri"/>
              <a:sym typeface="Calibri"/>
            </a:endParaRPr>
          </a:p>
        </p:txBody>
      </p:sp>
      <p:sp>
        <p:nvSpPr>
          <p:cNvPr id="583" name="Google Shape;583;p17"/>
          <p:cNvSpPr/>
          <p:nvPr/>
        </p:nvSpPr>
        <p:spPr>
          <a:xfrm>
            <a:off x="1417320" y="4855464"/>
            <a:ext cx="9692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250"/>
              <a:buFont typeface="Calibri"/>
              <a:buNone/>
            </a:pPr>
            <a:r>
              <a:rPr b="0" i="0" lang="en-US" sz="1250" u="none" cap="none" strike="noStrike">
                <a:solidFill>
                  <a:srgbClr val="5B6B7F"/>
                </a:solidFill>
                <a:latin typeface="Calibri"/>
                <a:ea typeface="Calibri"/>
                <a:cs typeface="Calibri"/>
                <a:sym typeface="Calibri"/>
              </a:rPr>
              <a:t>Accuracy-safe, swappable by config; one call per application</a:t>
            </a:r>
            <a:endParaRPr b="0" i="0" sz="1250" u="none" cap="none" strike="noStrike">
              <a:solidFill>
                <a:schemeClr val="dk1"/>
              </a:solidFill>
              <a:latin typeface="Calibri"/>
              <a:ea typeface="Calibri"/>
              <a:cs typeface="Calibri"/>
              <a:sym typeface="Calibri"/>
            </a:endParaRPr>
          </a:p>
        </p:txBody>
      </p:sp>
      <p:sp>
        <p:nvSpPr>
          <p:cNvPr id="584" name="Google Shape;584;p17"/>
          <p:cNvSpPr/>
          <p:nvPr/>
        </p:nvSpPr>
        <p:spPr>
          <a:xfrm>
            <a:off x="685800" y="5385816"/>
            <a:ext cx="548640" cy="548640"/>
          </a:xfrm>
          <a:prstGeom prst="ellipse">
            <a:avLst/>
          </a:prstGeom>
          <a:solidFill>
            <a:srgbClr val="EAF0FB"/>
          </a:solidFill>
          <a:ln cap="flat" cmpd="sng" w="12700">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85" name="Google Shape;585;p17"/>
          <p:cNvPicPr preferRelativeResize="0"/>
          <p:nvPr/>
        </p:nvPicPr>
        <p:blipFill rotWithShape="1">
          <a:blip r:embed="rId5">
            <a:alphaModFix/>
          </a:blip>
          <a:srcRect b="0" l="0" r="0" t="0"/>
          <a:stretch/>
        </p:blipFill>
        <p:spPr>
          <a:xfrm>
            <a:off x="804672" y="5504688"/>
            <a:ext cx="310896" cy="310896"/>
          </a:xfrm>
          <a:prstGeom prst="rect">
            <a:avLst/>
          </a:prstGeom>
          <a:noFill/>
          <a:ln>
            <a:noFill/>
          </a:ln>
        </p:spPr>
      </p:pic>
      <p:sp>
        <p:nvSpPr>
          <p:cNvPr id="586" name="Google Shape;586;p17"/>
          <p:cNvSpPr/>
          <p:nvPr/>
        </p:nvSpPr>
        <p:spPr>
          <a:xfrm>
            <a:off x="1417320" y="5367528"/>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Calibri"/>
              <a:buNone/>
            </a:pPr>
            <a:r>
              <a:rPr b="1" i="0" lang="en-US" sz="1500" u="none" cap="none" strike="noStrike">
                <a:solidFill>
                  <a:srgbClr val="0F172A"/>
                </a:solidFill>
                <a:latin typeface="Calibri"/>
                <a:ea typeface="Calibri"/>
                <a:cs typeface="Calibri"/>
                <a:sym typeface="Calibri"/>
              </a:rPr>
              <a:t>Postgres + JSONB (production)</a:t>
            </a:r>
            <a:endParaRPr b="0" i="0" sz="1500" u="none" cap="none" strike="noStrike">
              <a:solidFill>
                <a:schemeClr val="dk1"/>
              </a:solidFill>
              <a:latin typeface="Calibri"/>
              <a:ea typeface="Calibri"/>
              <a:cs typeface="Calibri"/>
              <a:sym typeface="Calibri"/>
            </a:endParaRPr>
          </a:p>
        </p:txBody>
      </p:sp>
      <p:sp>
        <p:nvSpPr>
          <p:cNvPr id="587" name="Google Shape;587;p17"/>
          <p:cNvSpPr/>
          <p:nvPr/>
        </p:nvSpPr>
        <p:spPr>
          <a:xfrm>
            <a:off x="1417320" y="5696712"/>
            <a:ext cx="9692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250"/>
              <a:buFont typeface="Calibri"/>
              <a:buNone/>
            </a:pPr>
            <a:r>
              <a:rPr b="0" i="0" lang="en-US" sz="1250" u="none" cap="none" strike="noStrike">
                <a:solidFill>
                  <a:srgbClr val="5B6B7F"/>
                </a:solidFill>
                <a:latin typeface="Calibri"/>
                <a:ea typeface="Calibri"/>
                <a:cs typeface="Calibri"/>
                <a:sym typeface="Calibri"/>
              </a:rPr>
              <a:t>Prototype persists nothing; one always-warm container</a:t>
            </a:r>
            <a:endParaRPr b="0" i="0" sz="1250" u="none" cap="none" strike="noStrike">
              <a:solidFill>
                <a:schemeClr val="dk1"/>
              </a:solidFill>
              <a:latin typeface="Calibri"/>
              <a:ea typeface="Calibri"/>
              <a:cs typeface="Calibri"/>
              <a:sym typeface="Calibri"/>
            </a:endParaRPr>
          </a:p>
        </p:txBody>
      </p:sp>
      <p:sp>
        <p:nvSpPr>
          <p:cNvPr id="588" name="Google Shape;588;p17"/>
          <p:cNvSpPr/>
          <p:nvPr/>
        </p:nvSpPr>
        <p:spPr>
          <a:xfrm>
            <a:off x="685800" y="6446520"/>
            <a:ext cx="6400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AI Label Verification · Approach &amp; Design</a:t>
            </a:r>
            <a:endParaRPr b="0" i="0" sz="900" u="none" cap="none" strike="noStrike">
              <a:solidFill>
                <a:schemeClr val="dk1"/>
              </a:solidFill>
              <a:latin typeface="Calibri"/>
              <a:ea typeface="Calibri"/>
              <a:cs typeface="Calibri"/>
              <a:sym typeface="Calibri"/>
            </a:endParaRPr>
          </a:p>
        </p:txBody>
      </p:sp>
      <p:sp>
        <p:nvSpPr>
          <p:cNvPr id="589" name="Google Shape;589;p17"/>
          <p:cNvSpPr/>
          <p:nvPr/>
        </p:nvSpPr>
        <p:spPr>
          <a:xfrm>
            <a:off x="11185855" y="6446520"/>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15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594" name="Shape 594"/>
        <p:cNvGrpSpPr/>
        <p:nvPr/>
      </p:nvGrpSpPr>
      <p:grpSpPr>
        <a:xfrm>
          <a:off x="0" y="0"/>
          <a:ext cx="0" cy="0"/>
          <a:chOff x="0" y="0"/>
          <a:chExt cx="0" cy="0"/>
        </a:xfrm>
      </p:grpSpPr>
      <p:sp>
        <p:nvSpPr>
          <p:cNvPr id="595" name="Google Shape;595;p18"/>
          <p:cNvSpPr/>
          <p:nvPr/>
        </p:nvSpPr>
        <p:spPr>
          <a:xfrm>
            <a:off x="685800" y="457200"/>
            <a:ext cx="107899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63EB"/>
              </a:buClr>
              <a:buSzPts val="1200"/>
              <a:buFont typeface="Calibri"/>
              <a:buNone/>
            </a:pPr>
            <a:r>
              <a:rPr b="1" i="0" lang="en-US" sz="1200" u="none" cap="none" strike="noStrike">
                <a:solidFill>
                  <a:srgbClr val="2563EB"/>
                </a:solidFill>
                <a:latin typeface="Calibri"/>
                <a:ea typeface="Calibri"/>
                <a:cs typeface="Calibri"/>
                <a:sym typeface="Calibri"/>
              </a:rPr>
              <a:t>THE PRODUCTION MODEL</a:t>
            </a:r>
            <a:endParaRPr b="0" i="0" sz="1200" u="none" cap="none" strike="noStrike">
              <a:solidFill>
                <a:schemeClr val="dk1"/>
              </a:solidFill>
              <a:latin typeface="Calibri"/>
              <a:ea typeface="Calibri"/>
              <a:cs typeface="Calibri"/>
              <a:sym typeface="Calibri"/>
            </a:endParaRPr>
          </a:p>
        </p:txBody>
      </p:sp>
      <p:sp>
        <p:nvSpPr>
          <p:cNvPr id="596" name="Google Shape;596;p18"/>
          <p:cNvSpPr/>
          <p:nvPr/>
        </p:nvSpPr>
        <p:spPr>
          <a:xfrm>
            <a:off x="685800" y="749808"/>
            <a:ext cx="107899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Georgia"/>
              <a:buNone/>
            </a:pPr>
            <a:r>
              <a:rPr b="1" i="0" lang="en-US" sz="3200" u="none" cap="none" strike="noStrike">
                <a:solidFill>
                  <a:srgbClr val="0F172A"/>
                </a:solidFill>
                <a:latin typeface="Georgia"/>
                <a:ea typeface="Georgia"/>
                <a:cs typeface="Georgia"/>
                <a:sym typeface="Georgia"/>
              </a:rPr>
              <a:t>Reading the label, inside the boundary</a:t>
            </a:r>
            <a:endParaRPr b="0" i="0" sz="3200" u="none" cap="none" strike="noStrike">
              <a:solidFill>
                <a:schemeClr val="dk1"/>
              </a:solidFill>
              <a:latin typeface="Calibri"/>
              <a:ea typeface="Calibri"/>
              <a:cs typeface="Calibri"/>
              <a:sym typeface="Calibri"/>
            </a:endParaRPr>
          </a:p>
        </p:txBody>
      </p:sp>
      <p:sp>
        <p:nvSpPr>
          <p:cNvPr id="597" name="Google Shape;597;p18"/>
          <p:cNvSpPr/>
          <p:nvPr/>
        </p:nvSpPr>
        <p:spPr>
          <a:xfrm>
            <a:off x="685800" y="1627632"/>
            <a:ext cx="10789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400"/>
              <a:buFont typeface="Calibri"/>
              <a:buNone/>
            </a:pPr>
            <a:r>
              <a:rPr b="0" i="0" lang="en-US" sz="1400" u="none" cap="none" strike="noStrike">
                <a:solidFill>
                  <a:srgbClr val="5B6B7F"/>
                </a:solidFill>
                <a:latin typeface="Calibri"/>
                <a:ea typeface="Calibri"/>
                <a:cs typeface="Calibri"/>
                <a:sym typeface="Calibri"/>
              </a:rPr>
              <a:t>The model only reads the label; code does the comparison. So it is a benchmarked, swappable component, and in production it never leaves the agency's network.</a:t>
            </a:r>
            <a:endParaRPr b="0" i="0" sz="1400" u="none" cap="none" strike="noStrike">
              <a:solidFill>
                <a:schemeClr val="dk1"/>
              </a:solidFill>
              <a:latin typeface="Calibri"/>
              <a:ea typeface="Calibri"/>
              <a:cs typeface="Calibri"/>
              <a:sym typeface="Calibri"/>
            </a:endParaRPr>
          </a:p>
        </p:txBody>
      </p:sp>
      <p:sp>
        <p:nvSpPr>
          <p:cNvPr id="598" name="Google Shape;598;p18"/>
          <p:cNvSpPr/>
          <p:nvPr/>
        </p:nvSpPr>
        <p:spPr>
          <a:xfrm>
            <a:off x="685800" y="2240280"/>
            <a:ext cx="5166360" cy="274320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8"/>
          <p:cNvSpPr/>
          <p:nvPr/>
        </p:nvSpPr>
        <p:spPr>
          <a:xfrm>
            <a:off x="685800" y="2240280"/>
            <a:ext cx="5166360" cy="109728"/>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8"/>
          <p:cNvSpPr/>
          <p:nvPr/>
        </p:nvSpPr>
        <p:spPr>
          <a:xfrm>
            <a:off x="1005840" y="2487168"/>
            <a:ext cx="4572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150"/>
              <a:buFont typeface="Calibri"/>
              <a:buNone/>
            </a:pPr>
            <a:r>
              <a:rPr b="1" i="0" lang="en-US" sz="1150" u="none" cap="none" strike="noStrike">
                <a:solidFill>
                  <a:srgbClr val="2563EB"/>
                </a:solidFill>
                <a:latin typeface="Calibri"/>
                <a:ea typeface="Calibri"/>
                <a:cs typeface="Calibri"/>
                <a:sym typeface="Calibri"/>
              </a:rPr>
              <a:t>RECOMMENDED · IN AZURE GOV</a:t>
            </a:r>
            <a:endParaRPr b="0" i="0" sz="1150" u="none" cap="none" strike="noStrike">
              <a:solidFill>
                <a:schemeClr val="dk1"/>
              </a:solidFill>
              <a:latin typeface="Calibri"/>
              <a:ea typeface="Calibri"/>
              <a:cs typeface="Calibri"/>
              <a:sym typeface="Calibri"/>
            </a:endParaRPr>
          </a:p>
        </p:txBody>
      </p:sp>
      <p:sp>
        <p:nvSpPr>
          <p:cNvPr id="601" name="Google Shape;601;p18"/>
          <p:cNvSpPr/>
          <p:nvPr/>
        </p:nvSpPr>
        <p:spPr>
          <a:xfrm>
            <a:off x="1005840" y="2788920"/>
            <a:ext cx="4572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800"/>
              <a:buFont typeface="Georgia"/>
              <a:buNone/>
            </a:pPr>
            <a:r>
              <a:rPr b="1" i="0" lang="en-US" sz="1800" u="none" cap="none" strike="noStrike">
                <a:solidFill>
                  <a:srgbClr val="0F172A"/>
                </a:solidFill>
                <a:latin typeface="Georgia"/>
                <a:ea typeface="Georgia"/>
                <a:cs typeface="Georgia"/>
                <a:sym typeface="Georgia"/>
              </a:rPr>
              <a:t>Azure OpenAI vision</a:t>
            </a:r>
            <a:endParaRPr b="0" i="0" sz="1800" u="none" cap="none" strike="noStrike">
              <a:solidFill>
                <a:schemeClr val="dk1"/>
              </a:solidFill>
              <a:latin typeface="Calibri"/>
              <a:ea typeface="Calibri"/>
              <a:cs typeface="Calibri"/>
              <a:sym typeface="Calibri"/>
            </a:endParaRPr>
          </a:p>
        </p:txBody>
      </p:sp>
      <p:sp>
        <p:nvSpPr>
          <p:cNvPr id="602" name="Google Shape;602;p18"/>
          <p:cNvSpPr/>
          <p:nvPr/>
        </p:nvSpPr>
        <p:spPr>
          <a:xfrm>
            <a:off x="1005840" y="3291840"/>
            <a:ext cx="4572000" cy="420624"/>
          </a:xfrm>
          <a:prstGeom prst="rect">
            <a:avLst/>
          </a:prstGeom>
          <a:noFill/>
          <a:ln>
            <a:noFill/>
          </a:ln>
        </p:spPr>
        <p:txBody>
          <a:bodyPr anchorCtr="0" anchor="ctr" bIns="0" lIns="0" spcFirstLastPara="1" rIns="0" wrap="square" tIns="0">
            <a:noAutofit/>
          </a:bodyPr>
          <a:lstStyle/>
          <a:p>
            <a:pPr indent="-165100" lvl="0" marL="165100" marR="0" rtl="0" algn="l">
              <a:spcBef>
                <a:spcPts val="0"/>
              </a:spcBef>
              <a:spcAft>
                <a:spcPts val="0"/>
              </a:spcAft>
              <a:buClr>
                <a:srgbClr val="5B6B7F"/>
              </a:buClr>
              <a:buSzPts val="1250"/>
              <a:buFont typeface="Calibri"/>
              <a:buChar char="•"/>
            </a:pPr>
            <a:r>
              <a:rPr b="0" i="0" lang="en-US" sz="1250" u="none" cap="none" strike="noStrike">
                <a:solidFill>
                  <a:srgbClr val="5B6B7F"/>
                </a:solidFill>
                <a:latin typeface="Calibri"/>
                <a:ea typeface="Calibri"/>
                <a:cs typeface="Calibri"/>
                <a:sym typeface="Calibri"/>
              </a:rPr>
              <a:t>FedRAMP High in Azure Government (DoD IL4 / IL5)</a:t>
            </a:r>
            <a:endParaRPr b="0" i="0" sz="1250" u="none" cap="none" strike="noStrike">
              <a:solidFill>
                <a:schemeClr val="dk1"/>
              </a:solidFill>
              <a:latin typeface="Calibri"/>
              <a:ea typeface="Calibri"/>
              <a:cs typeface="Calibri"/>
              <a:sym typeface="Calibri"/>
            </a:endParaRPr>
          </a:p>
        </p:txBody>
      </p:sp>
      <p:sp>
        <p:nvSpPr>
          <p:cNvPr id="603" name="Google Shape;603;p18"/>
          <p:cNvSpPr/>
          <p:nvPr/>
        </p:nvSpPr>
        <p:spPr>
          <a:xfrm>
            <a:off x="1005840" y="3749040"/>
            <a:ext cx="4572000" cy="420624"/>
          </a:xfrm>
          <a:prstGeom prst="rect">
            <a:avLst/>
          </a:prstGeom>
          <a:noFill/>
          <a:ln>
            <a:noFill/>
          </a:ln>
        </p:spPr>
        <p:txBody>
          <a:bodyPr anchorCtr="0" anchor="ctr" bIns="0" lIns="0" spcFirstLastPara="1" rIns="0" wrap="square" tIns="0">
            <a:noAutofit/>
          </a:bodyPr>
          <a:lstStyle/>
          <a:p>
            <a:pPr indent="-165100" lvl="0" marL="165100" marR="0" rtl="0" algn="l">
              <a:spcBef>
                <a:spcPts val="0"/>
              </a:spcBef>
              <a:spcAft>
                <a:spcPts val="0"/>
              </a:spcAft>
              <a:buClr>
                <a:srgbClr val="5B6B7F"/>
              </a:buClr>
              <a:buSzPts val="1250"/>
              <a:buFont typeface="Calibri"/>
              <a:buChar char="•"/>
            </a:pPr>
            <a:r>
              <a:rPr b="0" i="0" lang="en-US" sz="1250" u="none" cap="none" strike="noStrike">
                <a:solidFill>
                  <a:srgbClr val="5B6B7F"/>
                </a:solidFill>
                <a:latin typeface="Calibri"/>
                <a:ea typeface="Calibri"/>
                <a:cs typeface="Calibri"/>
                <a:sym typeface="Calibri"/>
              </a:rPr>
              <a:t>US vendor, inside the agency's boundary</a:t>
            </a:r>
            <a:endParaRPr b="0" i="0" sz="1250" u="none" cap="none" strike="noStrike">
              <a:solidFill>
                <a:schemeClr val="dk1"/>
              </a:solidFill>
              <a:latin typeface="Calibri"/>
              <a:ea typeface="Calibri"/>
              <a:cs typeface="Calibri"/>
              <a:sym typeface="Calibri"/>
            </a:endParaRPr>
          </a:p>
        </p:txBody>
      </p:sp>
      <p:sp>
        <p:nvSpPr>
          <p:cNvPr id="604" name="Google Shape;604;p18"/>
          <p:cNvSpPr/>
          <p:nvPr/>
        </p:nvSpPr>
        <p:spPr>
          <a:xfrm>
            <a:off x="1005840" y="4206240"/>
            <a:ext cx="4572000" cy="420624"/>
          </a:xfrm>
          <a:prstGeom prst="rect">
            <a:avLst/>
          </a:prstGeom>
          <a:noFill/>
          <a:ln>
            <a:noFill/>
          </a:ln>
        </p:spPr>
        <p:txBody>
          <a:bodyPr anchorCtr="0" anchor="ctr" bIns="0" lIns="0" spcFirstLastPara="1" rIns="0" wrap="square" tIns="0">
            <a:noAutofit/>
          </a:bodyPr>
          <a:lstStyle/>
          <a:p>
            <a:pPr indent="-165100" lvl="0" marL="165100" marR="0" rtl="0" algn="l">
              <a:spcBef>
                <a:spcPts val="0"/>
              </a:spcBef>
              <a:spcAft>
                <a:spcPts val="0"/>
              </a:spcAft>
              <a:buClr>
                <a:srgbClr val="5B6B7F"/>
              </a:buClr>
              <a:buSzPts val="1250"/>
              <a:buFont typeface="Calibri"/>
              <a:buChar char="•"/>
            </a:pPr>
            <a:r>
              <a:rPr b="0" i="0" lang="en-US" sz="1250" u="none" cap="none" strike="noStrike">
                <a:solidFill>
                  <a:srgbClr val="5B6B7F"/>
                </a:solidFill>
                <a:latin typeface="Calibri"/>
                <a:ea typeface="Calibri"/>
                <a:cs typeface="Calibri"/>
                <a:sym typeface="Calibri"/>
              </a:rPr>
              <a:t>No external endpoint; the prior vendor failure, solved</a:t>
            </a:r>
            <a:endParaRPr b="0" i="0" sz="1250" u="none" cap="none" strike="noStrike">
              <a:solidFill>
                <a:schemeClr val="dk1"/>
              </a:solidFill>
              <a:latin typeface="Calibri"/>
              <a:ea typeface="Calibri"/>
              <a:cs typeface="Calibri"/>
              <a:sym typeface="Calibri"/>
            </a:endParaRPr>
          </a:p>
        </p:txBody>
      </p:sp>
      <p:sp>
        <p:nvSpPr>
          <p:cNvPr id="605" name="Google Shape;605;p18"/>
          <p:cNvSpPr/>
          <p:nvPr/>
        </p:nvSpPr>
        <p:spPr>
          <a:xfrm>
            <a:off x="6126480" y="2240280"/>
            <a:ext cx="5166360" cy="274320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8"/>
          <p:cNvSpPr/>
          <p:nvPr/>
        </p:nvSpPr>
        <p:spPr>
          <a:xfrm>
            <a:off x="6126480" y="2240280"/>
            <a:ext cx="5166360" cy="109728"/>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8"/>
          <p:cNvSpPr/>
          <p:nvPr/>
        </p:nvSpPr>
        <p:spPr>
          <a:xfrm>
            <a:off x="6446520" y="2487168"/>
            <a:ext cx="4572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A5E"/>
              </a:buClr>
              <a:buSzPts val="1150"/>
              <a:buFont typeface="Calibri"/>
              <a:buNone/>
            </a:pPr>
            <a:r>
              <a:rPr b="1" i="0" lang="en-US" sz="1150" u="none" cap="none" strike="noStrike">
                <a:solidFill>
                  <a:srgbClr val="1C3A5E"/>
                </a:solidFill>
                <a:latin typeface="Calibri"/>
                <a:ea typeface="Calibri"/>
                <a:cs typeface="Calibri"/>
                <a:sym typeface="Calibri"/>
              </a:rPr>
              <a:t>AIR-GAPPED · SELF-HOSTED</a:t>
            </a:r>
            <a:endParaRPr b="0" i="0" sz="1150" u="none" cap="none" strike="noStrike">
              <a:solidFill>
                <a:schemeClr val="dk1"/>
              </a:solidFill>
              <a:latin typeface="Calibri"/>
              <a:ea typeface="Calibri"/>
              <a:cs typeface="Calibri"/>
              <a:sym typeface="Calibri"/>
            </a:endParaRPr>
          </a:p>
        </p:txBody>
      </p:sp>
      <p:sp>
        <p:nvSpPr>
          <p:cNvPr id="608" name="Google Shape;608;p18"/>
          <p:cNvSpPr/>
          <p:nvPr/>
        </p:nvSpPr>
        <p:spPr>
          <a:xfrm>
            <a:off x="6446520" y="2788920"/>
            <a:ext cx="4572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800"/>
              <a:buFont typeface="Georgia"/>
              <a:buNone/>
            </a:pPr>
            <a:r>
              <a:rPr b="1" i="0" lang="en-US" sz="1800" u="none" cap="none" strike="noStrike">
                <a:solidFill>
                  <a:srgbClr val="0F172A"/>
                </a:solidFill>
                <a:latin typeface="Georgia"/>
                <a:ea typeface="Georgia"/>
                <a:cs typeface="Georgia"/>
                <a:sym typeface="Georgia"/>
              </a:rPr>
              <a:t>Open OCR-VL on agency GPUs</a:t>
            </a:r>
            <a:endParaRPr b="0" i="0" sz="1800" u="none" cap="none" strike="noStrike">
              <a:solidFill>
                <a:schemeClr val="dk1"/>
              </a:solidFill>
              <a:latin typeface="Calibri"/>
              <a:ea typeface="Calibri"/>
              <a:cs typeface="Calibri"/>
              <a:sym typeface="Calibri"/>
            </a:endParaRPr>
          </a:p>
        </p:txBody>
      </p:sp>
      <p:sp>
        <p:nvSpPr>
          <p:cNvPr id="609" name="Google Shape;609;p18"/>
          <p:cNvSpPr/>
          <p:nvPr/>
        </p:nvSpPr>
        <p:spPr>
          <a:xfrm>
            <a:off x="6446520" y="3291840"/>
            <a:ext cx="4572000" cy="420624"/>
          </a:xfrm>
          <a:prstGeom prst="rect">
            <a:avLst/>
          </a:prstGeom>
          <a:noFill/>
          <a:ln>
            <a:noFill/>
          </a:ln>
        </p:spPr>
        <p:txBody>
          <a:bodyPr anchorCtr="0" anchor="ctr" bIns="0" lIns="0" spcFirstLastPara="1" rIns="0" wrap="square" tIns="0">
            <a:noAutofit/>
          </a:bodyPr>
          <a:lstStyle/>
          <a:p>
            <a:pPr indent="-165100" lvl="0" marL="165100" marR="0" rtl="0" algn="l">
              <a:spcBef>
                <a:spcPts val="0"/>
              </a:spcBef>
              <a:spcAft>
                <a:spcPts val="0"/>
              </a:spcAft>
              <a:buClr>
                <a:srgbClr val="5B6B7F"/>
              </a:buClr>
              <a:buSzPts val="1250"/>
              <a:buFont typeface="Calibri"/>
              <a:buChar char="•"/>
            </a:pPr>
            <a:r>
              <a:rPr b="0" i="0" lang="en-US" sz="1250" u="none" cap="none" strike="noStrike">
                <a:solidFill>
                  <a:srgbClr val="5B6B7F"/>
                </a:solidFill>
                <a:latin typeface="Calibri"/>
                <a:ea typeface="Calibri"/>
                <a:cs typeface="Calibri"/>
                <a:sym typeface="Calibri"/>
              </a:rPr>
              <a:t>olmOCR (US, Apache, fully auditable) for provenance</a:t>
            </a:r>
            <a:endParaRPr b="0" i="0" sz="1250" u="none" cap="none" strike="noStrike">
              <a:solidFill>
                <a:schemeClr val="dk1"/>
              </a:solidFill>
              <a:latin typeface="Calibri"/>
              <a:ea typeface="Calibri"/>
              <a:cs typeface="Calibri"/>
              <a:sym typeface="Calibri"/>
            </a:endParaRPr>
          </a:p>
        </p:txBody>
      </p:sp>
      <p:sp>
        <p:nvSpPr>
          <p:cNvPr id="610" name="Google Shape;610;p18"/>
          <p:cNvSpPr/>
          <p:nvPr/>
        </p:nvSpPr>
        <p:spPr>
          <a:xfrm>
            <a:off x="6446520" y="3749040"/>
            <a:ext cx="4572000" cy="420624"/>
          </a:xfrm>
          <a:prstGeom prst="rect">
            <a:avLst/>
          </a:prstGeom>
          <a:noFill/>
          <a:ln>
            <a:noFill/>
          </a:ln>
        </p:spPr>
        <p:txBody>
          <a:bodyPr anchorCtr="0" anchor="ctr" bIns="0" lIns="0" spcFirstLastPara="1" rIns="0" wrap="square" tIns="0">
            <a:noAutofit/>
          </a:bodyPr>
          <a:lstStyle/>
          <a:p>
            <a:pPr indent="-165100" lvl="0" marL="165100" marR="0" rtl="0" algn="l">
              <a:spcBef>
                <a:spcPts val="0"/>
              </a:spcBef>
              <a:spcAft>
                <a:spcPts val="0"/>
              </a:spcAft>
              <a:buClr>
                <a:srgbClr val="5B6B7F"/>
              </a:buClr>
              <a:buSzPts val="1250"/>
              <a:buFont typeface="Calibri"/>
              <a:buChar char="•"/>
            </a:pPr>
            <a:r>
              <a:rPr b="0" i="0" lang="en-US" sz="1250" u="none" cap="none" strike="noStrike">
                <a:solidFill>
                  <a:srgbClr val="5B6B7F"/>
                </a:solidFill>
                <a:latin typeface="Calibri"/>
                <a:ea typeface="Calibri"/>
                <a:cs typeface="Calibri"/>
                <a:sym typeface="Calibri"/>
              </a:rPr>
              <a:t>GLM-OCR / Qwen-VL for top accuracy, security-reviewed</a:t>
            </a:r>
            <a:endParaRPr b="0" i="0" sz="1250" u="none" cap="none" strike="noStrike">
              <a:solidFill>
                <a:schemeClr val="dk1"/>
              </a:solidFill>
              <a:latin typeface="Calibri"/>
              <a:ea typeface="Calibri"/>
              <a:cs typeface="Calibri"/>
              <a:sym typeface="Calibri"/>
            </a:endParaRPr>
          </a:p>
        </p:txBody>
      </p:sp>
      <p:sp>
        <p:nvSpPr>
          <p:cNvPr id="611" name="Google Shape;611;p18"/>
          <p:cNvSpPr/>
          <p:nvPr/>
        </p:nvSpPr>
        <p:spPr>
          <a:xfrm>
            <a:off x="6446520" y="4206240"/>
            <a:ext cx="4572000" cy="420624"/>
          </a:xfrm>
          <a:prstGeom prst="rect">
            <a:avLst/>
          </a:prstGeom>
          <a:noFill/>
          <a:ln>
            <a:noFill/>
          </a:ln>
        </p:spPr>
        <p:txBody>
          <a:bodyPr anchorCtr="0" anchor="ctr" bIns="0" lIns="0" spcFirstLastPara="1" rIns="0" wrap="square" tIns="0">
            <a:noAutofit/>
          </a:bodyPr>
          <a:lstStyle/>
          <a:p>
            <a:pPr indent="-165100" lvl="0" marL="165100" marR="0" rtl="0" algn="l">
              <a:spcBef>
                <a:spcPts val="0"/>
              </a:spcBef>
              <a:spcAft>
                <a:spcPts val="0"/>
              </a:spcAft>
              <a:buClr>
                <a:srgbClr val="5B6B7F"/>
              </a:buClr>
              <a:buSzPts val="1250"/>
              <a:buFont typeface="Calibri"/>
              <a:buChar char="•"/>
            </a:pPr>
            <a:r>
              <a:rPr b="0" i="0" lang="en-US" sz="1250" u="none" cap="none" strike="noStrike">
                <a:solidFill>
                  <a:srgbClr val="5B6B7F"/>
                </a:solidFill>
                <a:latin typeface="Calibri"/>
                <a:ea typeface="Calibri"/>
                <a:cs typeface="Calibri"/>
                <a:sym typeface="Calibri"/>
              </a:rPr>
              <a:t>Small models (under 1B to 7B), cheap to run in-house</a:t>
            </a:r>
            <a:endParaRPr b="0" i="0" sz="1250" u="none" cap="none" strike="noStrike">
              <a:solidFill>
                <a:schemeClr val="dk1"/>
              </a:solidFill>
              <a:latin typeface="Calibri"/>
              <a:ea typeface="Calibri"/>
              <a:cs typeface="Calibri"/>
              <a:sym typeface="Calibri"/>
            </a:endParaRPr>
          </a:p>
        </p:txBody>
      </p:sp>
      <p:sp>
        <p:nvSpPr>
          <p:cNvPr id="612" name="Google Shape;612;p18"/>
          <p:cNvSpPr/>
          <p:nvPr/>
        </p:nvSpPr>
        <p:spPr>
          <a:xfrm>
            <a:off x="685800" y="5230368"/>
            <a:ext cx="10789920" cy="640080"/>
          </a:xfrm>
          <a:prstGeom prst="rect">
            <a:avLst/>
          </a:prstGeom>
          <a:no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Clr>
                <a:srgbClr val="1C3A5E"/>
              </a:buClr>
              <a:buSzPts val="1250"/>
              <a:buFont typeface="Calibri"/>
              <a:buNone/>
            </a:pPr>
            <a:r>
              <a:rPr b="0" i="1" lang="en-US" sz="1250" u="none" cap="none" strike="noStrike">
                <a:solidFill>
                  <a:srgbClr val="1C3A5E"/>
                </a:solidFill>
                <a:latin typeface="Calibri"/>
                <a:ea typeface="Calibri"/>
                <a:cs typeface="Calibri"/>
                <a:sym typeface="Calibri"/>
              </a:rPr>
              <a:t>The top open OCR models are mostly non-US in origin, a procurement flag for Treasury. Whichever path, the model is chosen by a bake-off on real TTB labels, not a public benchmark.</a:t>
            </a:r>
            <a:endParaRPr b="0" i="0" sz="1250" u="none" cap="none" strike="noStrike">
              <a:solidFill>
                <a:schemeClr val="dk1"/>
              </a:solidFill>
              <a:latin typeface="Calibri"/>
              <a:ea typeface="Calibri"/>
              <a:cs typeface="Calibri"/>
              <a:sym typeface="Calibri"/>
            </a:endParaRPr>
          </a:p>
        </p:txBody>
      </p:sp>
      <p:sp>
        <p:nvSpPr>
          <p:cNvPr id="613" name="Google Shape;613;p18"/>
          <p:cNvSpPr/>
          <p:nvPr/>
        </p:nvSpPr>
        <p:spPr>
          <a:xfrm>
            <a:off x="685800" y="6446520"/>
            <a:ext cx="6400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AI Label Verification · Approach &amp; Design</a:t>
            </a:r>
            <a:endParaRPr b="0" i="0" sz="900" u="none" cap="none" strike="noStrike">
              <a:solidFill>
                <a:schemeClr val="dk1"/>
              </a:solidFill>
              <a:latin typeface="Calibri"/>
              <a:ea typeface="Calibri"/>
              <a:cs typeface="Calibri"/>
              <a:sym typeface="Calibri"/>
            </a:endParaRPr>
          </a:p>
        </p:txBody>
      </p:sp>
      <p:sp>
        <p:nvSpPr>
          <p:cNvPr id="614" name="Google Shape;614;p18"/>
          <p:cNvSpPr/>
          <p:nvPr/>
        </p:nvSpPr>
        <p:spPr>
          <a:xfrm>
            <a:off x="11185855" y="6446520"/>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619" name="Shape 619"/>
        <p:cNvGrpSpPr/>
        <p:nvPr/>
      </p:nvGrpSpPr>
      <p:grpSpPr>
        <a:xfrm>
          <a:off x="0" y="0"/>
          <a:ext cx="0" cy="0"/>
          <a:chOff x="0" y="0"/>
          <a:chExt cx="0" cy="0"/>
        </a:xfrm>
      </p:grpSpPr>
      <p:sp>
        <p:nvSpPr>
          <p:cNvPr id="620" name="Google Shape;620;p19"/>
          <p:cNvSpPr/>
          <p:nvPr/>
        </p:nvSpPr>
        <p:spPr>
          <a:xfrm>
            <a:off x="685800" y="457200"/>
            <a:ext cx="107899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63EB"/>
              </a:buClr>
              <a:buSzPts val="1200"/>
              <a:buFont typeface="Calibri"/>
              <a:buNone/>
            </a:pPr>
            <a:r>
              <a:rPr b="1" i="0" lang="en-US" sz="1200" u="none" cap="none" strike="noStrike">
                <a:solidFill>
                  <a:srgbClr val="2563EB"/>
                </a:solidFill>
                <a:latin typeface="Calibri"/>
                <a:ea typeface="Calibri"/>
                <a:cs typeface="Calibri"/>
                <a:sym typeface="Calibri"/>
              </a:rPr>
              <a:t>DATA &amp; OBSERVABILITY</a:t>
            </a:r>
            <a:endParaRPr b="0" i="0" sz="1200" u="none" cap="none" strike="noStrike">
              <a:solidFill>
                <a:schemeClr val="dk1"/>
              </a:solidFill>
              <a:latin typeface="Calibri"/>
              <a:ea typeface="Calibri"/>
              <a:cs typeface="Calibri"/>
              <a:sym typeface="Calibri"/>
            </a:endParaRPr>
          </a:p>
        </p:txBody>
      </p:sp>
      <p:sp>
        <p:nvSpPr>
          <p:cNvPr id="621" name="Google Shape;621;p19"/>
          <p:cNvSpPr/>
          <p:nvPr/>
        </p:nvSpPr>
        <p:spPr>
          <a:xfrm>
            <a:off x="685800" y="749808"/>
            <a:ext cx="107899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Georgia"/>
              <a:buNone/>
            </a:pPr>
            <a:r>
              <a:rPr b="1" i="0" lang="en-US" sz="3200" u="none" cap="none" strike="noStrike">
                <a:solidFill>
                  <a:srgbClr val="0F172A"/>
                </a:solidFill>
                <a:latin typeface="Georgia"/>
                <a:ea typeface="Georgia"/>
                <a:cs typeface="Georgia"/>
                <a:sym typeface="Georgia"/>
              </a:rPr>
              <a:t>Built for accountability, evaluated continuously</a:t>
            </a:r>
            <a:endParaRPr b="0" i="0" sz="3200" u="none" cap="none" strike="noStrike">
              <a:solidFill>
                <a:schemeClr val="dk1"/>
              </a:solidFill>
              <a:latin typeface="Calibri"/>
              <a:ea typeface="Calibri"/>
              <a:cs typeface="Calibri"/>
              <a:sym typeface="Calibri"/>
            </a:endParaRPr>
          </a:p>
        </p:txBody>
      </p:sp>
      <p:sp>
        <p:nvSpPr>
          <p:cNvPr id="622" name="Google Shape;622;p19"/>
          <p:cNvSpPr/>
          <p:nvPr/>
        </p:nvSpPr>
        <p:spPr>
          <a:xfrm>
            <a:off x="685800" y="1627632"/>
            <a:ext cx="10789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400"/>
              <a:buFont typeface="Calibri"/>
              <a:buNone/>
            </a:pPr>
            <a:r>
              <a:rPr b="0" i="0" lang="en-US" sz="1400" u="none" cap="none" strike="noStrike">
                <a:solidFill>
                  <a:srgbClr val="5B6B7F"/>
                </a:solidFill>
                <a:latin typeface="Calibri"/>
                <a:ea typeface="Calibri"/>
                <a:cs typeface="Calibri"/>
                <a:sym typeface="Calibri"/>
              </a:rPr>
              <a:t>Two things a regulatory AI system must get right: an unalterable record of what was decided, and proof that the AI is actually accurate. Both run in-boundary.</a:t>
            </a:r>
            <a:endParaRPr b="0" i="0" sz="1400" u="none" cap="none" strike="noStrike">
              <a:solidFill>
                <a:schemeClr val="dk1"/>
              </a:solidFill>
              <a:latin typeface="Calibri"/>
              <a:ea typeface="Calibri"/>
              <a:cs typeface="Calibri"/>
              <a:sym typeface="Calibri"/>
            </a:endParaRPr>
          </a:p>
        </p:txBody>
      </p:sp>
      <p:sp>
        <p:nvSpPr>
          <p:cNvPr id="623" name="Google Shape;623;p19"/>
          <p:cNvSpPr/>
          <p:nvPr/>
        </p:nvSpPr>
        <p:spPr>
          <a:xfrm>
            <a:off x="685800" y="2240280"/>
            <a:ext cx="5166360" cy="274320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9"/>
          <p:cNvSpPr/>
          <p:nvPr/>
        </p:nvSpPr>
        <p:spPr>
          <a:xfrm>
            <a:off x="685800" y="2240280"/>
            <a:ext cx="5166360" cy="109728"/>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9"/>
          <p:cNvSpPr/>
          <p:nvPr/>
        </p:nvSpPr>
        <p:spPr>
          <a:xfrm>
            <a:off x="1005840" y="2487168"/>
            <a:ext cx="4572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A5E"/>
              </a:buClr>
              <a:buSzPts val="1150"/>
              <a:buFont typeface="Calibri"/>
              <a:buNone/>
            </a:pPr>
            <a:r>
              <a:rPr b="1" i="0" lang="en-US" sz="1150" u="none" cap="none" strike="noStrike">
                <a:solidFill>
                  <a:srgbClr val="1C3A5E"/>
                </a:solidFill>
                <a:latin typeface="Calibri"/>
                <a:ea typeface="Calibri"/>
                <a:cs typeface="Calibri"/>
                <a:sym typeface="Calibri"/>
              </a:rPr>
              <a:t>THE DATA MODEL</a:t>
            </a:r>
            <a:endParaRPr b="0" i="0" sz="1150" u="none" cap="none" strike="noStrike">
              <a:solidFill>
                <a:schemeClr val="dk1"/>
              </a:solidFill>
              <a:latin typeface="Calibri"/>
              <a:ea typeface="Calibri"/>
              <a:cs typeface="Calibri"/>
              <a:sym typeface="Calibri"/>
            </a:endParaRPr>
          </a:p>
        </p:txBody>
      </p:sp>
      <p:sp>
        <p:nvSpPr>
          <p:cNvPr id="626" name="Google Shape;626;p19"/>
          <p:cNvSpPr/>
          <p:nvPr/>
        </p:nvSpPr>
        <p:spPr>
          <a:xfrm>
            <a:off x="1005840" y="2788920"/>
            <a:ext cx="4572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700"/>
              <a:buFont typeface="Georgia"/>
              <a:buNone/>
            </a:pPr>
            <a:r>
              <a:rPr b="1" i="0" lang="en-US" sz="1700" u="none" cap="none" strike="noStrike">
                <a:solidFill>
                  <a:srgbClr val="0F172A"/>
                </a:solidFill>
                <a:latin typeface="Georgia"/>
                <a:ea typeface="Georgia"/>
                <a:cs typeface="Georgia"/>
                <a:sym typeface="Georgia"/>
              </a:rPr>
              <a:t>PostgreSQL, accountable by design</a:t>
            </a:r>
            <a:endParaRPr b="0" i="0" sz="1700" u="none" cap="none" strike="noStrike">
              <a:solidFill>
                <a:schemeClr val="dk1"/>
              </a:solidFill>
              <a:latin typeface="Calibri"/>
              <a:ea typeface="Calibri"/>
              <a:cs typeface="Calibri"/>
              <a:sym typeface="Calibri"/>
            </a:endParaRPr>
          </a:p>
        </p:txBody>
      </p:sp>
      <p:sp>
        <p:nvSpPr>
          <p:cNvPr id="627" name="Google Shape;627;p19"/>
          <p:cNvSpPr/>
          <p:nvPr/>
        </p:nvSpPr>
        <p:spPr>
          <a:xfrm>
            <a:off x="1005840" y="3291840"/>
            <a:ext cx="4572000" cy="420624"/>
          </a:xfrm>
          <a:prstGeom prst="rect">
            <a:avLst/>
          </a:prstGeom>
          <a:noFill/>
          <a:ln>
            <a:noFill/>
          </a:ln>
        </p:spPr>
        <p:txBody>
          <a:bodyPr anchorCtr="0" anchor="ctr" bIns="0" lIns="0" spcFirstLastPara="1" rIns="0" wrap="square" tIns="0">
            <a:noAutofit/>
          </a:bodyPr>
          <a:lstStyle/>
          <a:p>
            <a:pPr indent="-165100" lvl="0" marL="165100" marR="0" rtl="0" algn="l">
              <a:spcBef>
                <a:spcPts val="0"/>
              </a:spcBef>
              <a:spcAft>
                <a:spcPts val="0"/>
              </a:spcAft>
              <a:buClr>
                <a:srgbClr val="5B6B7F"/>
              </a:buClr>
              <a:buSzPts val="1250"/>
              <a:buFont typeface="Calibri"/>
              <a:buChar char="•"/>
            </a:pPr>
            <a:r>
              <a:rPr b="0" i="0" lang="en-US" sz="1250" u="none" cap="none" strike="noStrike">
                <a:solidFill>
                  <a:srgbClr val="5B6B7F"/>
                </a:solidFill>
                <a:latin typeface="Calibri"/>
                <a:ea typeface="Calibri"/>
                <a:cs typeface="Calibri"/>
                <a:sym typeface="Calibri"/>
              </a:rPr>
              <a:t>PostgreSQL + JSONB; images in object storage</a:t>
            </a:r>
            <a:endParaRPr b="0" i="0" sz="1250" u="none" cap="none" strike="noStrike">
              <a:solidFill>
                <a:schemeClr val="dk1"/>
              </a:solidFill>
              <a:latin typeface="Calibri"/>
              <a:ea typeface="Calibri"/>
              <a:cs typeface="Calibri"/>
              <a:sym typeface="Calibri"/>
            </a:endParaRPr>
          </a:p>
        </p:txBody>
      </p:sp>
      <p:sp>
        <p:nvSpPr>
          <p:cNvPr id="628" name="Google Shape;628;p19"/>
          <p:cNvSpPr/>
          <p:nvPr/>
        </p:nvSpPr>
        <p:spPr>
          <a:xfrm>
            <a:off x="1005840" y="3749040"/>
            <a:ext cx="4572000" cy="420624"/>
          </a:xfrm>
          <a:prstGeom prst="rect">
            <a:avLst/>
          </a:prstGeom>
          <a:noFill/>
          <a:ln>
            <a:noFill/>
          </a:ln>
        </p:spPr>
        <p:txBody>
          <a:bodyPr anchorCtr="0" anchor="ctr" bIns="0" lIns="0" spcFirstLastPara="1" rIns="0" wrap="square" tIns="0">
            <a:noAutofit/>
          </a:bodyPr>
          <a:lstStyle/>
          <a:p>
            <a:pPr indent="-165100" lvl="0" marL="165100" marR="0" rtl="0" algn="l">
              <a:spcBef>
                <a:spcPts val="0"/>
              </a:spcBef>
              <a:spcAft>
                <a:spcPts val="0"/>
              </a:spcAft>
              <a:buClr>
                <a:srgbClr val="5B6B7F"/>
              </a:buClr>
              <a:buSzPts val="1250"/>
              <a:buFont typeface="Calibri"/>
              <a:buChar char="•"/>
            </a:pPr>
            <a:r>
              <a:rPr b="0" i="0" lang="en-US" sz="1250" u="none" cap="none" strike="noStrike">
                <a:solidFill>
                  <a:srgbClr val="5B6B7F"/>
                </a:solidFill>
                <a:latin typeface="Calibri"/>
                <a:ea typeface="Calibri"/>
                <a:cs typeface="Calibri"/>
                <a:sym typeface="Calibri"/>
              </a:rPr>
              <a:t>Append-only disposition &amp; audit, the unalterable record</a:t>
            </a:r>
            <a:endParaRPr b="0" i="0" sz="1250" u="none" cap="none" strike="noStrike">
              <a:solidFill>
                <a:schemeClr val="dk1"/>
              </a:solidFill>
              <a:latin typeface="Calibri"/>
              <a:ea typeface="Calibri"/>
              <a:cs typeface="Calibri"/>
              <a:sym typeface="Calibri"/>
            </a:endParaRPr>
          </a:p>
        </p:txBody>
      </p:sp>
      <p:sp>
        <p:nvSpPr>
          <p:cNvPr id="629" name="Google Shape;629;p19"/>
          <p:cNvSpPr/>
          <p:nvPr/>
        </p:nvSpPr>
        <p:spPr>
          <a:xfrm>
            <a:off x="1005840" y="4206240"/>
            <a:ext cx="4572000" cy="420624"/>
          </a:xfrm>
          <a:prstGeom prst="rect">
            <a:avLst/>
          </a:prstGeom>
          <a:noFill/>
          <a:ln>
            <a:noFill/>
          </a:ln>
        </p:spPr>
        <p:txBody>
          <a:bodyPr anchorCtr="0" anchor="ctr" bIns="0" lIns="0" spcFirstLastPara="1" rIns="0" wrap="square" tIns="0">
            <a:noAutofit/>
          </a:bodyPr>
          <a:lstStyle/>
          <a:p>
            <a:pPr indent="-165100" lvl="0" marL="165100" marR="0" rtl="0" algn="l">
              <a:spcBef>
                <a:spcPts val="0"/>
              </a:spcBef>
              <a:spcAft>
                <a:spcPts val="0"/>
              </a:spcAft>
              <a:buClr>
                <a:srgbClr val="5B6B7F"/>
              </a:buClr>
              <a:buSzPts val="1250"/>
              <a:buFont typeface="Calibri"/>
              <a:buChar char="•"/>
            </a:pPr>
            <a:r>
              <a:rPr b="0" i="0" lang="en-US" sz="1250" u="none" cap="none" strike="noStrike">
                <a:solidFill>
                  <a:srgbClr val="5B6B7F"/>
                </a:solidFill>
                <a:latin typeface="Calibri"/>
                <a:ea typeface="Calibri"/>
                <a:cs typeface="Calibri"/>
                <a:sym typeface="Calibri"/>
              </a:rPr>
              <a:t>Prototype stores nothing (PII); knowledge base on pgvector</a:t>
            </a:r>
            <a:endParaRPr b="0" i="0" sz="1250" u="none" cap="none" strike="noStrike">
              <a:solidFill>
                <a:schemeClr val="dk1"/>
              </a:solidFill>
              <a:latin typeface="Calibri"/>
              <a:ea typeface="Calibri"/>
              <a:cs typeface="Calibri"/>
              <a:sym typeface="Calibri"/>
            </a:endParaRPr>
          </a:p>
        </p:txBody>
      </p:sp>
      <p:sp>
        <p:nvSpPr>
          <p:cNvPr id="630" name="Google Shape;630;p19"/>
          <p:cNvSpPr/>
          <p:nvPr/>
        </p:nvSpPr>
        <p:spPr>
          <a:xfrm>
            <a:off x="6126480" y="2240280"/>
            <a:ext cx="5166360" cy="274320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19"/>
          <p:cNvSpPr/>
          <p:nvPr/>
        </p:nvSpPr>
        <p:spPr>
          <a:xfrm>
            <a:off x="6126480" y="2240280"/>
            <a:ext cx="5166360" cy="109728"/>
          </a:xfrm>
          <a:prstGeom prst="rect">
            <a:avLst/>
          </a:prstGeom>
          <a:solidFill>
            <a:srgbClr val="1580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9"/>
          <p:cNvSpPr/>
          <p:nvPr/>
        </p:nvSpPr>
        <p:spPr>
          <a:xfrm>
            <a:off x="6446520" y="2487168"/>
            <a:ext cx="4572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803D"/>
              </a:buClr>
              <a:buSzPts val="1150"/>
              <a:buFont typeface="Calibri"/>
              <a:buNone/>
            </a:pPr>
            <a:r>
              <a:rPr b="1" i="0" lang="en-US" sz="1150" u="none" cap="none" strike="noStrike">
                <a:solidFill>
                  <a:srgbClr val="15803D"/>
                </a:solidFill>
                <a:latin typeface="Calibri"/>
                <a:ea typeface="Calibri"/>
                <a:cs typeface="Calibri"/>
                <a:sym typeface="Calibri"/>
              </a:rPr>
              <a:t>EVALS &amp; OBSERVABILITY</a:t>
            </a:r>
            <a:endParaRPr b="0" i="0" sz="1150" u="none" cap="none" strike="noStrike">
              <a:solidFill>
                <a:schemeClr val="dk1"/>
              </a:solidFill>
              <a:latin typeface="Calibri"/>
              <a:ea typeface="Calibri"/>
              <a:cs typeface="Calibri"/>
              <a:sym typeface="Calibri"/>
            </a:endParaRPr>
          </a:p>
        </p:txBody>
      </p:sp>
      <p:sp>
        <p:nvSpPr>
          <p:cNvPr id="633" name="Google Shape;633;p19"/>
          <p:cNvSpPr/>
          <p:nvPr/>
        </p:nvSpPr>
        <p:spPr>
          <a:xfrm>
            <a:off x="6446520" y="2788920"/>
            <a:ext cx="4572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700"/>
              <a:buFont typeface="Georgia"/>
              <a:buNone/>
            </a:pPr>
            <a:r>
              <a:rPr b="1" i="0" lang="en-US" sz="1700" u="none" cap="none" strike="noStrike">
                <a:solidFill>
                  <a:srgbClr val="0F172A"/>
                </a:solidFill>
                <a:latin typeface="Georgia"/>
                <a:ea typeface="Georgia"/>
                <a:cs typeface="Georgia"/>
                <a:sym typeface="Georgia"/>
              </a:rPr>
              <a:t>Measured, not assumed</a:t>
            </a:r>
            <a:endParaRPr b="0" i="0" sz="1700" u="none" cap="none" strike="noStrike">
              <a:solidFill>
                <a:schemeClr val="dk1"/>
              </a:solidFill>
              <a:latin typeface="Calibri"/>
              <a:ea typeface="Calibri"/>
              <a:cs typeface="Calibri"/>
              <a:sym typeface="Calibri"/>
            </a:endParaRPr>
          </a:p>
        </p:txBody>
      </p:sp>
      <p:sp>
        <p:nvSpPr>
          <p:cNvPr id="634" name="Google Shape;634;p19"/>
          <p:cNvSpPr/>
          <p:nvPr/>
        </p:nvSpPr>
        <p:spPr>
          <a:xfrm>
            <a:off x="6446520" y="3291840"/>
            <a:ext cx="4572000" cy="420624"/>
          </a:xfrm>
          <a:prstGeom prst="rect">
            <a:avLst/>
          </a:prstGeom>
          <a:noFill/>
          <a:ln>
            <a:noFill/>
          </a:ln>
        </p:spPr>
        <p:txBody>
          <a:bodyPr anchorCtr="0" anchor="ctr" bIns="0" lIns="0" spcFirstLastPara="1" rIns="0" wrap="square" tIns="0">
            <a:noAutofit/>
          </a:bodyPr>
          <a:lstStyle/>
          <a:p>
            <a:pPr indent="-165100" lvl="0" marL="165100" marR="0" rtl="0" algn="l">
              <a:spcBef>
                <a:spcPts val="0"/>
              </a:spcBef>
              <a:spcAft>
                <a:spcPts val="0"/>
              </a:spcAft>
              <a:buClr>
                <a:srgbClr val="5B6B7F"/>
              </a:buClr>
              <a:buSzPts val="1250"/>
              <a:buFont typeface="Calibri"/>
              <a:buChar char="•"/>
            </a:pPr>
            <a:r>
              <a:rPr b="0" i="0" lang="en-US" sz="1250" u="none" cap="none" strike="noStrike">
                <a:solidFill>
                  <a:srgbClr val="5B6B7F"/>
                </a:solidFill>
                <a:latin typeface="Calibri"/>
                <a:ea typeface="Calibri"/>
                <a:cs typeface="Calibri"/>
                <a:sym typeface="Calibri"/>
              </a:rPr>
              <a:t>OpenTelemetry traces, self-hosted Langfuse / Phoenix</a:t>
            </a:r>
            <a:endParaRPr b="0" i="0" sz="1250" u="none" cap="none" strike="noStrike">
              <a:solidFill>
                <a:schemeClr val="dk1"/>
              </a:solidFill>
              <a:latin typeface="Calibri"/>
              <a:ea typeface="Calibri"/>
              <a:cs typeface="Calibri"/>
              <a:sym typeface="Calibri"/>
            </a:endParaRPr>
          </a:p>
        </p:txBody>
      </p:sp>
      <p:sp>
        <p:nvSpPr>
          <p:cNvPr id="635" name="Google Shape;635;p19"/>
          <p:cNvSpPr/>
          <p:nvPr/>
        </p:nvSpPr>
        <p:spPr>
          <a:xfrm>
            <a:off x="6446520" y="3749040"/>
            <a:ext cx="4572000" cy="420624"/>
          </a:xfrm>
          <a:prstGeom prst="rect">
            <a:avLst/>
          </a:prstGeom>
          <a:noFill/>
          <a:ln>
            <a:noFill/>
          </a:ln>
        </p:spPr>
        <p:txBody>
          <a:bodyPr anchorCtr="0" anchor="ctr" bIns="0" lIns="0" spcFirstLastPara="1" rIns="0" wrap="square" tIns="0">
            <a:noAutofit/>
          </a:bodyPr>
          <a:lstStyle/>
          <a:p>
            <a:pPr indent="-165100" lvl="0" marL="165100" marR="0" rtl="0" algn="l">
              <a:spcBef>
                <a:spcPts val="0"/>
              </a:spcBef>
              <a:spcAft>
                <a:spcPts val="0"/>
              </a:spcAft>
              <a:buClr>
                <a:srgbClr val="5B6B7F"/>
              </a:buClr>
              <a:buSzPts val="1250"/>
              <a:buFont typeface="Calibri"/>
              <a:buChar char="•"/>
            </a:pPr>
            <a:r>
              <a:rPr b="0" i="0" lang="en-US" sz="1250" u="none" cap="none" strike="noStrike">
                <a:solidFill>
                  <a:srgbClr val="5B6B7F"/>
                </a:solidFill>
                <a:latin typeface="Calibri"/>
                <a:ea typeface="Calibri"/>
                <a:cs typeface="Calibri"/>
                <a:sym typeface="Calibri"/>
              </a:rPr>
              <a:t>Golden set from the Public COLA Registry; false-negative rate is key</a:t>
            </a:r>
            <a:endParaRPr b="0" i="0" sz="1250" u="none" cap="none" strike="noStrike">
              <a:solidFill>
                <a:schemeClr val="dk1"/>
              </a:solidFill>
              <a:latin typeface="Calibri"/>
              <a:ea typeface="Calibri"/>
              <a:cs typeface="Calibri"/>
              <a:sym typeface="Calibri"/>
            </a:endParaRPr>
          </a:p>
        </p:txBody>
      </p:sp>
      <p:sp>
        <p:nvSpPr>
          <p:cNvPr id="636" name="Google Shape;636;p19"/>
          <p:cNvSpPr/>
          <p:nvPr/>
        </p:nvSpPr>
        <p:spPr>
          <a:xfrm>
            <a:off x="6446520" y="4206240"/>
            <a:ext cx="4572000" cy="420624"/>
          </a:xfrm>
          <a:prstGeom prst="rect">
            <a:avLst/>
          </a:prstGeom>
          <a:noFill/>
          <a:ln>
            <a:noFill/>
          </a:ln>
        </p:spPr>
        <p:txBody>
          <a:bodyPr anchorCtr="0" anchor="ctr" bIns="0" lIns="0" spcFirstLastPara="1" rIns="0" wrap="square" tIns="0">
            <a:noAutofit/>
          </a:bodyPr>
          <a:lstStyle/>
          <a:p>
            <a:pPr indent="-165100" lvl="0" marL="165100" marR="0" rtl="0" algn="l">
              <a:spcBef>
                <a:spcPts val="0"/>
              </a:spcBef>
              <a:spcAft>
                <a:spcPts val="0"/>
              </a:spcAft>
              <a:buClr>
                <a:srgbClr val="5B6B7F"/>
              </a:buClr>
              <a:buSzPts val="1250"/>
              <a:buFont typeface="Calibri"/>
              <a:buChar char="•"/>
            </a:pPr>
            <a:r>
              <a:rPr b="0" i="0" lang="en-US" sz="1250" u="none" cap="none" strike="noStrike">
                <a:solidFill>
                  <a:srgbClr val="5B6B7F"/>
                </a:solidFill>
                <a:latin typeface="Calibri"/>
                <a:ea typeface="Calibri"/>
                <a:cs typeface="Calibri"/>
                <a:sym typeface="Calibri"/>
              </a:rPr>
              <a:t>Agent corrections = free ground truth; guardrails enforced</a:t>
            </a:r>
            <a:endParaRPr b="0" i="0" sz="1250" u="none" cap="none" strike="noStrike">
              <a:solidFill>
                <a:schemeClr val="dk1"/>
              </a:solidFill>
              <a:latin typeface="Calibri"/>
              <a:ea typeface="Calibri"/>
              <a:cs typeface="Calibri"/>
              <a:sym typeface="Calibri"/>
            </a:endParaRPr>
          </a:p>
        </p:txBody>
      </p:sp>
      <p:sp>
        <p:nvSpPr>
          <p:cNvPr id="637" name="Google Shape;637;p19"/>
          <p:cNvSpPr/>
          <p:nvPr/>
        </p:nvSpPr>
        <p:spPr>
          <a:xfrm>
            <a:off x="685800" y="5230368"/>
            <a:ext cx="10789920" cy="548640"/>
          </a:xfrm>
          <a:prstGeom prst="rect">
            <a:avLst/>
          </a:prstGeom>
          <a:no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Clr>
                <a:srgbClr val="1C3A5E"/>
              </a:buClr>
              <a:buSzPts val="1250"/>
              <a:buFont typeface="Calibri"/>
              <a:buNone/>
            </a:pPr>
            <a:r>
              <a:rPr b="0" i="1" lang="en-US" sz="1250" u="none" cap="none" strike="noStrike">
                <a:solidFill>
                  <a:srgbClr val="1C3A5E"/>
                </a:solidFill>
                <a:latin typeface="Calibri"/>
                <a:ea typeface="Calibri"/>
                <a:cs typeface="Calibri"/>
                <a:sym typeface="Calibri"/>
              </a:rPr>
              <a:t>The regulatory record can't be rewritten; the AI's quality is checked against a golden set and the agents' own corrections, on a self-hostable, in-boundary stack.</a:t>
            </a:r>
            <a:endParaRPr b="0" i="0" sz="1250" u="none" cap="none" strike="noStrike">
              <a:solidFill>
                <a:schemeClr val="dk1"/>
              </a:solidFill>
              <a:latin typeface="Calibri"/>
              <a:ea typeface="Calibri"/>
              <a:cs typeface="Calibri"/>
              <a:sym typeface="Calibri"/>
            </a:endParaRPr>
          </a:p>
        </p:txBody>
      </p:sp>
      <p:sp>
        <p:nvSpPr>
          <p:cNvPr id="638" name="Google Shape;638;p19"/>
          <p:cNvSpPr/>
          <p:nvPr/>
        </p:nvSpPr>
        <p:spPr>
          <a:xfrm>
            <a:off x="685800" y="6446520"/>
            <a:ext cx="6400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AI Label Verification · Approach &amp; Design</a:t>
            </a:r>
            <a:endParaRPr b="0" i="0" sz="900" u="none" cap="none" strike="noStrike">
              <a:solidFill>
                <a:schemeClr val="dk1"/>
              </a:solidFill>
              <a:latin typeface="Calibri"/>
              <a:ea typeface="Calibri"/>
              <a:cs typeface="Calibri"/>
              <a:sym typeface="Calibri"/>
            </a:endParaRPr>
          </a:p>
        </p:txBody>
      </p:sp>
      <p:sp>
        <p:nvSpPr>
          <p:cNvPr id="639" name="Google Shape;639;p19"/>
          <p:cNvSpPr/>
          <p:nvPr/>
        </p:nvSpPr>
        <p:spPr>
          <a:xfrm>
            <a:off x="11185855" y="6446520"/>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17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644" name="Shape 644"/>
        <p:cNvGrpSpPr/>
        <p:nvPr/>
      </p:nvGrpSpPr>
      <p:grpSpPr>
        <a:xfrm>
          <a:off x="0" y="0"/>
          <a:ext cx="0" cy="0"/>
          <a:chOff x="0" y="0"/>
          <a:chExt cx="0" cy="0"/>
        </a:xfrm>
      </p:grpSpPr>
      <p:sp>
        <p:nvSpPr>
          <p:cNvPr id="645" name="Google Shape;645;p20"/>
          <p:cNvSpPr/>
          <p:nvPr/>
        </p:nvSpPr>
        <p:spPr>
          <a:xfrm>
            <a:off x="685800" y="457200"/>
            <a:ext cx="107899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63EB"/>
              </a:buClr>
              <a:buSzPts val="1200"/>
              <a:buFont typeface="Calibri"/>
              <a:buNone/>
            </a:pPr>
            <a:r>
              <a:rPr b="1" i="0" lang="en-US" sz="1200" u="none" cap="none" strike="noStrike">
                <a:solidFill>
                  <a:srgbClr val="2563EB"/>
                </a:solidFill>
                <a:latin typeface="Calibri"/>
                <a:ea typeface="Calibri"/>
                <a:cs typeface="Calibri"/>
                <a:sym typeface="Calibri"/>
              </a:rPr>
              <a:t>TESTING &amp; VALIDATION</a:t>
            </a:r>
            <a:endParaRPr b="0" i="0" sz="1200" u="none" cap="none" strike="noStrike">
              <a:solidFill>
                <a:schemeClr val="dk1"/>
              </a:solidFill>
              <a:latin typeface="Calibri"/>
              <a:ea typeface="Calibri"/>
              <a:cs typeface="Calibri"/>
              <a:sym typeface="Calibri"/>
            </a:endParaRPr>
          </a:p>
        </p:txBody>
      </p:sp>
      <p:sp>
        <p:nvSpPr>
          <p:cNvPr id="646" name="Google Shape;646;p20"/>
          <p:cNvSpPr/>
          <p:nvPr/>
        </p:nvSpPr>
        <p:spPr>
          <a:xfrm>
            <a:off x="685800" y="749808"/>
            <a:ext cx="107899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Georgia"/>
              <a:buNone/>
            </a:pPr>
            <a:r>
              <a:rPr b="1" i="0" lang="en-US" sz="3200" u="none" cap="none" strike="noStrike">
                <a:solidFill>
                  <a:srgbClr val="0F172A"/>
                </a:solidFill>
                <a:latin typeface="Georgia"/>
                <a:ea typeface="Georgia"/>
                <a:cs typeface="Georgia"/>
                <a:sym typeface="Georgia"/>
              </a:rPr>
              <a:t>Proving it finds real errors</a:t>
            </a:r>
            <a:endParaRPr b="0" i="0" sz="3200" u="none" cap="none" strike="noStrike">
              <a:solidFill>
                <a:schemeClr val="dk1"/>
              </a:solidFill>
              <a:latin typeface="Calibri"/>
              <a:ea typeface="Calibri"/>
              <a:cs typeface="Calibri"/>
              <a:sym typeface="Calibri"/>
            </a:endParaRPr>
          </a:p>
        </p:txBody>
      </p:sp>
      <p:sp>
        <p:nvSpPr>
          <p:cNvPr id="647" name="Google Shape;647;p20"/>
          <p:cNvSpPr/>
          <p:nvPr/>
        </p:nvSpPr>
        <p:spPr>
          <a:xfrm>
            <a:off x="685800" y="1627632"/>
            <a:ext cx="10789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400"/>
              <a:buFont typeface="Calibri"/>
              <a:buNone/>
            </a:pPr>
            <a:r>
              <a:rPr b="0" i="0" lang="en-US" sz="1400" u="none" cap="none" strike="noStrike">
                <a:solidFill>
                  <a:srgbClr val="5B6B7F"/>
                </a:solidFill>
                <a:latin typeface="Calibri"/>
                <a:ea typeface="Calibri"/>
                <a:cs typeface="Calibri"/>
                <a:sym typeface="Calibri"/>
              </a:rPr>
              <a:t>How the tool earns trust before it is relied on: real applications it should clear, and planted defects it must catch — every case scored against a known answer.</a:t>
            </a:r>
            <a:endParaRPr b="0" i="0" sz="1400" u="none" cap="none" strike="noStrike">
              <a:solidFill>
                <a:schemeClr val="dk1"/>
              </a:solidFill>
              <a:latin typeface="Calibri"/>
              <a:ea typeface="Calibri"/>
              <a:cs typeface="Calibri"/>
              <a:sym typeface="Calibri"/>
            </a:endParaRPr>
          </a:p>
        </p:txBody>
      </p:sp>
      <p:sp>
        <p:nvSpPr>
          <p:cNvPr id="648" name="Google Shape;648;p20"/>
          <p:cNvSpPr/>
          <p:nvPr/>
        </p:nvSpPr>
        <p:spPr>
          <a:xfrm>
            <a:off x="685800" y="2194560"/>
            <a:ext cx="5166360" cy="224028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20"/>
          <p:cNvSpPr/>
          <p:nvPr/>
        </p:nvSpPr>
        <p:spPr>
          <a:xfrm>
            <a:off x="685800" y="2194560"/>
            <a:ext cx="5166360" cy="109728"/>
          </a:xfrm>
          <a:prstGeom prst="rect">
            <a:avLst/>
          </a:prstGeom>
          <a:solidFill>
            <a:srgbClr val="1580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20"/>
          <p:cNvSpPr/>
          <p:nvPr/>
        </p:nvSpPr>
        <p:spPr>
          <a:xfrm>
            <a:off x="1005840" y="2432304"/>
            <a:ext cx="4572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803D"/>
              </a:buClr>
              <a:buSzPts val="1150"/>
              <a:buFont typeface="Calibri"/>
              <a:buNone/>
            </a:pPr>
            <a:r>
              <a:rPr b="1" i="0" lang="en-US" sz="1150" u="none" cap="none" strike="noStrike">
                <a:solidFill>
                  <a:srgbClr val="15803D"/>
                </a:solidFill>
                <a:latin typeface="Calibri"/>
                <a:ea typeface="Calibri"/>
                <a:cs typeface="Calibri"/>
                <a:sym typeface="Calibri"/>
              </a:rPr>
              <a:t>PASS SET · REAL DATA</a:t>
            </a:r>
            <a:endParaRPr b="0" i="0" sz="1150" u="none" cap="none" strike="noStrike">
              <a:solidFill>
                <a:schemeClr val="dk1"/>
              </a:solidFill>
              <a:latin typeface="Calibri"/>
              <a:ea typeface="Calibri"/>
              <a:cs typeface="Calibri"/>
              <a:sym typeface="Calibri"/>
            </a:endParaRPr>
          </a:p>
        </p:txBody>
      </p:sp>
      <p:sp>
        <p:nvSpPr>
          <p:cNvPr id="651" name="Google Shape;651;p20"/>
          <p:cNvSpPr/>
          <p:nvPr/>
        </p:nvSpPr>
        <p:spPr>
          <a:xfrm>
            <a:off x="1005840" y="2724912"/>
            <a:ext cx="4572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700"/>
              <a:buFont typeface="Georgia"/>
              <a:buNone/>
            </a:pPr>
            <a:r>
              <a:rPr b="1" i="0" lang="en-US" sz="1700" u="none" cap="none" strike="noStrike">
                <a:solidFill>
                  <a:srgbClr val="0F172A"/>
                </a:solidFill>
                <a:latin typeface="Georgia"/>
                <a:ea typeface="Georgia"/>
                <a:cs typeface="Georgia"/>
                <a:sym typeface="Georgia"/>
              </a:rPr>
              <a:t>Approved pairs from the registry</a:t>
            </a:r>
            <a:endParaRPr b="0" i="0" sz="1700" u="none" cap="none" strike="noStrike">
              <a:solidFill>
                <a:schemeClr val="dk1"/>
              </a:solidFill>
              <a:latin typeface="Calibri"/>
              <a:ea typeface="Calibri"/>
              <a:cs typeface="Calibri"/>
              <a:sym typeface="Calibri"/>
            </a:endParaRPr>
          </a:p>
        </p:txBody>
      </p:sp>
      <p:sp>
        <p:nvSpPr>
          <p:cNvPr id="652" name="Google Shape;652;p20"/>
          <p:cNvSpPr/>
          <p:nvPr/>
        </p:nvSpPr>
        <p:spPr>
          <a:xfrm>
            <a:off x="1005840" y="3182112"/>
            <a:ext cx="4572000" cy="384048"/>
          </a:xfrm>
          <a:prstGeom prst="rect">
            <a:avLst/>
          </a:prstGeom>
          <a:noFill/>
          <a:ln>
            <a:noFill/>
          </a:ln>
        </p:spPr>
        <p:txBody>
          <a:bodyPr anchorCtr="0" anchor="ctr" bIns="0" lIns="0" spcFirstLastPara="1" rIns="0" wrap="square" tIns="0">
            <a:noAutofit/>
          </a:bodyPr>
          <a:lstStyle/>
          <a:p>
            <a:pPr indent="-165100" lvl="0" marL="165100" marR="0" rtl="0" algn="l">
              <a:spcBef>
                <a:spcPts val="0"/>
              </a:spcBef>
              <a:spcAft>
                <a:spcPts val="0"/>
              </a:spcAft>
              <a:buClr>
                <a:srgbClr val="5B6B7F"/>
              </a:buClr>
              <a:buSzPts val="1250"/>
              <a:buFont typeface="Calibri"/>
              <a:buChar char="•"/>
            </a:pPr>
            <a:r>
              <a:rPr b="0" i="0" lang="en-US" sz="1250" u="none" cap="none" strike="noStrike">
                <a:solidFill>
                  <a:srgbClr val="5B6B7F"/>
                </a:solidFill>
                <a:latin typeface="Calibri"/>
                <a:ea typeface="Calibri"/>
                <a:cs typeface="Calibri"/>
                <a:sym typeface="Calibri"/>
              </a:rPr>
              <a:t>Pulled from TTB's Public COLA Registry (free, 1999–present)</a:t>
            </a:r>
            <a:endParaRPr b="0" i="0" sz="1250" u="none" cap="none" strike="noStrike">
              <a:solidFill>
                <a:schemeClr val="dk1"/>
              </a:solidFill>
              <a:latin typeface="Calibri"/>
              <a:ea typeface="Calibri"/>
              <a:cs typeface="Calibri"/>
              <a:sym typeface="Calibri"/>
            </a:endParaRPr>
          </a:p>
        </p:txBody>
      </p:sp>
      <p:sp>
        <p:nvSpPr>
          <p:cNvPr id="653" name="Google Shape;653;p20"/>
          <p:cNvSpPr/>
          <p:nvPr/>
        </p:nvSpPr>
        <p:spPr>
          <a:xfrm>
            <a:off x="1005840" y="3584448"/>
            <a:ext cx="4572000" cy="384048"/>
          </a:xfrm>
          <a:prstGeom prst="rect">
            <a:avLst/>
          </a:prstGeom>
          <a:noFill/>
          <a:ln>
            <a:noFill/>
          </a:ln>
        </p:spPr>
        <p:txBody>
          <a:bodyPr anchorCtr="0" anchor="ctr" bIns="0" lIns="0" spcFirstLastPara="1" rIns="0" wrap="square" tIns="0">
            <a:noAutofit/>
          </a:bodyPr>
          <a:lstStyle/>
          <a:p>
            <a:pPr indent="-165100" lvl="0" marL="165100" marR="0" rtl="0" algn="l">
              <a:spcBef>
                <a:spcPts val="0"/>
              </a:spcBef>
              <a:spcAft>
                <a:spcPts val="0"/>
              </a:spcAft>
              <a:buClr>
                <a:srgbClr val="5B6B7F"/>
              </a:buClr>
              <a:buSzPts val="1250"/>
              <a:buFont typeface="Calibri"/>
              <a:buChar char="•"/>
            </a:pPr>
            <a:r>
              <a:rPr b="0" i="0" lang="en-US" sz="1250" u="none" cap="none" strike="noStrike">
                <a:solidFill>
                  <a:srgbClr val="5B6B7F"/>
                </a:solidFill>
                <a:latin typeface="Calibri"/>
                <a:ea typeface="Calibri"/>
                <a:cs typeface="Calibri"/>
                <a:sym typeface="Calibri"/>
              </a:rPr>
              <a:t>Each case = real form fields + the real label image</a:t>
            </a:r>
            <a:endParaRPr b="0" i="0" sz="1250" u="none" cap="none" strike="noStrike">
              <a:solidFill>
                <a:schemeClr val="dk1"/>
              </a:solidFill>
              <a:latin typeface="Calibri"/>
              <a:ea typeface="Calibri"/>
              <a:cs typeface="Calibri"/>
              <a:sym typeface="Calibri"/>
            </a:endParaRPr>
          </a:p>
        </p:txBody>
      </p:sp>
      <p:sp>
        <p:nvSpPr>
          <p:cNvPr id="654" name="Google Shape;654;p20"/>
          <p:cNvSpPr/>
          <p:nvPr/>
        </p:nvSpPr>
        <p:spPr>
          <a:xfrm>
            <a:off x="1005840" y="3986784"/>
            <a:ext cx="4572000" cy="384048"/>
          </a:xfrm>
          <a:prstGeom prst="rect">
            <a:avLst/>
          </a:prstGeom>
          <a:noFill/>
          <a:ln>
            <a:noFill/>
          </a:ln>
        </p:spPr>
        <p:txBody>
          <a:bodyPr anchorCtr="0" anchor="ctr" bIns="0" lIns="0" spcFirstLastPara="1" rIns="0" wrap="square" tIns="0">
            <a:noAutofit/>
          </a:bodyPr>
          <a:lstStyle/>
          <a:p>
            <a:pPr indent="-165100" lvl="0" marL="165100" marR="0" rtl="0" algn="l">
              <a:spcBef>
                <a:spcPts val="0"/>
              </a:spcBef>
              <a:spcAft>
                <a:spcPts val="0"/>
              </a:spcAft>
              <a:buClr>
                <a:srgbClr val="5B6B7F"/>
              </a:buClr>
              <a:buSzPts val="1250"/>
              <a:buFont typeface="Calibri"/>
              <a:buChar char="•"/>
            </a:pPr>
            <a:r>
              <a:rPr b="0" i="0" lang="en-US" sz="1250" u="none" cap="none" strike="noStrike">
                <a:solidFill>
                  <a:srgbClr val="5B6B7F"/>
                </a:solidFill>
                <a:latin typeface="Calibri"/>
                <a:ea typeface="Calibri"/>
                <a:cs typeface="Calibri"/>
                <a:sym typeface="Calibri"/>
              </a:rPr>
              <a:t>Should all clear → measures false positives (crying wolf)</a:t>
            </a:r>
            <a:endParaRPr b="0" i="0" sz="1250" u="none" cap="none" strike="noStrike">
              <a:solidFill>
                <a:schemeClr val="dk1"/>
              </a:solidFill>
              <a:latin typeface="Calibri"/>
              <a:ea typeface="Calibri"/>
              <a:cs typeface="Calibri"/>
              <a:sym typeface="Calibri"/>
            </a:endParaRPr>
          </a:p>
        </p:txBody>
      </p:sp>
      <p:sp>
        <p:nvSpPr>
          <p:cNvPr id="655" name="Google Shape;655;p20"/>
          <p:cNvSpPr/>
          <p:nvPr/>
        </p:nvSpPr>
        <p:spPr>
          <a:xfrm>
            <a:off x="6126480" y="2194560"/>
            <a:ext cx="5166360" cy="224028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20"/>
          <p:cNvSpPr/>
          <p:nvPr/>
        </p:nvSpPr>
        <p:spPr>
          <a:xfrm>
            <a:off x="6126480" y="2194560"/>
            <a:ext cx="5166360" cy="109728"/>
          </a:xfrm>
          <a:prstGeom prst="rect">
            <a:avLst/>
          </a:prstGeom>
          <a:solidFill>
            <a:srgbClr val="B91C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0"/>
          <p:cNvSpPr/>
          <p:nvPr/>
        </p:nvSpPr>
        <p:spPr>
          <a:xfrm>
            <a:off x="6446520" y="2432304"/>
            <a:ext cx="4572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1C1C"/>
              </a:buClr>
              <a:buSzPts val="1150"/>
              <a:buFont typeface="Calibri"/>
              <a:buNone/>
            </a:pPr>
            <a:r>
              <a:rPr b="1" i="0" lang="en-US" sz="1150" u="none" cap="none" strike="noStrike">
                <a:solidFill>
                  <a:srgbClr val="B91C1C"/>
                </a:solidFill>
                <a:latin typeface="Calibri"/>
                <a:ea typeface="Calibri"/>
                <a:cs typeface="Calibri"/>
                <a:sym typeface="Calibri"/>
              </a:rPr>
              <a:t>FAIL SET · MANUFACTURED</a:t>
            </a:r>
            <a:endParaRPr b="0" i="0" sz="1150" u="none" cap="none" strike="noStrike">
              <a:solidFill>
                <a:schemeClr val="dk1"/>
              </a:solidFill>
              <a:latin typeface="Calibri"/>
              <a:ea typeface="Calibri"/>
              <a:cs typeface="Calibri"/>
              <a:sym typeface="Calibri"/>
            </a:endParaRPr>
          </a:p>
        </p:txBody>
      </p:sp>
      <p:sp>
        <p:nvSpPr>
          <p:cNvPr id="658" name="Google Shape;658;p20"/>
          <p:cNvSpPr/>
          <p:nvPr/>
        </p:nvSpPr>
        <p:spPr>
          <a:xfrm>
            <a:off x="6446520" y="2724912"/>
            <a:ext cx="4572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700"/>
              <a:buFont typeface="Georgia"/>
              <a:buNone/>
            </a:pPr>
            <a:r>
              <a:rPr b="1" i="0" lang="en-US" sz="1700" u="none" cap="none" strike="noStrike">
                <a:solidFill>
                  <a:srgbClr val="0F172A"/>
                </a:solidFill>
                <a:latin typeface="Georgia"/>
                <a:ea typeface="Georgia"/>
                <a:cs typeface="Georgia"/>
                <a:sym typeface="Georgia"/>
              </a:rPr>
              <a:t>Known, planted defects</a:t>
            </a:r>
            <a:endParaRPr b="0" i="0" sz="1700" u="none" cap="none" strike="noStrike">
              <a:solidFill>
                <a:schemeClr val="dk1"/>
              </a:solidFill>
              <a:latin typeface="Calibri"/>
              <a:ea typeface="Calibri"/>
              <a:cs typeface="Calibri"/>
              <a:sym typeface="Calibri"/>
            </a:endParaRPr>
          </a:p>
        </p:txBody>
      </p:sp>
      <p:sp>
        <p:nvSpPr>
          <p:cNvPr id="659" name="Google Shape;659;p20"/>
          <p:cNvSpPr/>
          <p:nvPr/>
        </p:nvSpPr>
        <p:spPr>
          <a:xfrm>
            <a:off x="6446520" y="3182112"/>
            <a:ext cx="4572000" cy="384048"/>
          </a:xfrm>
          <a:prstGeom prst="rect">
            <a:avLst/>
          </a:prstGeom>
          <a:noFill/>
          <a:ln>
            <a:noFill/>
          </a:ln>
        </p:spPr>
        <p:txBody>
          <a:bodyPr anchorCtr="0" anchor="ctr" bIns="0" lIns="0" spcFirstLastPara="1" rIns="0" wrap="square" tIns="0">
            <a:noAutofit/>
          </a:bodyPr>
          <a:lstStyle/>
          <a:p>
            <a:pPr indent="-165100" lvl="0" marL="165100" marR="0" rtl="0" algn="l">
              <a:spcBef>
                <a:spcPts val="0"/>
              </a:spcBef>
              <a:spcAft>
                <a:spcPts val="0"/>
              </a:spcAft>
              <a:buClr>
                <a:srgbClr val="5B6B7F"/>
              </a:buClr>
              <a:buSzPts val="1250"/>
              <a:buFont typeface="Calibri"/>
              <a:buChar char="•"/>
            </a:pPr>
            <a:r>
              <a:rPr b="0" i="0" lang="en-US" sz="1250" u="none" cap="none" strike="noStrike">
                <a:solidFill>
                  <a:srgbClr val="5B6B7F"/>
                </a:solidFill>
                <a:latin typeface="Calibri"/>
                <a:ea typeface="Calibri"/>
                <a:cs typeface="Calibri"/>
                <a:sym typeface="Calibri"/>
              </a:rPr>
              <a:t>Change a form field, or AI-generate a defective label</a:t>
            </a:r>
            <a:endParaRPr b="0" i="0" sz="1250" u="none" cap="none" strike="noStrike">
              <a:solidFill>
                <a:schemeClr val="dk1"/>
              </a:solidFill>
              <a:latin typeface="Calibri"/>
              <a:ea typeface="Calibri"/>
              <a:cs typeface="Calibri"/>
              <a:sym typeface="Calibri"/>
            </a:endParaRPr>
          </a:p>
        </p:txBody>
      </p:sp>
      <p:sp>
        <p:nvSpPr>
          <p:cNvPr id="660" name="Google Shape;660;p20"/>
          <p:cNvSpPr/>
          <p:nvPr/>
        </p:nvSpPr>
        <p:spPr>
          <a:xfrm>
            <a:off x="6446520" y="3584448"/>
            <a:ext cx="4572000" cy="384048"/>
          </a:xfrm>
          <a:prstGeom prst="rect">
            <a:avLst/>
          </a:prstGeom>
          <a:noFill/>
          <a:ln>
            <a:noFill/>
          </a:ln>
        </p:spPr>
        <p:txBody>
          <a:bodyPr anchorCtr="0" anchor="ctr" bIns="0" lIns="0" spcFirstLastPara="1" rIns="0" wrap="square" tIns="0">
            <a:noAutofit/>
          </a:bodyPr>
          <a:lstStyle/>
          <a:p>
            <a:pPr indent="-165100" lvl="0" marL="165100" marR="0" rtl="0" algn="l">
              <a:spcBef>
                <a:spcPts val="0"/>
              </a:spcBef>
              <a:spcAft>
                <a:spcPts val="0"/>
              </a:spcAft>
              <a:buClr>
                <a:srgbClr val="5B6B7F"/>
              </a:buClr>
              <a:buSzPts val="1250"/>
              <a:buFont typeface="Calibri"/>
              <a:buChar char="•"/>
            </a:pPr>
            <a:r>
              <a:rPr b="0" i="0" lang="en-US" sz="1250" u="none" cap="none" strike="noStrike">
                <a:solidFill>
                  <a:srgbClr val="5B6B7F"/>
                </a:solidFill>
                <a:latin typeface="Calibri"/>
                <a:ea typeface="Calibri"/>
                <a:cs typeface="Calibri"/>
                <a:sym typeface="Calibri"/>
              </a:rPr>
              <a:t>Every defect recorded as the known correct answer</a:t>
            </a:r>
            <a:endParaRPr b="0" i="0" sz="1250" u="none" cap="none" strike="noStrike">
              <a:solidFill>
                <a:schemeClr val="dk1"/>
              </a:solidFill>
              <a:latin typeface="Calibri"/>
              <a:ea typeface="Calibri"/>
              <a:cs typeface="Calibri"/>
              <a:sym typeface="Calibri"/>
            </a:endParaRPr>
          </a:p>
        </p:txBody>
      </p:sp>
      <p:sp>
        <p:nvSpPr>
          <p:cNvPr id="661" name="Google Shape;661;p20"/>
          <p:cNvSpPr/>
          <p:nvPr/>
        </p:nvSpPr>
        <p:spPr>
          <a:xfrm>
            <a:off x="6446520" y="3986784"/>
            <a:ext cx="4572000" cy="384048"/>
          </a:xfrm>
          <a:prstGeom prst="rect">
            <a:avLst/>
          </a:prstGeom>
          <a:noFill/>
          <a:ln>
            <a:noFill/>
          </a:ln>
        </p:spPr>
        <p:txBody>
          <a:bodyPr anchorCtr="0" anchor="ctr" bIns="0" lIns="0" spcFirstLastPara="1" rIns="0" wrap="square" tIns="0">
            <a:noAutofit/>
          </a:bodyPr>
          <a:lstStyle/>
          <a:p>
            <a:pPr indent="-165100" lvl="0" marL="165100" marR="0" rtl="0" algn="l">
              <a:spcBef>
                <a:spcPts val="0"/>
              </a:spcBef>
              <a:spcAft>
                <a:spcPts val="0"/>
              </a:spcAft>
              <a:buClr>
                <a:srgbClr val="5B6B7F"/>
              </a:buClr>
              <a:buSzPts val="1250"/>
              <a:buFont typeface="Calibri"/>
              <a:buChar char="•"/>
            </a:pPr>
            <a:r>
              <a:rPr b="0" i="0" lang="en-US" sz="1250" u="none" cap="none" strike="noStrike">
                <a:solidFill>
                  <a:srgbClr val="5B6B7F"/>
                </a:solidFill>
                <a:latin typeface="Calibri"/>
                <a:ea typeface="Calibri"/>
                <a:cs typeface="Calibri"/>
                <a:sym typeface="Calibri"/>
              </a:rPr>
              <a:t>Should all be caught → measures false negatives</a:t>
            </a:r>
            <a:endParaRPr b="0" i="0" sz="1250" u="none" cap="none" strike="noStrike">
              <a:solidFill>
                <a:schemeClr val="dk1"/>
              </a:solidFill>
              <a:latin typeface="Calibri"/>
              <a:ea typeface="Calibri"/>
              <a:cs typeface="Calibri"/>
              <a:sym typeface="Calibri"/>
            </a:endParaRPr>
          </a:p>
        </p:txBody>
      </p:sp>
      <p:sp>
        <p:nvSpPr>
          <p:cNvPr id="662" name="Google Shape;662;p20"/>
          <p:cNvSpPr/>
          <p:nvPr/>
        </p:nvSpPr>
        <p:spPr>
          <a:xfrm>
            <a:off x="685800" y="4590288"/>
            <a:ext cx="10789920" cy="987552"/>
          </a:xfrm>
          <a:prstGeom prst="roundRect">
            <a:avLst>
              <a:gd fmla="val 9259" name="adj"/>
            </a:avLst>
          </a:prstGeom>
          <a:solidFill>
            <a:srgbClr val="EEF3FA"/>
          </a:solidFill>
          <a:ln cap="flat" cmpd="sng" w="12700">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20"/>
          <p:cNvSpPr/>
          <p:nvPr/>
        </p:nvSpPr>
        <p:spPr>
          <a:xfrm>
            <a:off x="1005840" y="4718304"/>
            <a:ext cx="10058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A5E"/>
              </a:buClr>
              <a:buSzPts val="1350"/>
              <a:buFont typeface="Calibri"/>
              <a:buNone/>
            </a:pPr>
            <a:r>
              <a:rPr b="1" i="0" lang="en-US" sz="1350" u="none" cap="none" strike="noStrike">
                <a:solidFill>
                  <a:srgbClr val="1C3A5E"/>
                </a:solidFill>
                <a:latin typeface="Calibri"/>
                <a:ea typeface="Calibri"/>
                <a:cs typeface="Calibri"/>
                <a:sym typeface="Calibri"/>
              </a:rPr>
              <a:t>Scored against known answers</a:t>
            </a:r>
            <a:endParaRPr b="0" i="0" sz="1350" u="none" cap="none" strike="noStrike">
              <a:solidFill>
                <a:schemeClr val="dk1"/>
              </a:solidFill>
              <a:latin typeface="Calibri"/>
              <a:ea typeface="Calibri"/>
              <a:cs typeface="Calibri"/>
              <a:sym typeface="Calibri"/>
            </a:endParaRPr>
          </a:p>
        </p:txBody>
      </p:sp>
      <p:sp>
        <p:nvSpPr>
          <p:cNvPr id="664" name="Google Shape;664;p20"/>
          <p:cNvSpPr/>
          <p:nvPr/>
        </p:nvSpPr>
        <p:spPr>
          <a:xfrm>
            <a:off x="1005840" y="5029200"/>
            <a:ext cx="10149840" cy="50292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F172A"/>
              </a:buClr>
              <a:buSzPts val="1250"/>
              <a:buFont typeface="Calibri"/>
              <a:buNone/>
            </a:pPr>
            <a:r>
              <a:rPr b="0" i="0" lang="en-US" sz="1250" u="none" cap="none" strike="noStrike">
                <a:solidFill>
                  <a:srgbClr val="0F172A"/>
                </a:solidFill>
                <a:latin typeface="Calibri"/>
                <a:ea typeface="Calibri"/>
                <a:cs typeface="Calibri"/>
                <a:sym typeface="Calibri"/>
              </a:rPr>
              <a:t>Lane accuracy  ·  per-field precision / recall  ·  warning-check accuracy  ·  latency p95.   </a:t>
            </a:r>
            <a:r>
              <a:rPr b="1" i="0" lang="en-US" sz="1250" u="none" cap="none" strike="noStrike">
                <a:solidFill>
                  <a:srgbClr val="0F172A"/>
                </a:solidFill>
                <a:latin typeface="Calibri"/>
                <a:ea typeface="Calibri"/>
                <a:cs typeface="Calibri"/>
                <a:sym typeface="Calibri"/>
              </a:rPr>
              <a:t>False-negative rate is the headline — a bad label cleared is the costly error.</a:t>
            </a:r>
            <a:endParaRPr b="0" i="0" sz="1250" u="none" cap="none" strike="noStrike">
              <a:solidFill>
                <a:schemeClr val="dk1"/>
              </a:solidFill>
              <a:latin typeface="Calibri"/>
              <a:ea typeface="Calibri"/>
              <a:cs typeface="Calibri"/>
              <a:sym typeface="Calibri"/>
            </a:endParaRPr>
          </a:p>
        </p:txBody>
      </p:sp>
      <p:sp>
        <p:nvSpPr>
          <p:cNvPr id="665" name="Google Shape;665;p20"/>
          <p:cNvSpPr/>
          <p:nvPr/>
        </p:nvSpPr>
        <p:spPr>
          <a:xfrm>
            <a:off x="685800" y="5687568"/>
            <a:ext cx="10789920" cy="457200"/>
          </a:xfrm>
          <a:prstGeom prst="rect">
            <a:avLst/>
          </a:prstGeom>
          <a:noFill/>
          <a:ln>
            <a:noFill/>
          </a:ln>
        </p:spPr>
        <p:txBody>
          <a:bodyPr anchorCtr="0" anchor="ctr" bIns="0" lIns="0" spcFirstLastPara="1" rIns="0" wrap="square" tIns="0">
            <a:noAutofit/>
          </a:bodyPr>
          <a:lstStyle/>
          <a:p>
            <a:pPr indent="0" lvl="0" marL="0" marR="0" rtl="0" algn="ctr">
              <a:lnSpc>
                <a:spcPct val="102000"/>
              </a:lnSpc>
              <a:spcBef>
                <a:spcPts val="0"/>
              </a:spcBef>
              <a:spcAft>
                <a:spcPts val="0"/>
              </a:spcAft>
              <a:buClr>
                <a:srgbClr val="1C3A5E"/>
              </a:buClr>
              <a:buSzPts val="1100"/>
              <a:buFont typeface="Calibri"/>
              <a:buNone/>
            </a:pPr>
            <a:r>
              <a:rPr b="0" i="1" lang="en-US" sz="1100" u="none" cap="none" strike="noStrike">
                <a:solidFill>
                  <a:srgbClr val="1C3A5E"/>
                </a:solidFill>
                <a:latin typeface="Calibri"/>
                <a:ea typeface="Calibri"/>
                <a:cs typeface="Calibri"/>
                <a:sym typeface="Calibri"/>
              </a:rPr>
              <a:t>Demo batch: ~150 real approved + ~50 planted defects in one run → grouped by lane, then a scorecard (‘caught 48 of 50; here are the two it missed and why’). The registry holds only approved forms, so failing cases are manufactured; agent corrections add fresh labeled cases over time.</a:t>
            </a:r>
            <a:endParaRPr b="0" i="0" sz="1100" u="none" cap="none" strike="noStrike">
              <a:solidFill>
                <a:schemeClr val="dk1"/>
              </a:solidFill>
              <a:latin typeface="Calibri"/>
              <a:ea typeface="Calibri"/>
              <a:cs typeface="Calibri"/>
              <a:sym typeface="Calibri"/>
            </a:endParaRPr>
          </a:p>
        </p:txBody>
      </p:sp>
      <p:sp>
        <p:nvSpPr>
          <p:cNvPr id="666" name="Google Shape;666;p20"/>
          <p:cNvSpPr/>
          <p:nvPr/>
        </p:nvSpPr>
        <p:spPr>
          <a:xfrm>
            <a:off x="685800" y="6446520"/>
            <a:ext cx="6400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AI Label Verification · Approach &amp; Design</a:t>
            </a:r>
            <a:endParaRPr b="0" i="0" sz="900" u="none" cap="none" strike="noStrike">
              <a:solidFill>
                <a:schemeClr val="dk1"/>
              </a:solidFill>
              <a:latin typeface="Calibri"/>
              <a:ea typeface="Calibri"/>
              <a:cs typeface="Calibri"/>
              <a:sym typeface="Calibri"/>
            </a:endParaRPr>
          </a:p>
        </p:txBody>
      </p:sp>
      <p:sp>
        <p:nvSpPr>
          <p:cNvPr id="667" name="Google Shape;667;p20"/>
          <p:cNvSpPr/>
          <p:nvPr/>
        </p:nvSpPr>
        <p:spPr>
          <a:xfrm>
            <a:off x="11185855" y="6446520"/>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18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672" name="Shape 672"/>
        <p:cNvGrpSpPr/>
        <p:nvPr/>
      </p:nvGrpSpPr>
      <p:grpSpPr>
        <a:xfrm>
          <a:off x="0" y="0"/>
          <a:ext cx="0" cy="0"/>
          <a:chOff x="0" y="0"/>
          <a:chExt cx="0" cy="0"/>
        </a:xfrm>
      </p:grpSpPr>
      <p:sp>
        <p:nvSpPr>
          <p:cNvPr id="673" name="Google Shape;673;p21"/>
          <p:cNvSpPr/>
          <p:nvPr/>
        </p:nvSpPr>
        <p:spPr>
          <a:xfrm>
            <a:off x="685800" y="457200"/>
            <a:ext cx="107899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63EB"/>
              </a:buClr>
              <a:buSzPts val="1200"/>
              <a:buFont typeface="Calibri"/>
              <a:buNone/>
            </a:pPr>
            <a:r>
              <a:rPr b="1" i="0" lang="en-US" sz="1200" u="none" cap="none" strike="noStrike">
                <a:solidFill>
                  <a:srgbClr val="2563EB"/>
                </a:solidFill>
                <a:latin typeface="Calibri"/>
                <a:ea typeface="Calibri"/>
                <a:cs typeface="Calibri"/>
                <a:sym typeface="Calibri"/>
              </a:rPr>
              <a:t>CONSTRAINTS &amp; REQUIREMENTS</a:t>
            </a:r>
            <a:endParaRPr b="0" i="0" sz="1200" u="none" cap="none" strike="noStrike">
              <a:solidFill>
                <a:schemeClr val="dk1"/>
              </a:solidFill>
              <a:latin typeface="Calibri"/>
              <a:ea typeface="Calibri"/>
              <a:cs typeface="Calibri"/>
              <a:sym typeface="Calibri"/>
            </a:endParaRPr>
          </a:p>
        </p:txBody>
      </p:sp>
      <p:sp>
        <p:nvSpPr>
          <p:cNvPr id="674" name="Google Shape;674;p21"/>
          <p:cNvSpPr/>
          <p:nvPr/>
        </p:nvSpPr>
        <p:spPr>
          <a:xfrm>
            <a:off x="685800" y="749808"/>
            <a:ext cx="107899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Georgia"/>
              <a:buNone/>
            </a:pPr>
            <a:r>
              <a:rPr b="1" i="0" lang="en-US" sz="3200" u="none" cap="none" strike="noStrike">
                <a:solidFill>
                  <a:srgbClr val="0F172A"/>
                </a:solidFill>
                <a:latin typeface="Georgia"/>
                <a:ea typeface="Georgia"/>
                <a:cs typeface="Georgia"/>
                <a:sym typeface="Georgia"/>
              </a:rPr>
              <a:t>The box we built within</a:t>
            </a:r>
            <a:endParaRPr b="0" i="0" sz="3200" u="none" cap="none" strike="noStrike">
              <a:solidFill>
                <a:schemeClr val="dk1"/>
              </a:solidFill>
              <a:latin typeface="Calibri"/>
              <a:ea typeface="Calibri"/>
              <a:cs typeface="Calibri"/>
              <a:sym typeface="Calibri"/>
            </a:endParaRPr>
          </a:p>
        </p:txBody>
      </p:sp>
      <p:sp>
        <p:nvSpPr>
          <p:cNvPr id="675" name="Google Shape;675;p21"/>
          <p:cNvSpPr/>
          <p:nvPr/>
        </p:nvSpPr>
        <p:spPr>
          <a:xfrm>
            <a:off x="685800" y="1874520"/>
            <a:ext cx="2468880" cy="169164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21"/>
          <p:cNvSpPr/>
          <p:nvPr/>
        </p:nvSpPr>
        <p:spPr>
          <a:xfrm>
            <a:off x="960120" y="2103120"/>
            <a:ext cx="640080" cy="640080"/>
          </a:xfrm>
          <a:prstGeom prst="ellipse">
            <a:avLst/>
          </a:prstGeom>
          <a:solidFill>
            <a:srgbClr val="1580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77" name="Google Shape;677;p21"/>
          <p:cNvPicPr preferRelativeResize="0"/>
          <p:nvPr/>
        </p:nvPicPr>
        <p:blipFill rotWithShape="1">
          <a:blip r:embed="rId3">
            <a:alphaModFix/>
          </a:blip>
          <a:srcRect b="0" l="0" r="0" t="0"/>
          <a:stretch/>
        </p:blipFill>
        <p:spPr>
          <a:xfrm>
            <a:off x="1115568" y="2258568"/>
            <a:ext cx="329184" cy="329184"/>
          </a:xfrm>
          <a:prstGeom prst="rect">
            <a:avLst/>
          </a:prstGeom>
          <a:noFill/>
          <a:ln>
            <a:noFill/>
          </a:ln>
        </p:spPr>
      </p:pic>
      <p:sp>
        <p:nvSpPr>
          <p:cNvPr id="678" name="Google Shape;678;p21"/>
          <p:cNvSpPr/>
          <p:nvPr/>
        </p:nvSpPr>
        <p:spPr>
          <a:xfrm>
            <a:off x="960120" y="2816352"/>
            <a:ext cx="2011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450"/>
              <a:buFont typeface="Calibri"/>
              <a:buNone/>
            </a:pPr>
            <a:r>
              <a:rPr b="1" i="0" lang="en-US" sz="1450" u="none" cap="none" strike="noStrike">
                <a:solidFill>
                  <a:srgbClr val="0F172A"/>
                </a:solidFill>
                <a:latin typeface="Calibri"/>
                <a:ea typeface="Calibri"/>
                <a:cs typeface="Calibri"/>
                <a:sym typeface="Calibri"/>
              </a:rPr>
              <a:t>5-second latency</a:t>
            </a:r>
            <a:endParaRPr b="0" i="0" sz="1450" u="none" cap="none" strike="noStrike">
              <a:solidFill>
                <a:schemeClr val="dk1"/>
              </a:solidFill>
              <a:latin typeface="Calibri"/>
              <a:ea typeface="Calibri"/>
              <a:cs typeface="Calibri"/>
              <a:sym typeface="Calibri"/>
            </a:endParaRPr>
          </a:p>
        </p:txBody>
      </p:sp>
      <p:sp>
        <p:nvSpPr>
          <p:cNvPr id="679" name="Google Shape;679;p21"/>
          <p:cNvSpPr/>
          <p:nvPr/>
        </p:nvSpPr>
        <p:spPr>
          <a:xfrm>
            <a:off x="960120" y="3154680"/>
            <a:ext cx="21031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150"/>
              <a:buFont typeface="Calibri"/>
              <a:buNone/>
            </a:pPr>
            <a:r>
              <a:rPr b="0" i="0" lang="en-US" sz="1150" u="none" cap="none" strike="noStrike">
                <a:solidFill>
                  <a:srgbClr val="5B6B7F"/>
                </a:solidFill>
                <a:latin typeface="Calibri"/>
                <a:ea typeface="Calibri"/>
                <a:cs typeface="Calibri"/>
                <a:sym typeface="Calibri"/>
              </a:rPr>
              <a:t>the hard acceptance bar</a:t>
            </a:r>
            <a:endParaRPr b="0" i="0" sz="1150" u="none" cap="none" strike="noStrike">
              <a:solidFill>
                <a:schemeClr val="dk1"/>
              </a:solidFill>
              <a:latin typeface="Calibri"/>
              <a:ea typeface="Calibri"/>
              <a:cs typeface="Calibri"/>
              <a:sym typeface="Calibri"/>
            </a:endParaRPr>
          </a:p>
        </p:txBody>
      </p:sp>
      <p:sp>
        <p:nvSpPr>
          <p:cNvPr id="680" name="Google Shape;680;p21"/>
          <p:cNvSpPr/>
          <p:nvPr/>
        </p:nvSpPr>
        <p:spPr>
          <a:xfrm>
            <a:off x="3383280" y="1874520"/>
            <a:ext cx="2468880" cy="169164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21"/>
          <p:cNvSpPr/>
          <p:nvPr/>
        </p:nvSpPr>
        <p:spPr>
          <a:xfrm>
            <a:off x="3657600" y="2103120"/>
            <a:ext cx="640080" cy="640080"/>
          </a:xfrm>
          <a:prstGeom prst="ellipse">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82" name="Google Shape;682;p21"/>
          <p:cNvPicPr preferRelativeResize="0"/>
          <p:nvPr/>
        </p:nvPicPr>
        <p:blipFill rotWithShape="1">
          <a:blip r:embed="rId4">
            <a:alphaModFix/>
          </a:blip>
          <a:srcRect b="0" l="0" r="0" t="0"/>
          <a:stretch/>
        </p:blipFill>
        <p:spPr>
          <a:xfrm>
            <a:off x="3813048" y="2258568"/>
            <a:ext cx="329184" cy="329184"/>
          </a:xfrm>
          <a:prstGeom prst="rect">
            <a:avLst/>
          </a:prstGeom>
          <a:noFill/>
          <a:ln>
            <a:noFill/>
          </a:ln>
        </p:spPr>
      </p:pic>
      <p:sp>
        <p:nvSpPr>
          <p:cNvPr id="683" name="Google Shape;683;p21"/>
          <p:cNvSpPr/>
          <p:nvPr/>
        </p:nvSpPr>
        <p:spPr>
          <a:xfrm>
            <a:off x="3657600" y="2816352"/>
            <a:ext cx="2011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450"/>
              <a:buFont typeface="Calibri"/>
              <a:buNone/>
            </a:pPr>
            <a:r>
              <a:rPr b="1" i="0" lang="en-US" sz="1450" u="none" cap="none" strike="noStrike">
                <a:solidFill>
                  <a:srgbClr val="0F172A"/>
                </a:solidFill>
                <a:latin typeface="Calibri"/>
                <a:ea typeface="Calibri"/>
                <a:cs typeface="Calibri"/>
                <a:sym typeface="Calibri"/>
              </a:rPr>
              <a:t>Accessibility</a:t>
            </a:r>
            <a:endParaRPr b="0" i="0" sz="1450" u="none" cap="none" strike="noStrike">
              <a:solidFill>
                <a:schemeClr val="dk1"/>
              </a:solidFill>
              <a:latin typeface="Calibri"/>
              <a:ea typeface="Calibri"/>
              <a:cs typeface="Calibri"/>
              <a:sym typeface="Calibri"/>
            </a:endParaRPr>
          </a:p>
        </p:txBody>
      </p:sp>
      <p:sp>
        <p:nvSpPr>
          <p:cNvPr id="684" name="Google Shape;684;p21"/>
          <p:cNvSpPr/>
          <p:nvPr/>
        </p:nvSpPr>
        <p:spPr>
          <a:xfrm>
            <a:off x="3657600" y="3154680"/>
            <a:ext cx="21031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150"/>
              <a:buFont typeface="Calibri"/>
              <a:buNone/>
            </a:pPr>
            <a:r>
              <a:rPr b="0" i="0" lang="en-US" sz="1150" u="none" cap="none" strike="noStrike">
                <a:solidFill>
                  <a:srgbClr val="5B6B7F"/>
                </a:solidFill>
                <a:latin typeface="Calibri"/>
                <a:ea typeface="Calibri"/>
                <a:cs typeface="Calibri"/>
                <a:sym typeface="Calibri"/>
              </a:rPr>
              <a:t>WCAG AA, older users</a:t>
            </a:r>
            <a:endParaRPr b="0" i="0" sz="1150" u="none" cap="none" strike="noStrike">
              <a:solidFill>
                <a:schemeClr val="dk1"/>
              </a:solidFill>
              <a:latin typeface="Calibri"/>
              <a:ea typeface="Calibri"/>
              <a:cs typeface="Calibri"/>
              <a:sym typeface="Calibri"/>
            </a:endParaRPr>
          </a:p>
        </p:txBody>
      </p:sp>
      <p:sp>
        <p:nvSpPr>
          <p:cNvPr id="685" name="Google Shape;685;p21"/>
          <p:cNvSpPr/>
          <p:nvPr/>
        </p:nvSpPr>
        <p:spPr>
          <a:xfrm>
            <a:off x="6080760" y="1874520"/>
            <a:ext cx="2468880" cy="169164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21"/>
          <p:cNvSpPr/>
          <p:nvPr/>
        </p:nvSpPr>
        <p:spPr>
          <a:xfrm>
            <a:off x="6355080" y="2103120"/>
            <a:ext cx="640080" cy="640080"/>
          </a:xfrm>
          <a:prstGeom prst="ellipse">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87" name="Google Shape;687;p21"/>
          <p:cNvPicPr preferRelativeResize="0"/>
          <p:nvPr/>
        </p:nvPicPr>
        <p:blipFill rotWithShape="1">
          <a:blip r:embed="rId5">
            <a:alphaModFix/>
          </a:blip>
          <a:srcRect b="0" l="0" r="0" t="0"/>
          <a:stretch/>
        </p:blipFill>
        <p:spPr>
          <a:xfrm>
            <a:off x="6510528" y="2258568"/>
            <a:ext cx="329184" cy="329184"/>
          </a:xfrm>
          <a:prstGeom prst="rect">
            <a:avLst/>
          </a:prstGeom>
          <a:noFill/>
          <a:ln>
            <a:noFill/>
          </a:ln>
        </p:spPr>
      </p:pic>
      <p:sp>
        <p:nvSpPr>
          <p:cNvPr id="688" name="Google Shape;688;p21"/>
          <p:cNvSpPr/>
          <p:nvPr/>
        </p:nvSpPr>
        <p:spPr>
          <a:xfrm>
            <a:off x="6355080" y="2816352"/>
            <a:ext cx="2011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450"/>
              <a:buFont typeface="Calibri"/>
              <a:buNone/>
            </a:pPr>
            <a:r>
              <a:rPr b="1" i="0" lang="en-US" sz="1450" u="none" cap="none" strike="noStrike">
                <a:solidFill>
                  <a:srgbClr val="0F172A"/>
                </a:solidFill>
                <a:latin typeface="Calibri"/>
                <a:ea typeface="Calibri"/>
                <a:cs typeface="Calibri"/>
                <a:sym typeface="Calibri"/>
              </a:rPr>
              <a:t>In-boundary model</a:t>
            </a:r>
            <a:endParaRPr b="0" i="0" sz="1450" u="none" cap="none" strike="noStrike">
              <a:solidFill>
                <a:schemeClr val="dk1"/>
              </a:solidFill>
              <a:latin typeface="Calibri"/>
              <a:ea typeface="Calibri"/>
              <a:cs typeface="Calibri"/>
              <a:sym typeface="Calibri"/>
            </a:endParaRPr>
          </a:p>
        </p:txBody>
      </p:sp>
      <p:sp>
        <p:nvSpPr>
          <p:cNvPr id="689" name="Google Shape;689;p21"/>
          <p:cNvSpPr/>
          <p:nvPr/>
        </p:nvSpPr>
        <p:spPr>
          <a:xfrm>
            <a:off x="6355080" y="3154680"/>
            <a:ext cx="21031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150"/>
              <a:buFont typeface="Calibri"/>
              <a:buNone/>
            </a:pPr>
            <a:r>
              <a:rPr b="0" i="0" lang="en-US" sz="1150" u="none" cap="none" strike="noStrike">
                <a:solidFill>
                  <a:srgbClr val="5B6B7F"/>
                </a:solidFill>
                <a:latin typeface="Calibri"/>
                <a:ea typeface="Calibri"/>
                <a:cs typeface="Calibri"/>
                <a:sym typeface="Calibri"/>
              </a:rPr>
              <a:t>firewall blocks external</a:t>
            </a:r>
            <a:endParaRPr b="0" i="0" sz="1150" u="none" cap="none" strike="noStrike">
              <a:solidFill>
                <a:schemeClr val="dk1"/>
              </a:solidFill>
              <a:latin typeface="Calibri"/>
              <a:ea typeface="Calibri"/>
              <a:cs typeface="Calibri"/>
              <a:sym typeface="Calibri"/>
            </a:endParaRPr>
          </a:p>
        </p:txBody>
      </p:sp>
      <p:sp>
        <p:nvSpPr>
          <p:cNvPr id="690" name="Google Shape;690;p21"/>
          <p:cNvSpPr/>
          <p:nvPr/>
        </p:nvSpPr>
        <p:spPr>
          <a:xfrm>
            <a:off x="8778240" y="1874520"/>
            <a:ext cx="2468880" cy="169164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21"/>
          <p:cNvSpPr/>
          <p:nvPr/>
        </p:nvSpPr>
        <p:spPr>
          <a:xfrm>
            <a:off x="9052560" y="2103120"/>
            <a:ext cx="640080" cy="640080"/>
          </a:xfrm>
          <a:prstGeom prst="ellipse">
            <a:avLst/>
          </a:prstGeom>
          <a:solidFill>
            <a:srgbClr val="B45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92" name="Google Shape;692;p21"/>
          <p:cNvPicPr preferRelativeResize="0"/>
          <p:nvPr/>
        </p:nvPicPr>
        <p:blipFill rotWithShape="1">
          <a:blip r:embed="rId6">
            <a:alphaModFix/>
          </a:blip>
          <a:srcRect b="0" l="0" r="0" t="0"/>
          <a:stretch/>
        </p:blipFill>
        <p:spPr>
          <a:xfrm>
            <a:off x="9208008" y="2258568"/>
            <a:ext cx="329184" cy="329184"/>
          </a:xfrm>
          <a:prstGeom prst="rect">
            <a:avLst/>
          </a:prstGeom>
          <a:noFill/>
          <a:ln>
            <a:noFill/>
          </a:ln>
        </p:spPr>
      </p:pic>
      <p:sp>
        <p:nvSpPr>
          <p:cNvPr id="693" name="Google Shape;693;p21"/>
          <p:cNvSpPr/>
          <p:nvPr/>
        </p:nvSpPr>
        <p:spPr>
          <a:xfrm>
            <a:off x="9052560" y="2816352"/>
            <a:ext cx="2011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450"/>
              <a:buFont typeface="Calibri"/>
              <a:buNone/>
            </a:pPr>
            <a:r>
              <a:rPr b="1" i="0" lang="en-US" sz="1450" u="none" cap="none" strike="noStrike">
                <a:solidFill>
                  <a:srgbClr val="0F172A"/>
                </a:solidFill>
                <a:latin typeface="Calibri"/>
                <a:ea typeface="Calibri"/>
                <a:cs typeface="Calibri"/>
                <a:sym typeface="Calibri"/>
              </a:rPr>
              <a:t>No PII stored</a:t>
            </a:r>
            <a:endParaRPr b="0" i="0" sz="1450" u="none" cap="none" strike="noStrike">
              <a:solidFill>
                <a:schemeClr val="dk1"/>
              </a:solidFill>
              <a:latin typeface="Calibri"/>
              <a:ea typeface="Calibri"/>
              <a:cs typeface="Calibri"/>
              <a:sym typeface="Calibri"/>
            </a:endParaRPr>
          </a:p>
        </p:txBody>
      </p:sp>
      <p:sp>
        <p:nvSpPr>
          <p:cNvPr id="694" name="Google Shape;694;p21"/>
          <p:cNvSpPr/>
          <p:nvPr/>
        </p:nvSpPr>
        <p:spPr>
          <a:xfrm>
            <a:off x="9052560" y="3154680"/>
            <a:ext cx="21031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150"/>
              <a:buFont typeface="Calibri"/>
              <a:buNone/>
            </a:pPr>
            <a:r>
              <a:rPr b="0" i="0" lang="en-US" sz="1150" u="none" cap="none" strike="noStrike">
                <a:solidFill>
                  <a:srgbClr val="5B6B7F"/>
                </a:solidFill>
                <a:latin typeface="Calibri"/>
                <a:ea typeface="Calibri"/>
                <a:cs typeface="Calibri"/>
                <a:sym typeface="Calibri"/>
              </a:rPr>
              <a:t>ephemeral by design</a:t>
            </a:r>
            <a:endParaRPr b="0" i="0" sz="1150" u="none" cap="none" strike="noStrike">
              <a:solidFill>
                <a:schemeClr val="dk1"/>
              </a:solidFill>
              <a:latin typeface="Calibri"/>
              <a:ea typeface="Calibri"/>
              <a:cs typeface="Calibri"/>
              <a:sym typeface="Calibri"/>
            </a:endParaRPr>
          </a:p>
        </p:txBody>
      </p:sp>
      <p:sp>
        <p:nvSpPr>
          <p:cNvPr id="695" name="Google Shape;695;p21"/>
          <p:cNvSpPr/>
          <p:nvPr/>
        </p:nvSpPr>
        <p:spPr>
          <a:xfrm>
            <a:off x="685800" y="3886200"/>
            <a:ext cx="10789920" cy="1554480"/>
          </a:xfrm>
          <a:prstGeom prst="roundRect">
            <a:avLst>
              <a:gd fmla="val 5882" name="adj"/>
            </a:avLst>
          </a:prstGeom>
          <a:solidFill>
            <a:srgbClr val="EEF3FA"/>
          </a:solidFill>
          <a:ln cap="flat" cmpd="sng" w="12700">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21"/>
          <p:cNvSpPr/>
          <p:nvPr/>
        </p:nvSpPr>
        <p:spPr>
          <a:xfrm>
            <a:off x="1005840" y="4041648"/>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A5E"/>
              </a:buClr>
              <a:buSzPts val="1450"/>
              <a:buFont typeface="Calibri"/>
              <a:buNone/>
            </a:pPr>
            <a:r>
              <a:rPr b="1" i="0" lang="en-US" sz="1450" u="none" cap="none" strike="noStrike">
                <a:solidFill>
                  <a:srgbClr val="1C3A5E"/>
                </a:solidFill>
                <a:latin typeface="Calibri"/>
                <a:ea typeface="Calibri"/>
                <a:cs typeface="Calibri"/>
                <a:sym typeface="Calibri"/>
              </a:rPr>
              <a:t>Requirements as testable acceptance criteria</a:t>
            </a:r>
            <a:endParaRPr b="0" i="0" sz="1450" u="none" cap="none" strike="noStrike">
              <a:solidFill>
                <a:schemeClr val="dk1"/>
              </a:solidFill>
              <a:latin typeface="Calibri"/>
              <a:ea typeface="Calibri"/>
              <a:cs typeface="Calibri"/>
              <a:sym typeface="Calibri"/>
            </a:endParaRPr>
          </a:p>
        </p:txBody>
      </p:sp>
      <p:sp>
        <p:nvSpPr>
          <p:cNvPr id="697" name="Google Shape;697;p21"/>
          <p:cNvSpPr/>
          <p:nvPr/>
        </p:nvSpPr>
        <p:spPr>
          <a:xfrm>
            <a:off x="1005840" y="4434840"/>
            <a:ext cx="10149840" cy="9144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F172A"/>
              </a:buClr>
              <a:buSzPts val="1300"/>
              <a:buFont typeface="Calibri"/>
              <a:buNone/>
            </a:pPr>
            <a:r>
              <a:rPr b="0" i="0" lang="en-US" sz="1300" u="none" cap="none" strike="noStrike">
                <a:solidFill>
                  <a:srgbClr val="0F172A"/>
                </a:solidFill>
                <a:latin typeface="Calibri"/>
                <a:ea typeface="Calibri"/>
                <a:cs typeface="Calibri"/>
                <a:sym typeface="Calibri"/>
              </a:rPr>
              <a:t>Clean registry pair → all green   ·   ABV mismatch → flagged on ABV   ·   title-case warning → flagged</a:t>
            </a:r>
            <a:endParaRPr b="0" i="0" sz="13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0F172A"/>
              </a:buClr>
              <a:buSzPts val="1300"/>
              <a:buFont typeface="Calibri"/>
              <a:buNone/>
            </a:pPr>
            <a:r>
              <a:rPr b="0" i="0" lang="en-US" sz="1300" u="none" cap="none" strike="noStrike">
                <a:solidFill>
                  <a:srgbClr val="0F172A"/>
                </a:solidFill>
                <a:latin typeface="Calibri"/>
                <a:ea typeface="Calibri"/>
                <a:cs typeface="Calibri"/>
                <a:sym typeface="Calibri"/>
              </a:rPr>
              <a:t>‘STONE’S THROW’ vs ‘Stone’s Throw’ → match   ·   blurry image → needs-a-better-image, not an error</a:t>
            </a:r>
            <a:endParaRPr b="0" i="0" sz="1300" u="none" cap="none" strike="noStrike">
              <a:solidFill>
                <a:schemeClr val="dk1"/>
              </a:solidFill>
              <a:latin typeface="Calibri"/>
              <a:ea typeface="Calibri"/>
              <a:cs typeface="Calibri"/>
              <a:sym typeface="Calibri"/>
            </a:endParaRPr>
          </a:p>
        </p:txBody>
      </p:sp>
      <p:sp>
        <p:nvSpPr>
          <p:cNvPr id="698" name="Google Shape;698;p21"/>
          <p:cNvSpPr/>
          <p:nvPr/>
        </p:nvSpPr>
        <p:spPr>
          <a:xfrm>
            <a:off x="685800" y="6446520"/>
            <a:ext cx="6400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AI Label Verification · Approach &amp; Design</a:t>
            </a:r>
            <a:endParaRPr b="0" i="0" sz="900" u="none" cap="none" strike="noStrike">
              <a:solidFill>
                <a:schemeClr val="dk1"/>
              </a:solidFill>
              <a:latin typeface="Calibri"/>
              <a:ea typeface="Calibri"/>
              <a:cs typeface="Calibri"/>
              <a:sym typeface="Calibri"/>
            </a:endParaRPr>
          </a:p>
        </p:txBody>
      </p:sp>
      <p:sp>
        <p:nvSpPr>
          <p:cNvPr id="699" name="Google Shape;699;p21"/>
          <p:cNvSpPr/>
          <p:nvPr/>
        </p:nvSpPr>
        <p:spPr>
          <a:xfrm>
            <a:off x="11185855" y="6446520"/>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19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704" name="Shape 704"/>
        <p:cNvGrpSpPr/>
        <p:nvPr/>
      </p:nvGrpSpPr>
      <p:grpSpPr>
        <a:xfrm>
          <a:off x="0" y="0"/>
          <a:ext cx="0" cy="0"/>
          <a:chOff x="0" y="0"/>
          <a:chExt cx="0" cy="0"/>
        </a:xfrm>
      </p:grpSpPr>
      <p:sp>
        <p:nvSpPr>
          <p:cNvPr id="705" name="Google Shape;705;p22"/>
          <p:cNvSpPr/>
          <p:nvPr/>
        </p:nvSpPr>
        <p:spPr>
          <a:xfrm>
            <a:off x="685800" y="457200"/>
            <a:ext cx="107899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63EB"/>
              </a:buClr>
              <a:buSzPts val="1200"/>
              <a:buFont typeface="Calibri"/>
              <a:buNone/>
            </a:pPr>
            <a:r>
              <a:rPr b="1" i="0" lang="en-US" sz="1200" u="none" cap="none" strike="noStrike">
                <a:solidFill>
                  <a:srgbClr val="2563EB"/>
                </a:solidFill>
                <a:latin typeface="Calibri"/>
                <a:ea typeface="Calibri"/>
                <a:cs typeface="Calibri"/>
                <a:sym typeface="Calibri"/>
              </a:rPr>
              <a:t>KEY DESIGN DECISIONS</a:t>
            </a:r>
            <a:endParaRPr b="0" i="0" sz="1200" u="none" cap="none" strike="noStrike">
              <a:solidFill>
                <a:schemeClr val="dk1"/>
              </a:solidFill>
              <a:latin typeface="Calibri"/>
              <a:ea typeface="Calibri"/>
              <a:cs typeface="Calibri"/>
              <a:sym typeface="Calibri"/>
            </a:endParaRPr>
          </a:p>
        </p:txBody>
      </p:sp>
      <p:sp>
        <p:nvSpPr>
          <p:cNvPr id="706" name="Google Shape;706;p22"/>
          <p:cNvSpPr/>
          <p:nvPr/>
        </p:nvSpPr>
        <p:spPr>
          <a:xfrm>
            <a:off x="685800" y="749808"/>
            <a:ext cx="107899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Georgia"/>
              <a:buNone/>
            </a:pPr>
            <a:r>
              <a:rPr b="1" i="0" lang="en-US" sz="3200" u="none" cap="none" strike="noStrike">
                <a:solidFill>
                  <a:srgbClr val="0F172A"/>
                </a:solidFill>
                <a:latin typeface="Georgia"/>
                <a:ea typeface="Georgia"/>
                <a:cs typeface="Georgia"/>
                <a:sym typeface="Georgia"/>
              </a:rPr>
              <a:t>Every one a real trade-off</a:t>
            </a:r>
            <a:endParaRPr b="0" i="0" sz="3200" u="none" cap="none" strike="noStrike">
              <a:solidFill>
                <a:schemeClr val="dk1"/>
              </a:solidFill>
              <a:latin typeface="Calibri"/>
              <a:ea typeface="Calibri"/>
              <a:cs typeface="Calibri"/>
              <a:sym typeface="Calibri"/>
            </a:endParaRPr>
          </a:p>
        </p:txBody>
      </p:sp>
      <p:graphicFrame>
        <p:nvGraphicFramePr>
          <p:cNvPr id="707" name="Google Shape;707;p22"/>
          <p:cNvGraphicFramePr/>
          <p:nvPr/>
        </p:nvGraphicFramePr>
        <p:xfrm>
          <a:off x="685800" y="1874520"/>
          <a:ext cx="3000000" cy="3000000"/>
        </p:xfrm>
        <a:graphic>
          <a:graphicData uri="http://schemas.openxmlformats.org/drawingml/2006/table">
            <a:tbl>
              <a:tblPr>
                <a:noFill/>
                <a:tableStyleId>{E74EB4E3-7090-4C59-A1C6-0D85AFD94D89}</a:tableStyleId>
              </a:tblPr>
              <a:tblGrid>
                <a:gridCol w="3383275"/>
                <a:gridCol w="3703325"/>
                <a:gridCol w="3703325"/>
              </a:tblGrid>
              <a:tr h="457200">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Decision</a:t>
                      </a:r>
                      <a:endParaRPr sz="1300" u="none" cap="none" strike="noStrike">
                        <a:latin typeface="Calibri"/>
                        <a:ea typeface="Calibri"/>
                        <a:cs typeface="Calibri"/>
                        <a:sym typeface="Calibri"/>
                      </a:endParaRPr>
                    </a:p>
                  </a:txBody>
                  <a:tcPr marT="45725" marB="45725" marR="91450" marL="91450" anchor="ctr">
                    <a:lnL cap="flat" cmpd="sng" w="12700">
                      <a:solidFill>
                        <a:srgbClr val="E3E8EF"/>
                      </a:solidFill>
                      <a:prstDash val="solid"/>
                      <a:round/>
                      <a:headEnd len="sm" w="sm" type="none"/>
                      <a:tailEnd len="sm" w="sm" type="none"/>
                    </a:lnL>
                    <a:lnR cap="flat" cmpd="sng" w="12700">
                      <a:solidFill>
                        <a:srgbClr val="E3E8EF"/>
                      </a:solidFill>
                      <a:prstDash val="solid"/>
                      <a:round/>
                      <a:headEnd len="sm" w="sm" type="none"/>
                      <a:tailEnd len="sm" w="sm" type="none"/>
                    </a:lnR>
                    <a:lnT cap="flat" cmpd="sng" w="12700">
                      <a:solidFill>
                        <a:srgbClr val="E3E8EF"/>
                      </a:solidFill>
                      <a:prstDash val="solid"/>
                      <a:round/>
                      <a:headEnd len="sm" w="sm" type="none"/>
                      <a:tailEnd len="sm" w="sm" type="none"/>
                    </a:lnT>
                    <a:lnB cap="flat" cmpd="sng" w="12700">
                      <a:solidFill>
                        <a:srgbClr val="E3E8EF"/>
                      </a:solidFill>
                      <a:prstDash val="solid"/>
                      <a:round/>
                      <a:headEnd len="sm" w="sm" type="none"/>
                      <a:tailEnd len="sm" w="sm" type="none"/>
                    </a:lnB>
                    <a:solidFill>
                      <a:srgbClr val="12233B"/>
                    </a:solidFill>
                  </a:tcPr>
                </a:tc>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Why</a:t>
                      </a:r>
                      <a:endParaRPr sz="1300" u="none" cap="none" strike="noStrike">
                        <a:latin typeface="Calibri"/>
                        <a:ea typeface="Calibri"/>
                        <a:cs typeface="Calibri"/>
                        <a:sym typeface="Calibri"/>
                      </a:endParaRPr>
                    </a:p>
                  </a:txBody>
                  <a:tcPr marT="45725" marB="45725" marR="91450" marL="91450" anchor="ctr">
                    <a:lnL cap="flat" cmpd="sng" w="12700">
                      <a:solidFill>
                        <a:srgbClr val="E3E8EF"/>
                      </a:solidFill>
                      <a:prstDash val="solid"/>
                      <a:round/>
                      <a:headEnd len="sm" w="sm" type="none"/>
                      <a:tailEnd len="sm" w="sm" type="none"/>
                    </a:lnL>
                    <a:lnR cap="flat" cmpd="sng" w="12700">
                      <a:solidFill>
                        <a:srgbClr val="E3E8EF"/>
                      </a:solidFill>
                      <a:prstDash val="solid"/>
                      <a:round/>
                      <a:headEnd len="sm" w="sm" type="none"/>
                      <a:tailEnd len="sm" w="sm" type="none"/>
                    </a:lnR>
                    <a:lnT cap="flat" cmpd="sng" w="12700">
                      <a:solidFill>
                        <a:srgbClr val="E3E8EF"/>
                      </a:solidFill>
                      <a:prstDash val="solid"/>
                      <a:round/>
                      <a:headEnd len="sm" w="sm" type="none"/>
                      <a:tailEnd len="sm" w="sm" type="none"/>
                    </a:lnT>
                    <a:lnB cap="flat" cmpd="sng" w="12700">
                      <a:solidFill>
                        <a:srgbClr val="E3E8EF"/>
                      </a:solidFill>
                      <a:prstDash val="solid"/>
                      <a:round/>
                      <a:headEnd len="sm" w="sm" type="none"/>
                      <a:tailEnd len="sm" w="sm" type="none"/>
                    </a:lnB>
                    <a:solidFill>
                      <a:srgbClr val="12233B"/>
                    </a:solidFill>
                  </a:tcPr>
                </a:tc>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Trade-off accepted</a:t>
                      </a:r>
                      <a:endParaRPr sz="1300" u="none" cap="none" strike="noStrike">
                        <a:latin typeface="Calibri"/>
                        <a:ea typeface="Calibri"/>
                        <a:cs typeface="Calibri"/>
                        <a:sym typeface="Calibri"/>
                      </a:endParaRPr>
                    </a:p>
                  </a:txBody>
                  <a:tcPr marT="45725" marB="45725" marR="91450" marL="91450" anchor="ctr">
                    <a:lnL cap="flat" cmpd="sng" w="12700">
                      <a:solidFill>
                        <a:srgbClr val="E3E8EF"/>
                      </a:solidFill>
                      <a:prstDash val="solid"/>
                      <a:round/>
                      <a:headEnd len="sm" w="sm" type="none"/>
                      <a:tailEnd len="sm" w="sm" type="none"/>
                    </a:lnL>
                    <a:lnR cap="flat" cmpd="sng" w="12700">
                      <a:solidFill>
                        <a:srgbClr val="E3E8EF"/>
                      </a:solidFill>
                      <a:prstDash val="solid"/>
                      <a:round/>
                      <a:headEnd len="sm" w="sm" type="none"/>
                      <a:tailEnd len="sm" w="sm" type="none"/>
                    </a:lnR>
                    <a:lnT cap="flat" cmpd="sng" w="12700">
                      <a:solidFill>
                        <a:srgbClr val="E3E8EF"/>
                      </a:solidFill>
                      <a:prstDash val="solid"/>
                      <a:round/>
                      <a:headEnd len="sm" w="sm" type="none"/>
                      <a:tailEnd len="sm" w="sm" type="none"/>
                    </a:lnT>
                    <a:lnB cap="flat" cmpd="sng" w="12700">
                      <a:solidFill>
                        <a:srgbClr val="E3E8EF"/>
                      </a:solidFill>
                      <a:prstDash val="solid"/>
                      <a:round/>
                      <a:headEnd len="sm" w="sm" type="none"/>
                      <a:tailEnd len="sm" w="sm" type="none"/>
                    </a:lnB>
                    <a:solidFill>
                      <a:srgbClr val="12233B"/>
                    </a:solidFill>
                  </a:tcPr>
                </a:tc>
              </a:tr>
              <a:tr h="566925">
                <a:tc>
                  <a:txBody>
                    <a:bodyPr/>
                    <a:lstStyle/>
                    <a:p>
                      <a:pPr indent="0" lvl="0" marL="0" marR="0" rtl="0" algn="l">
                        <a:spcBef>
                          <a:spcPts val="0"/>
                        </a:spcBef>
                        <a:spcAft>
                          <a:spcPts val="0"/>
                        </a:spcAft>
                        <a:buClr>
                          <a:srgbClr val="0F172A"/>
                        </a:buClr>
                        <a:buSzPts val="1250"/>
                        <a:buFont typeface="Calibri"/>
                        <a:buNone/>
                      </a:pPr>
                      <a:r>
                        <a:rPr lang="en-US" sz="1250" u="none" cap="none" strike="noStrike">
                          <a:solidFill>
                            <a:srgbClr val="0F172A"/>
                          </a:solidFill>
                          <a:latin typeface="Calibri"/>
                          <a:ea typeface="Calibri"/>
                          <a:cs typeface="Calibri"/>
                          <a:sym typeface="Calibri"/>
                        </a:rPr>
                        <a:t>Model reads, code decides</a:t>
                      </a:r>
                      <a:endParaRPr sz="1250" u="none" cap="none" strike="noStrike">
                        <a:latin typeface="Calibri"/>
                        <a:ea typeface="Calibri"/>
                        <a:cs typeface="Calibri"/>
                        <a:sym typeface="Calibri"/>
                      </a:endParaRPr>
                    </a:p>
                  </a:txBody>
                  <a:tcPr marT="45725" marB="45725" marR="91450" marL="91450" anchor="ctr">
                    <a:lnL cap="flat" cmpd="sng" w="12700">
                      <a:solidFill>
                        <a:srgbClr val="E3E8EF"/>
                      </a:solidFill>
                      <a:prstDash val="solid"/>
                      <a:round/>
                      <a:headEnd len="sm" w="sm" type="none"/>
                      <a:tailEnd len="sm" w="sm" type="none"/>
                    </a:lnL>
                    <a:lnR cap="flat" cmpd="sng" w="12700">
                      <a:solidFill>
                        <a:srgbClr val="E3E8EF"/>
                      </a:solidFill>
                      <a:prstDash val="solid"/>
                      <a:round/>
                      <a:headEnd len="sm" w="sm" type="none"/>
                      <a:tailEnd len="sm" w="sm" type="none"/>
                    </a:lnR>
                    <a:lnT cap="flat" cmpd="sng" w="12700">
                      <a:solidFill>
                        <a:srgbClr val="E3E8EF"/>
                      </a:solidFill>
                      <a:prstDash val="solid"/>
                      <a:round/>
                      <a:headEnd len="sm" w="sm" type="none"/>
                      <a:tailEnd len="sm" w="sm" type="none"/>
                    </a:lnT>
                    <a:lnB cap="flat" cmpd="sng" w="12700">
                      <a:solidFill>
                        <a:srgbClr val="E3E8E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F172A"/>
                        </a:buClr>
                        <a:buSzPts val="1250"/>
                        <a:buFont typeface="Calibri"/>
                        <a:buNone/>
                      </a:pPr>
                      <a:r>
                        <a:rPr lang="en-US" sz="1250" u="none" cap="none" strike="noStrike">
                          <a:solidFill>
                            <a:srgbClr val="0F172A"/>
                          </a:solidFill>
                          <a:latin typeface="Calibri"/>
                          <a:ea typeface="Calibri"/>
                          <a:cs typeface="Calibri"/>
                          <a:sym typeface="Calibri"/>
                        </a:rPr>
                        <a:t>Judgment stays testable &amp; tunable</a:t>
                      </a:r>
                      <a:endParaRPr sz="1250" u="none" cap="none" strike="noStrike">
                        <a:latin typeface="Calibri"/>
                        <a:ea typeface="Calibri"/>
                        <a:cs typeface="Calibri"/>
                        <a:sym typeface="Calibri"/>
                      </a:endParaRPr>
                    </a:p>
                  </a:txBody>
                  <a:tcPr marT="45725" marB="45725" marR="91450" marL="91450" anchor="ctr">
                    <a:lnL cap="flat" cmpd="sng" w="12700">
                      <a:solidFill>
                        <a:srgbClr val="E3E8EF"/>
                      </a:solidFill>
                      <a:prstDash val="solid"/>
                      <a:round/>
                      <a:headEnd len="sm" w="sm" type="none"/>
                      <a:tailEnd len="sm" w="sm" type="none"/>
                    </a:lnL>
                    <a:lnR cap="flat" cmpd="sng" w="12700">
                      <a:solidFill>
                        <a:srgbClr val="E3E8EF"/>
                      </a:solidFill>
                      <a:prstDash val="solid"/>
                      <a:round/>
                      <a:headEnd len="sm" w="sm" type="none"/>
                      <a:tailEnd len="sm" w="sm" type="none"/>
                    </a:lnR>
                    <a:lnT cap="flat" cmpd="sng" w="12700">
                      <a:solidFill>
                        <a:srgbClr val="E3E8EF"/>
                      </a:solidFill>
                      <a:prstDash val="solid"/>
                      <a:round/>
                      <a:headEnd len="sm" w="sm" type="none"/>
                      <a:tailEnd len="sm" w="sm" type="none"/>
                    </a:lnT>
                    <a:lnB cap="flat" cmpd="sng" w="12700">
                      <a:solidFill>
                        <a:srgbClr val="E3E8E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F172A"/>
                        </a:buClr>
                        <a:buSzPts val="1250"/>
                        <a:buFont typeface="Calibri"/>
                        <a:buNone/>
                      </a:pPr>
                      <a:r>
                        <a:rPr lang="en-US" sz="1250" u="none" cap="none" strike="noStrike">
                          <a:solidFill>
                            <a:srgbClr val="0F172A"/>
                          </a:solidFill>
                          <a:latin typeface="Calibri"/>
                          <a:ea typeface="Calibri"/>
                          <a:cs typeface="Calibri"/>
                          <a:sym typeface="Calibri"/>
                        </a:rPr>
                        <a:t>More glue code than letting the model judge</a:t>
                      </a:r>
                      <a:endParaRPr sz="1250" u="none" cap="none" strike="noStrike">
                        <a:latin typeface="Calibri"/>
                        <a:ea typeface="Calibri"/>
                        <a:cs typeface="Calibri"/>
                        <a:sym typeface="Calibri"/>
                      </a:endParaRPr>
                    </a:p>
                  </a:txBody>
                  <a:tcPr marT="45725" marB="45725" marR="91450" marL="91450" anchor="ctr">
                    <a:lnL cap="flat" cmpd="sng" w="12700">
                      <a:solidFill>
                        <a:srgbClr val="E3E8EF"/>
                      </a:solidFill>
                      <a:prstDash val="solid"/>
                      <a:round/>
                      <a:headEnd len="sm" w="sm" type="none"/>
                      <a:tailEnd len="sm" w="sm" type="none"/>
                    </a:lnL>
                    <a:lnR cap="flat" cmpd="sng" w="12700">
                      <a:solidFill>
                        <a:srgbClr val="E3E8EF"/>
                      </a:solidFill>
                      <a:prstDash val="solid"/>
                      <a:round/>
                      <a:headEnd len="sm" w="sm" type="none"/>
                      <a:tailEnd len="sm" w="sm" type="none"/>
                    </a:lnR>
                    <a:lnT cap="flat" cmpd="sng" w="12700">
                      <a:solidFill>
                        <a:srgbClr val="E3E8EF"/>
                      </a:solidFill>
                      <a:prstDash val="solid"/>
                      <a:round/>
                      <a:headEnd len="sm" w="sm" type="none"/>
                      <a:tailEnd len="sm" w="sm" type="none"/>
                    </a:lnT>
                    <a:lnB cap="flat" cmpd="sng" w="12700">
                      <a:solidFill>
                        <a:srgbClr val="E3E8EF"/>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0F172A"/>
                        </a:buClr>
                        <a:buSzPts val="1250"/>
                        <a:buFont typeface="Calibri"/>
                        <a:buNone/>
                      </a:pPr>
                      <a:r>
                        <a:rPr lang="en-US" sz="1250" u="none" cap="none" strike="noStrike">
                          <a:solidFill>
                            <a:srgbClr val="0F172A"/>
                          </a:solidFill>
                          <a:latin typeface="Calibri"/>
                          <a:ea typeface="Calibri"/>
                          <a:cs typeface="Calibri"/>
                          <a:sym typeface="Calibri"/>
                        </a:rPr>
                        <a:t>Confidence computed in code</a:t>
                      </a:r>
                      <a:endParaRPr sz="1250" u="none" cap="none" strike="noStrike">
                        <a:latin typeface="Calibri"/>
                        <a:ea typeface="Calibri"/>
                        <a:cs typeface="Calibri"/>
                        <a:sym typeface="Calibri"/>
                      </a:endParaRPr>
                    </a:p>
                  </a:txBody>
                  <a:tcPr marT="45725" marB="45725" marR="91450" marL="91450" anchor="ctr">
                    <a:lnL cap="flat" cmpd="sng" w="12700">
                      <a:solidFill>
                        <a:srgbClr val="E3E8EF"/>
                      </a:solidFill>
                      <a:prstDash val="solid"/>
                      <a:round/>
                      <a:headEnd len="sm" w="sm" type="none"/>
                      <a:tailEnd len="sm" w="sm" type="none"/>
                    </a:lnL>
                    <a:lnR cap="flat" cmpd="sng" w="12700">
                      <a:solidFill>
                        <a:srgbClr val="E3E8EF"/>
                      </a:solidFill>
                      <a:prstDash val="solid"/>
                      <a:round/>
                      <a:headEnd len="sm" w="sm" type="none"/>
                      <a:tailEnd len="sm" w="sm" type="none"/>
                    </a:lnR>
                    <a:lnT cap="flat" cmpd="sng" w="12700">
                      <a:solidFill>
                        <a:srgbClr val="E3E8EF"/>
                      </a:solidFill>
                      <a:prstDash val="solid"/>
                      <a:round/>
                      <a:headEnd len="sm" w="sm" type="none"/>
                      <a:tailEnd len="sm" w="sm" type="none"/>
                    </a:lnT>
                    <a:lnB cap="flat" cmpd="sng" w="12700">
                      <a:solidFill>
                        <a:srgbClr val="E3E8EF"/>
                      </a:solidFill>
                      <a:prstDash val="solid"/>
                      <a:round/>
                      <a:headEnd len="sm" w="sm" type="none"/>
                      <a:tailEnd len="sm" w="sm" type="none"/>
                    </a:lnB>
                    <a:solidFill>
                      <a:srgbClr val="F0F4F9"/>
                    </a:solidFill>
                  </a:tcPr>
                </a:tc>
                <a:tc>
                  <a:txBody>
                    <a:bodyPr/>
                    <a:lstStyle/>
                    <a:p>
                      <a:pPr indent="0" lvl="0" marL="0" marR="0" rtl="0" algn="l">
                        <a:spcBef>
                          <a:spcPts val="0"/>
                        </a:spcBef>
                        <a:spcAft>
                          <a:spcPts val="0"/>
                        </a:spcAft>
                        <a:buClr>
                          <a:srgbClr val="0F172A"/>
                        </a:buClr>
                        <a:buSzPts val="1250"/>
                        <a:buFont typeface="Calibri"/>
                        <a:buNone/>
                      </a:pPr>
                      <a:r>
                        <a:rPr lang="en-US" sz="1250" u="none" cap="none" strike="noStrike">
                          <a:solidFill>
                            <a:srgbClr val="0F172A"/>
                          </a:solidFill>
                          <a:latin typeface="Calibri"/>
                          <a:ea typeface="Calibri"/>
                          <a:cs typeface="Calibri"/>
                          <a:sym typeface="Calibri"/>
                        </a:rPr>
                        <a:t>LLM self-reported confidence is miscalibrated</a:t>
                      </a:r>
                      <a:endParaRPr sz="1250" u="none" cap="none" strike="noStrike">
                        <a:latin typeface="Calibri"/>
                        <a:ea typeface="Calibri"/>
                        <a:cs typeface="Calibri"/>
                        <a:sym typeface="Calibri"/>
                      </a:endParaRPr>
                    </a:p>
                  </a:txBody>
                  <a:tcPr marT="45725" marB="45725" marR="91450" marL="91450" anchor="ctr">
                    <a:lnL cap="flat" cmpd="sng" w="12700">
                      <a:solidFill>
                        <a:srgbClr val="E3E8EF"/>
                      </a:solidFill>
                      <a:prstDash val="solid"/>
                      <a:round/>
                      <a:headEnd len="sm" w="sm" type="none"/>
                      <a:tailEnd len="sm" w="sm" type="none"/>
                    </a:lnL>
                    <a:lnR cap="flat" cmpd="sng" w="12700">
                      <a:solidFill>
                        <a:srgbClr val="E3E8EF"/>
                      </a:solidFill>
                      <a:prstDash val="solid"/>
                      <a:round/>
                      <a:headEnd len="sm" w="sm" type="none"/>
                      <a:tailEnd len="sm" w="sm" type="none"/>
                    </a:lnR>
                    <a:lnT cap="flat" cmpd="sng" w="12700">
                      <a:solidFill>
                        <a:srgbClr val="E3E8EF"/>
                      </a:solidFill>
                      <a:prstDash val="solid"/>
                      <a:round/>
                      <a:headEnd len="sm" w="sm" type="none"/>
                      <a:tailEnd len="sm" w="sm" type="none"/>
                    </a:lnT>
                    <a:lnB cap="flat" cmpd="sng" w="12700">
                      <a:solidFill>
                        <a:srgbClr val="E3E8EF"/>
                      </a:solidFill>
                      <a:prstDash val="solid"/>
                      <a:round/>
                      <a:headEnd len="sm" w="sm" type="none"/>
                      <a:tailEnd len="sm" w="sm" type="none"/>
                    </a:lnB>
                    <a:solidFill>
                      <a:srgbClr val="F0F4F9"/>
                    </a:solidFill>
                  </a:tcPr>
                </a:tc>
                <a:tc>
                  <a:txBody>
                    <a:bodyPr/>
                    <a:lstStyle/>
                    <a:p>
                      <a:pPr indent="0" lvl="0" marL="0" marR="0" rtl="0" algn="l">
                        <a:spcBef>
                          <a:spcPts val="0"/>
                        </a:spcBef>
                        <a:spcAft>
                          <a:spcPts val="0"/>
                        </a:spcAft>
                        <a:buClr>
                          <a:srgbClr val="0F172A"/>
                        </a:buClr>
                        <a:buSzPts val="1250"/>
                        <a:buFont typeface="Calibri"/>
                        <a:buNone/>
                      </a:pPr>
                      <a:r>
                        <a:rPr lang="en-US" sz="1250" u="none" cap="none" strike="noStrike">
                          <a:solidFill>
                            <a:srgbClr val="0F172A"/>
                          </a:solidFill>
                          <a:latin typeface="Calibri"/>
                          <a:ea typeface="Calibri"/>
                          <a:cs typeface="Calibri"/>
                          <a:sym typeface="Calibri"/>
                        </a:rPr>
                        <a:t>Derive it from match margin + legibility</a:t>
                      </a:r>
                      <a:endParaRPr sz="1250" u="none" cap="none" strike="noStrike">
                        <a:latin typeface="Calibri"/>
                        <a:ea typeface="Calibri"/>
                        <a:cs typeface="Calibri"/>
                        <a:sym typeface="Calibri"/>
                      </a:endParaRPr>
                    </a:p>
                  </a:txBody>
                  <a:tcPr marT="45725" marB="45725" marR="91450" marL="91450" anchor="ctr">
                    <a:lnL cap="flat" cmpd="sng" w="12700">
                      <a:solidFill>
                        <a:srgbClr val="E3E8EF"/>
                      </a:solidFill>
                      <a:prstDash val="solid"/>
                      <a:round/>
                      <a:headEnd len="sm" w="sm" type="none"/>
                      <a:tailEnd len="sm" w="sm" type="none"/>
                    </a:lnL>
                    <a:lnR cap="flat" cmpd="sng" w="12700">
                      <a:solidFill>
                        <a:srgbClr val="E3E8EF"/>
                      </a:solidFill>
                      <a:prstDash val="solid"/>
                      <a:round/>
                      <a:headEnd len="sm" w="sm" type="none"/>
                      <a:tailEnd len="sm" w="sm" type="none"/>
                    </a:lnR>
                    <a:lnT cap="flat" cmpd="sng" w="12700">
                      <a:solidFill>
                        <a:srgbClr val="E3E8EF"/>
                      </a:solidFill>
                      <a:prstDash val="solid"/>
                      <a:round/>
                      <a:headEnd len="sm" w="sm" type="none"/>
                      <a:tailEnd len="sm" w="sm" type="none"/>
                    </a:lnT>
                    <a:lnB cap="flat" cmpd="sng" w="12700">
                      <a:solidFill>
                        <a:srgbClr val="E3E8EF"/>
                      </a:solidFill>
                      <a:prstDash val="solid"/>
                      <a:round/>
                      <a:headEnd len="sm" w="sm" type="none"/>
                      <a:tailEnd len="sm" w="sm" type="none"/>
                    </a:lnB>
                    <a:solidFill>
                      <a:srgbClr val="F0F4F9"/>
                    </a:solidFill>
                  </a:tcPr>
                </a:tc>
              </a:tr>
              <a:tr h="566925">
                <a:tc>
                  <a:txBody>
                    <a:bodyPr/>
                    <a:lstStyle/>
                    <a:p>
                      <a:pPr indent="0" lvl="0" marL="0" marR="0" rtl="0" algn="l">
                        <a:spcBef>
                          <a:spcPts val="0"/>
                        </a:spcBef>
                        <a:spcAft>
                          <a:spcPts val="0"/>
                        </a:spcAft>
                        <a:buClr>
                          <a:srgbClr val="0F172A"/>
                        </a:buClr>
                        <a:buSzPts val="1250"/>
                        <a:buFont typeface="Calibri"/>
                        <a:buNone/>
                      </a:pPr>
                      <a:r>
                        <a:rPr lang="en-US" sz="1250" u="none" cap="none" strike="noStrike">
                          <a:solidFill>
                            <a:srgbClr val="0F172A"/>
                          </a:solidFill>
                          <a:latin typeface="Calibri"/>
                          <a:ea typeface="Calibri"/>
                          <a:cs typeface="Calibri"/>
                          <a:sym typeface="Calibri"/>
                        </a:rPr>
                        <a:t>Full-resolution images</a:t>
                      </a:r>
                      <a:endParaRPr sz="1250" u="none" cap="none" strike="noStrike">
                        <a:latin typeface="Calibri"/>
                        <a:ea typeface="Calibri"/>
                        <a:cs typeface="Calibri"/>
                        <a:sym typeface="Calibri"/>
                      </a:endParaRPr>
                    </a:p>
                  </a:txBody>
                  <a:tcPr marT="45725" marB="45725" marR="91450" marL="91450" anchor="ctr">
                    <a:lnL cap="flat" cmpd="sng" w="12700">
                      <a:solidFill>
                        <a:srgbClr val="E3E8EF"/>
                      </a:solidFill>
                      <a:prstDash val="solid"/>
                      <a:round/>
                      <a:headEnd len="sm" w="sm" type="none"/>
                      <a:tailEnd len="sm" w="sm" type="none"/>
                    </a:lnL>
                    <a:lnR cap="flat" cmpd="sng" w="12700">
                      <a:solidFill>
                        <a:srgbClr val="E3E8EF"/>
                      </a:solidFill>
                      <a:prstDash val="solid"/>
                      <a:round/>
                      <a:headEnd len="sm" w="sm" type="none"/>
                      <a:tailEnd len="sm" w="sm" type="none"/>
                    </a:lnR>
                    <a:lnT cap="flat" cmpd="sng" w="12700">
                      <a:solidFill>
                        <a:srgbClr val="E3E8EF"/>
                      </a:solidFill>
                      <a:prstDash val="solid"/>
                      <a:round/>
                      <a:headEnd len="sm" w="sm" type="none"/>
                      <a:tailEnd len="sm" w="sm" type="none"/>
                    </a:lnT>
                    <a:lnB cap="flat" cmpd="sng" w="12700">
                      <a:solidFill>
                        <a:srgbClr val="E3E8E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F172A"/>
                        </a:buClr>
                        <a:buSzPts val="1250"/>
                        <a:buFont typeface="Calibri"/>
                        <a:buNone/>
                      </a:pPr>
                      <a:r>
                        <a:rPr lang="en-US" sz="1250" u="none" cap="none" strike="noStrike">
                          <a:solidFill>
                            <a:srgbClr val="0F172A"/>
                          </a:solidFill>
                          <a:latin typeface="Calibri"/>
                          <a:ea typeface="Calibri"/>
                          <a:cs typeface="Calibri"/>
                          <a:sym typeface="Calibri"/>
                        </a:rPr>
                        <a:t>Protect the tiny government-warning text</a:t>
                      </a:r>
                      <a:endParaRPr sz="1250" u="none" cap="none" strike="noStrike">
                        <a:latin typeface="Calibri"/>
                        <a:ea typeface="Calibri"/>
                        <a:cs typeface="Calibri"/>
                        <a:sym typeface="Calibri"/>
                      </a:endParaRPr>
                    </a:p>
                  </a:txBody>
                  <a:tcPr marT="45725" marB="45725" marR="91450" marL="91450" anchor="ctr">
                    <a:lnL cap="flat" cmpd="sng" w="12700">
                      <a:solidFill>
                        <a:srgbClr val="E3E8EF"/>
                      </a:solidFill>
                      <a:prstDash val="solid"/>
                      <a:round/>
                      <a:headEnd len="sm" w="sm" type="none"/>
                      <a:tailEnd len="sm" w="sm" type="none"/>
                    </a:lnL>
                    <a:lnR cap="flat" cmpd="sng" w="12700">
                      <a:solidFill>
                        <a:srgbClr val="E3E8EF"/>
                      </a:solidFill>
                      <a:prstDash val="solid"/>
                      <a:round/>
                      <a:headEnd len="sm" w="sm" type="none"/>
                      <a:tailEnd len="sm" w="sm" type="none"/>
                    </a:lnR>
                    <a:lnT cap="flat" cmpd="sng" w="12700">
                      <a:solidFill>
                        <a:srgbClr val="E3E8EF"/>
                      </a:solidFill>
                      <a:prstDash val="solid"/>
                      <a:round/>
                      <a:headEnd len="sm" w="sm" type="none"/>
                      <a:tailEnd len="sm" w="sm" type="none"/>
                    </a:lnT>
                    <a:lnB cap="flat" cmpd="sng" w="12700">
                      <a:solidFill>
                        <a:srgbClr val="E3E8E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F172A"/>
                        </a:buClr>
                        <a:buSzPts val="1250"/>
                        <a:buFont typeface="Calibri"/>
                        <a:buNone/>
                      </a:pPr>
                      <a:r>
                        <a:rPr lang="en-US" sz="1250" u="none" cap="none" strike="noStrike">
                          <a:solidFill>
                            <a:srgbClr val="0F172A"/>
                          </a:solidFill>
                          <a:latin typeface="Calibri"/>
                          <a:ea typeface="Calibri"/>
                          <a:cs typeface="Calibri"/>
                          <a:sym typeface="Calibri"/>
                        </a:rPr>
                        <a:t>More tokens &amp; latency than downscaling</a:t>
                      </a:r>
                      <a:endParaRPr sz="1250" u="none" cap="none" strike="noStrike">
                        <a:latin typeface="Calibri"/>
                        <a:ea typeface="Calibri"/>
                        <a:cs typeface="Calibri"/>
                        <a:sym typeface="Calibri"/>
                      </a:endParaRPr>
                    </a:p>
                  </a:txBody>
                  <a:tcPr marT="45725" marB="45725" marR="91450" marL="91450" anchor="ctr">
                    <a:lnL cap="flat" cmpd="sng" w="12700">
                      <a:solidFill>
                        <a:srgbClr val="E3E8EF"/>
                      </a:solidFill>
                      <a:prstDash val="solid"/>
                      <a:round/>
                      <a:headEnd len="sm" w="sm" type="none"/>
                      <a:tailEnd len="sm" w="sm" type="none"/>
                    </a:lnL>
                    <a:lnR cap="flat" cmpd="sng" w="12700">
                      <a:solidFill>
                        <a:srgbClr val="E3E8EF"/>
                      </a:solidFill>
                      <a:prstDash val="solid"/>
                      <a:round/>
                      <a:headEnd len="sm" w="sm" type="none"/>
                      <a:tailEnd len="sm" w="sm" type="none"/>
                    </a:lnR>
                    <a:lnT cap="flat" cmpd="sng" w="12700">
                      <a:solidFill>
                        <a:srgbClr val="E3E8EF"/>
                      </a:solidFill>
                      <a:prstDash val="solid"/>
                      <a:round/>
                      <a:headEnd len="sm" w="sm" type="none"/>
                      <a:tailEnd len="sm" w="sm" type="none"/>
                    </a:lnT>
                    <a:lnB cap="flat" cmpd="sng" w="12700">
                      <a:solidFill>
                        <a:srgbClr val="E3E8EF"/>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0F172A"/>
                        </a:buClr>
                        <a:buSzPts val="1250"/>
                        <a:buFont typeface="Calibri"/>
                        <a:buNone/>
                      </a:pPr>
                      <a:r>
                        <a:rPr lang="en-US" sz="1250" u="none" cap="none" strike="noStrike">
                          <a:solidFill>
                            <a:srgbClr val="0F172A"/>
                          </a:solidFill>
                          <a:latin typeface="Calibri"/>
                          <a:ea typeface="Calibri"/>
                          <a:cs typeface="Calibri"/>
                          <a:sym typeface="Calibri"/>
                        </a:rPr>
                        <a:t>Pull-based exception routing</a:t>
                      </a:r>
                      <a:endParaRPr sz="1250" u="none" cap="none" strike="noStrike">
                        <a:latin typeface="Calibri"/>
                        <a:ea typeface="Calibri"/>
                        <a:cs typeface="Calibri"/>
                        <a:sym typeface="Calibri"/>
                      </a:endParaRPr>
                    </a:p>
                  </a:txBody>
                  <a:tcPr marT="45725" marB="45725" marR="91450" marL="91450" anchor="ctr">
                    <a:lnL cap="flat" cmpd="sng" w="12700">
                      <a:solidFill>
                        <a:srgbClr val="E3E8EF"/>
                      </a:solidFill>
                      <a:prstDash val="solid"/>
                      <a:round/>
                      <a:headEnd len="sm" w="sm" type="none"/>
                      <a:tailEnd len="sm" w="sm" type="none"/>
                    </a:lnL>
                    <a:lnR cap="flat" cmpd="sng" w="12700">
                      <a:solidFill>
                        <a:srgbClr val="E3E8EF"/>
                      </a:solidFill>
                      <a:prstDash val="solid"/>
                      <a:round/>
                      <a:headEnd len="sm" w="sm" type="none"/>
                      <a:tailEnd len="sm" w="sm" type="none"/>
                    </a:lnR>
                    <a:lnT cap="flat" cmpd="sng" w="12700">
                      <a:solidFill>
                        <a:srgbClr val="E3E8EF"/>
                      </a:solidFill>
                      <a:prstDash val="solid"/>
                      <a:round/>
                      <a:headEnd len="sm" w="sm" type="none"/>
                      <a:tailEnd len="sm" w="sm" type="none"/>
                    </a:lnT>
                    <a:lnB cap="flat" cmpd="sng" w="12700">
                      <a:solidFill>
                        <a:srgbClr val="E3E8EF"/>
                      </a:solidFill>
                      <a:prstDash val="solid"/>
                      <a:round/>
                      <a:headEnd len="sm" w="sm" type="none"/>
                      <a:tailEnd len="sm" w="sm" type="none"/>
                    </a:lnB>
                    <a:solidFill>
                      <a:srgbClr val="F0F4F9"/>
                    </a:solidFill>
                  </a:tcPr>
                </a:tc>
                <a:tc>
                  <a:txBody>
                    <a:bodyPr/>
                    <a:lstStyle/>
                    <a:p>
                      <a:pPr indent="0" lvl="0" marL="0" marR="0" rtl="0" algn="l">
                        <a:spcBef>
                          <a:spcPts val="0"/>
                        </a:spcBef>
                        <a:spcAft>
                          <a:spcPts val="0"/>
                        </a:spcAft>
                        <a:buClr>
                          <a:srgbClr val="0F172A"/>
                        </a:buClr>
                        <a:buSzPts val="1250"/>
                        <a:buFont typeface="Calibri"/>
                        <a:buNone/>
                      </a:pPr>
                      <a:r>
                        <a:rPr lang="en-US" sz="1250" u="none" cap="none" strike="noStrike">
                          <a:solidFill>
                            <a:srgbClr val="0F172A"/>
                          </a:solidFill>
                          <a:latin typeface="Calibri"/>
                          <a:ea typeface="Calibri"/>
                          <a:cs typeface="Calibri"/>
                          <a:sym typeface="Calibri"/>
                        </a:rPr>
                        <a:t>Self-balances; only exceptions are routed</a:t>
                      </a:r>
                      <a:endParaRPr sz="1250" u="none" cap="none" strike="noStrike">
                        <a:latin typeface="Calibri"/>
                        <a:ea typeface="Calibri"/>
                        <a:cs typeface="Calibri"/>
                        <a:sym typeface="Calibri"/>
                      </a:endParaRPr>
                    </a:p>
                  </a:txBody>
                  <a:tcPr marT="45725" marB="45725" marR="91450" marL="91450" anchor="ctr">
                    <a:lnL cap="flat" cmpd="sng" w="12700">
                      <a:solidFill>
                        <a:srgbClr val="E3E8EF"/>
                      </a:solidFill>
                      <a:prstDash val="solid"/>
                      <a:round/>
                      <a:headEnd len="sm" w="sm" type="none"/>
                      <a:tailEnd len="sm" w="sm" type="none"/>
                    </a:lnL>
                    <a:lnR cap="flat" cmpd="sng" w="12700">
                      <a:solidFill>
                        <a:srgbClr val="E3E8EF"/>
                      </a:solidFill>
                      <a:prstDash val="solid"/>
                      <a:round/>
                      <a:headEnd len="sm" w="sm" type="none"/>
                      <a:tailEnd len="sm" w="sm" type="none"/>
                    </a:lnR>
                    <a:lnT cap="flat" cmpd="sng" w="12700">
                      <a:solidFill>
                        <a:srgbClr val="E3E8EF"/>
                      </a:solidFill>
                      <a:prstDash val="solid"/>
                      <a:round/>
                      <a:headEnd len="sm" w="sm" type="none"/>
                      <a:tailEnd len="sm" w="sm" type="none"/>
                    </a:lnT>
                    <a:lnB cap="flat" cmpd="sng" w="12700">
                      <a:solidFill>
                        <a:srgbClr val="E3E8EF"/>
                      </a:solidFill>
                      <a:prstDash val="solid"/>
                      <a:round/>
                      <a:headEnd len="sm" w="sm" type="none"/>
                      <a:tailEnd len="sm" w="sm" type="none"/>
                    </a:lnB>
                    <a:solidFill>
                      <a:srgbClr val="F0F4F9"/>
                    </a:solidFill>
                  </a:tcPr>
                </a:tc>
                <a:tc>
                  <a:txBody>
                    <a:bodyPr/>
                    <a:lstStyle/>
                    <a:p>
                      <a:pPr indent="0" lvl="0" marL="0" marR="0" rtl="0" algn="l">
                        <a:spcBef>
                          <a:spcPts val="0"/>
                        </a:spcBef>
                        <a:spcAft>
                          <a:spcPts val="0"/>
                        </a:spcAft>
                        <a:buClr>
                          <a:srgbClr val="0F172A"/>
                        </a:buClr>
                        <a:buSzPts val="1250"/>
                        <a:buFont typeface="Calibri"/>
                        <a:buNone/>
                      </a:pPr>
                      <a:r>
                        <a:rPr lang="en-US" sz="1250" u="none" cap="none" strike="noStrike">
                          <a:solidFill>
                            <a:srgbClr val="0F172A"/>
                          </a:solidFill>
                          <a:latin typeface="Calibri"/>
                          <a:ea typeface="Calibri"/>
                          <a:cs typeface="Calibri"/>
                          <a:sym typeface="Calibri"/>
                        </a:rPr>
                        <a:t>No specialized push assignment by default</a:t>
                      </a:r>
                      <a:endParaRPr sz="1250" u="none" cap="none" strike="noStrike">
                        <a:latin typeface="Calibri"/>
                        <a:ea typeface="Calibri"/>
                        <a:cs typeface="Calibri"/>
                        <a:sym typeface="Calibri"/>
                      </a:endParaRPr>
                    </a:p>
                  </a:txBody>
                  <a:tcPr marT="45725" marB="45725" marR="91450" marL="91450" anchor="ctr">
                    <a:lnL cap="flat" cmpd="sng" w="12700">
                      <a:solidFill>
                        <a:srgbClr val="E3E8EF"/>
                      </a:solidFill>
                      <a:prstDash val="solid"/>
                      <a:round/>
                      <a:headEnd len="sm" w="sm" type="none"/>
                      <a:tailEnd len="sm" w="sm" type="none"/>
                    </a:lnL>
                    <a:lnR cap="flat" cmpd="sng" w="12700">
                      <a:solidFill>
                        <a:srgbClr val="E3E8EF"/>
                      </a:solidFill>
                      <a:prstDash val="solid"/>
                      <a:round/>
                      <a:headEnd len="sm" w="sm" type="none"/>
                      <a:tailEnd len="sm" w="sm" type="none"/>
                    </a:lnR>
                    <a:lnT cap="flat" cmpd="sng" w="12700">
                      <a:solidFill>
                        <a:srgbClr val="E3E8EF"/>
                      </a:solidFill>
                      <a:prstDash val="solid"/>
                      <a:round/>
                      <a:headEnd len="sm" w="sm" type="none"/>
                      <a:tailEnd len="sm" w="sm" type="none"/>
                    </a:lnT>
                    <a:lnB cap="flat" cmpd="sng" w="12700">
                      <a:solidFill>
                        <a:srgbClr val="E3E8EF"/>
                      </a:solidFill>
                      <a:prstDash val="solid"/>
                      <a:round/>
                      <a:headEnd len="sm" w="sm" type="none"/>
                      <a:tailEnd len="sm" w="sm" type="none"/>
                    </a:lnB>
                    <a:solidFill>
                      <a:srgbClr val="F0F4F9"/>
                    </a:solidFill>
                  </a:tcPr>
                </a:tc>
              </a:tr>
              <a:tr h="566925">
                <a:tc>
                  <a:txBody>
                    <a:bodyPr/>
                    <a:lstStyle/>
                    <a:p>
                      <a:pPr indent="0" lvl="0" marL="0" marR="0" rtl="0" algn="l">
                        <a:spcBef>
                          <a:spcPts val="0"/>
                        </a:spcBef>
                        <a:spcAft>
                          <a:spcPts val="0"/>
                        </a:spcAft>
                        <a:buClr>
                          <a:srgbClr val="0F172A"/>
                        </a:buClr>
                        <a:buSzPts val="1250"/>
                        <a:buFont typeface="Calibri"/>
                        <a:buNone/>
                      </a:pPr>
                      <a:r>
                        <a:rPr lang="en-US" sz="1250" u="none" cap="none" strike="noStrike">
                          <a:solidFill>
                            <a:srgbClr val="0F172A"/>
                          </a:solidFill>
                          <a:latin typeface="Calibri"/>
                          <a:ea typeface="Calibri"/>
                          <a:cs typeface="Calibri"/>
                          <a:sym typeface="Calibri"/>
                        </a:rPr>
                        <a:t>No persistence (prototype)</a:t>
                      </a:r>
                      <a:endParaRPr sz="1250" u="none" cap="none" strike="noStrike">
                        <a:latin typeface="Calibri"/>
                        <a:ea typeface="Calibri"/>
                        <a:cs typeface="Calibri"/>
                        <a:sym typeface="Calibri"/>
                      </a:endParaRPr>
                    </a:p>
                  </a:txBody>
                  <a:tcPr marT="45725" marB="45725" marR="91450" marL="91450" anchor="ctr">
                    <a:lnL cap="flat" cmpd="sng" w="12700">
                      <a:solidFill>
                        <a:srgbClr val="E3E8EF"/>
                      </a:solidFill>
                      <a:prstDash val="solid"/>
                      <a:round/>
                      <a:headEnd len="sm" w="sm" type="none"/>
                      <a:tailEnd len="sm" w="sm" type="none"/>
                    </a:lnL>
                    <a:lnR cap="flat" cmpd="sng" w="12700">
                      <a:solidFill>
                        <a:srgbClr val="E3E8EF"/>
                      </a:solidFill>
                      <a:prstDash val="solid"/>
                      <a:round/>
                      <a:headEnd len="sm" w="sm" type="none"/>
                      <a:tailEnd len="sm" w="sm" type="none"/>
                    </a:lnR>
                    <a:lnT cap="flat" cmpd="sng" w="12700">
                      <a:solidFill>
                        <a:srgbClr val="E3E8EF"/>
                      </a:solidFill>
                      <a:prstDash val="solid"/>
                      <a:round/>
                      <a:headEnd len="sm" w="sm" type="none"/>
                      <a:tailEnd len="sm" w="sm" type="none"/>
                    </a:lnT>
                    <a:lnB cap="flat" cmpd="sng" w="12700">
                      <a:solidFill>
                        <a:srgbClr val="E3E8E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F172A"/>
                        </a:buClr>
                        <a:buSzPts val="1250"/>
                        <a:buFont typeface="Calibri"/>
                        <a:buNone/>
                      </a:pPr>
                      <a:r>
                        <a:rPr lang="en-US" sz="1250" u="none" cap="none" strike="noStrike">
                          <a:solidFill>
                            <a:srgbClr val="0F172A"/>
                          </a:solidFill>
                          <a:latin typeface="Calibri"/>
                          <a:ea typeface="Calibri"/>
                          <a:cs typeface="Calibri"/>
                          <a:sym typeface="Calibri"/>
                        </a:rPr>
                        <a:t>PII; IT required nothing stored</a:t>
                      </a:r>
                      <a:endParaRPr sz="1250" u="none" cap="none" strike="noStrike">
                        <a:latin typeface="Calibri"/>
                        <a:ea typeface="Calibri"/>
                        <a:cs typeface="Calibri"/>
                        <a:sym typeface="Calibri"/>
                      </a:endParaRPr>
                    </a:p>
                  </a:txBody>
                  <a:tcPr marT="45725" marB="45725" marR="91450" marL="91450" anchor="ctr">
                    <a:lnL cap="flat" cmpd="sng" w="12700">
                      <a:solidFill>
                        <a:srgbClr val="E3E8EF"/>
                      </a:solidFill>
                      <a:prstDash val="solid"/>
                      <a:round/>
                      <a:headEnd len="sm" w="sm" type="none"/>
                      <a:tailEnd len="sm" w="sm" type="none"/>
                    </a:lnL>
                    <a:lnR cap="flat" cmpd="sng" w="12700">
                      <a:solidFill>
                        <a:srgbClr val="E3E8EF"/>
                      </a:solidFill>
                      <a:prstDash val="solid"/>
                      <a:round/>
                      <a:headEnd len="sm" w="sm" type="none"/>
                      <a:tailEnd len="sm" w="sm" type="none"/>
                    </a:lnR>
                    <a:lnT cap="flat" cmpd="sng" w="12700">
                      <a:solidFill>
                        <a:srgbClr val="E3E8EF"/>
                      </a:solidFill>
                      <a:prstDash val="solid"/>
                      <a:round/>
                      <a:headEnd len="sm" w="sm" type="none"/>
                      <a:tailEnd len="sm" w="sm" type="none"/>
                    </a:lnT>
                    <a:lnB cap="flat" cmpd="sng" w="12700">
                      <a:solidFill>
                        <a:srgbClr val="E3E8E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F172A"/>
                        </a:buClr>
                        <a:buSzPts val="1250"/>
                        <a:buFont typeface="Calibri"/>
                        <a:buNone/>
                      </a:pPr>
                      <a:r>
                        <a:rPr lang="en-US" sz="1250" u="none" cap="none" strike="noStrike">
                          <a:solidFill>
                            <a:srgbClr val="0F172A"/>
                          </a:solidFill>
                          <a:latin typeface="Calibri"/>
                          <a:ea typeface="Calibri"/>
                          <a:cs typeface="Calibri"/>
                          <a:sym typeface="Calibri"/>
                        </a:rPr>
                        <a:t>Batch state lost on restart</a:t>
                      </a:r>
                      <a:endParaRPr sz="1250" u="none" cap="none" strike="noStrike">
                        <a:latin typeface="Calibri"/>
                        <a:ea typeface="Calibri"/>
                        <a:cs typeface="Calibri"/>
                        <a:sym typeface="Calibri"/>
                      </a:endParaRPr>
                    </a:p>
                  </a:txBody>
                  <a:tcPr marT="45725" marB="45725" marR="91450" marL="91450" anchor="ctr">
                    <a:lnL cap="flat" cmpd="sng" w="12700">
                      <a:solidFill>
                        <a:srgbClr val="E3E8EF"/>
                      </a:solidFill>
                      <a:prstDash val="solid"/>
                      <a:round/>
                      <a:headEnd len="sm" w="sm" type="none"/>
                      <a:tailEnd len="sm" w="sm" type="none"/>
                    </a:lnL>
                    <a:lnR cap="flat" cmpd="sng" w="12700">
                      <a:solidFill>
                        <a:srgbClr val="E3E8EF"/>
                      </a:solidFill>
                      <a:prstDash val="solid"/>
                      <a:round/>
                      <a:headEnd len="sm" w="sm" type="none"/>
                      <a:tailEnd len="sm" w="sm" type="none"/>
                    </a:lnR>
                    <a:lnT cap="flat" cmpd="sng" w="12700">
                      <a:solidFill>
                        <a:srgbClr val="E3E8EF"/>
                      </a:solidFill>
                      <a:prstDash val="solid"/>
                      <a:round/>
                      <a:headEnd len="sm" w="sm" type="none"/>
                      <a:tailEnd len="sm" w="sm" type="none"/>
                    </a:lnT>
                    <a:lnB cap="flat" cmpd="sng" w="12700">
                      <a:solidFill>
                        <a:srgbClr val="E3E8EF"/>
                      </a:solidFill>
                      <a:prstDash val="solid"/>
                      <a:round/>
                      <a:headEnd len="sm" w="sm" type="none"/>
                      <a:tailEnd len="sm" w="sm" type="none"/>
                    </a:lnB>
                    <a:solidFill>
                      <a:srgbClr val="FFFFFF"/>
                    </a:solidFill>
                  </a:tcPr>
                </a:tc>
              </a:tr>
            </a:tbl>
          </a:graphicData>
        </a:graphic>
      </p:graphicFrame>
      <p:sp>
        <p:nvSpPr>
          <p:cNvPr id="708" name="Google Shape;708;p22"/>
          <p:cNvSpPr/>
          <p:nvPr/>
        </p:nvSpPr>
        <p:spPr>
          <a:xfrm>
            <a:off x="685800" y="5577840"/>
            <a:ext cx="10058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200"/>
              <a:buFont typeface="Calibri"/>
              <a:buNone/>
            </a:pPr>
            <a:r>
              <a:rPr b="0" i="1" lang="en-US" sz="1200" u="none" cap="none" strike="noStrike">
                <a:solidFill>
                  <a:srgbClr val="5B6B7F"/>
                </a:solidFill>
                <a:latin typeface="Calibri"/>
                <a:ea typeface="Calibri"/>
                <a:cs typeface="Calibri"/>
                <a:sym typeface="Calibri"/>
              </a:rPr>
              <a:t>Recorded as ADRs in the design docs.</a:t>
            </a:r>
            <a:endParaRPr b="0" i="0" sz="1200" u="none" cap="none" strike="noStrike">
              <a:solidFill>
                <a:schemeClr val="dk1"/>
              </a:solidFill>
              <a:latin typeface="Calibri"/>
              <a:ea typeface="Calibri"/>
              <a:cs typeface="Calibri"/>
              <a:sym typeface="Calibri"/>
            </a:endParaRPr>
          </a:p>
        </p:txBody>
      </p:sp>
      <p:sp>
        <p:nvSpPr>
          <p:cNvPr id="709" name="Google Shape;709;p22"/>
          <p:cNvSpPr/>
          <p:nvPr/>
        </p:nvSpPr>
        <p:spPr>
          <a:xfrm>
            <a:off x="685800" y="6446520"/>
            <a:ext cx="6400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AI Label Verification · Approach &amp; Design</a:t>
            </a:r>
            <a:endParaRPr b="0" i="0" sz="900" u="none" cap="none" strike="noStrike">
              <a:solidFill>
                <a:schemeClr val="dk1"/>
              </a:solidFill>
              <a:latin typeface="Calibri"/>
              <a:ea typeface="Calibri"/>
              <a:cs typeface="Calibri"/>
              <a:sym typeface="Calibri"/>
            </a:endParaRPr>
          </a:p>
        </p:txBody>
      </p:sp>
      <p:sp>
        <p:nvSpPr>
          <p:cNvPr id="710" name="Google Shape;710;p22"/>
          <p:cNvSpPr/>
          <p:nvPr/>
        </p:nvSpPr>
        <p:spPr>
          <a:xfrm>
            <a:off x="11185855" y="6446520"/>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20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715" name="Shape 715"/>
        <p:cNvGrpSpPr/>
        <p:nvPr/>
      </p:nvGrpSpPr>
      <p:grpSpPr>
        <a:xfrm>
          <a:off x="0" y="0"/>
          <a:ext cx="0" cy="0"/>
          <a:chOff x="0" y="0"/>
          <a:chExt cx="0" cy="0"/>
        </a:xfrm>
      </p:grpSpPr>
      <p:sp>
        <p:nvSpPr>
          <p:cNvPr id="716" name="Google Shape;716;p23"/>
          <p:cNvSpPr/>
          <p:nvPr/>
        </p:nvSpPr>
        <p:spPr>
          <a:xfrm>
            <a:off x="685800" y="457200"/>
            <a:ext cx="107899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63EB"/>
              </a:buClr>
              <a:buSzPts val="1200"/>
              <a:buFont typeface="Calibri"/>
              <a:buNone/>
            </a:pPr>
            <a:r>
              <a:rPr b="1" i="0" lang="en-US" sz="1200" u="none" cap="none" strike="noStrike">
                <a:solidFill>
                  <a:srgbClr val="2563EB"/>
                </a:solidFill>
                <a:latin typeface="Calibri"/>
                <a:ea typeface="Calibri"/>
                <a:cs typeface="Calibri"/>
                <a:sym typeface="Calibri"/>
              </a:rPr>
              <a:t>THE BUSINESS CASE</a:t>
            </a:r>
            <a:endParaRPr b="0" i="0" sz="1200" u="none" cap="none" strike="noStrike">
              <a:solidFill>
                <a:schemeClr val="dk1"/>
              </a:solidFill>
              <a:latin typeface="Calibri"/>
              <a:ea typeface="Calibri"/>
              <a:cs typeface="Calibri"/>
              <a:sym typeface="Calibri"/>
            </a:endParaRPr>
          </a:p>
        </p:txBody>
      </p:sp>
      <p:sp>
        <p:nvSpPr>
          <p:cNvPr id="717" name="Google Shape;717;p23"/>
          <p:cNvSpPr/>
          <p:nvPr/>
        </p:nvSpPr>
        <p:spPr>
          <a:xfrm>
            <a:off x="685800" y="749808"/>
            <a:ext cx="107899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Georgia"/>
              <a:buNone/>
            </a:pPr>
            <a:r>
              <a:rPr b="1" i="0" lang="en-US" sz="3200" u="none" cap="none" strike="noStrike">
                <a:solidFill>
                  <a:srgbClr val="0F172A"/>
                </a:solidFill>
                <a:latin typeface="Georgia"/>
                <a:ea typeface="Georgia"/>
                <a:cs typeface="Georgia"/>
                <a:sym typeface="Georgia"/>
              </a:rPr>
              <a:t>It pays for itself, many times over</a:t>
            </a:r>
            <a:endParaRPr b="0" i="0" sz="3200" u="none" cap="none" strike="noStrike">
              <a:solidFill>
                <a:schemeClr val="dk1"/>
              </a:solidFill>
              <a:latin typeface="Calibri"/>
              <a:ea typeface="Calibri"/>
              <a:cs typeface="Calibri"/>
              <a:sym typeface="Calibri"/>
            </a:endParaRPr>
          </a:p>
        </p:txBody>
      </p:sp>
      <p:pic>
        <p:nvPicPr>
          <p:cNvPr id="718" name="Google Shape;718;p23"/>
          <p:cNvPicPr preferRelativeResize="0"/>
          <p:nvPr/>
        </p:nvPicPr>
        <p:blipFill rotWithShape="1">
          <a:blip r:embed="rId3">
            <a:alphaModFix/>
          </a:blip>
          <a:srcRect b="0" l="0" r="0" t="0"/>
          <a:stretch/>
        </p:blipFill>
        <p:spPr>
          <a:xfrm>
            <a:off x="685800" y="1920240"/>
            <a:ext cx="5577840" cy="3291840"/>
          </a:xfrm>
          <a:prstGeom prst="rect">
            <a:avLst/>
          </a:prstGeom>
          <a:noFill/>
          <a:ln>
            <a:noFill/>
          </a:ln>
        </p:spPr>
      </p:pic>
      <p:sp>
        <p:nvSpPr>
          <p:cNvPr id="719" name="Google Shape;719;p23"/>
          <p:cNvSpPr/>
          <p:nvPr/>
        </p:nvSpPr>
        <p:spPr>
          <a:xfrm>
            <a:off x="685800" y="5212080"/>
            <a:ext cx="54864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8A8"/>
              </a:buClr>
              <a:buSzPts val="1050"/>
              <a:buFont typeface="Calibri"/>
              <a:buNone/>
            </a:pPr>
            <a:r>
              <a:rPr b="0" i="1" lang="en-US" sz="1050" u="none" cap="none" strike="noStrike">
                <a:solidFill>
                  <a:srgbClr val="8A98A8"/>
                </a:solidFill>
                <a:latin typeface="Calibri"/>
                <a:ea typeface="Calibri"/>
                <a:cs typeface="Calibri"/>
                <a:sym typeface="Calibri"/>
              </a:rPr>
              <a:t>$ thousands per year</a:t>
            </a:r>
            <a:endParaRPr b="0" i="0" sz="1050" u="none" cap="none" strike="noStrike">
              <a:solidFill>
                <a:schemeClr val="dk1"/>
              </a:solidFill>
              <a:latin typeface="Calibri"/>
              <a:ea typeface="Calibri"/>
              <a:cs typeface="Calibri"/>
              <a:sym typeface="Calibri"/>
            </a:endParaRPr>
          </a:p>
        </p:txBody>
      </p:sp>
      <p:sp>
        <p:nvSpPr>
          <p:cNvPr id="720" name="Google Shape;720;p23"/>
          <p:cNvSpPr/>
          <p:nvPr/>
        </p:nvSpPr>
        <p:spPr>
          <a:xfrm>
            <a:off x="6400800" y="1965960"/>
            <a:ext cx="5120640" cy="96012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23"/>
          <p:cNvSpPr/>
          <p:nvPr/>
        </p:nvSpPr>
        <p:spPr>
          <a:xfrm>
            <a:off x="6400800" y="1965960"/>
            <a:ext cx="91440" cy="960120"/>
          </a:xfrm>
          <a:prstGeom prst="rect">
            <a:avLst/>
          </a:prstGeom>
          <a:solidFill>
            <a:srgbClr val="B91C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23"/>
          <p:cNvSpPr/>
          <p:nvPr/>
        </p:nvSpPr>
        <p:spPr>
          <a:xfrm>
            <a:off x="6675120" y="2075688"/>
            <a:ext cx="46634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1C1C"/>
              </a:buClr>
              <a:buSzPts val="2300"/>
              <a:buFont typeface="Georgia"/>
              <a:buNone/>
            </a:pPr>
            <a:r>
              <a:rPr b="1" i="0" lang="en-US" sz="2300" u="none" cap="none" strike="noStrike">
                <a:solidFill>
                  <a:srgbClr val="B91C1C"/>
                </a:solidFill>
                <a:latin typeface="Georgia"/>
                <a:ea typeface="Georgia"/>
                <a:cs typeface="Georgia"/>
                <a:sym typeface="Georgia"/>
              </a:rPr>
              <a:t>~$3,800 / yr</a:t>
            </a:r>
            <a:endParaRPr b="0" i="0" sz="2300" u="none" cap="none" strike="noStrike">
              <a:solidFill>
                <a:schemeClr val="dk1"/>
              </a:solidFill>
              <a:latin typeface="Calibri"/>
              <a:ea typeface="Calibri"/>
              <a:cs typeface="Calibri"/>
              <a:sym typeface="Calibri"/>
            </a:endParaRPr>
          </a:p>
        </p:txBody>
      </p:sp>
      <p:sp>
        <p:nvSpPr>
          <p:cNvPr id="723" name="Google Shape;723;p23"/>
          <p:cNvSpPr/>
          <p:nvPr/>
        </p:nvSpPr>
        <p:spPr>
          <a:xfrm>
            <a:off x="6675120" y="2551176"/>
            <a:ext cx="4663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200"/>
              <a:buFont typeface="Calibri"/>
              <a:buNone/>
            </a:pPr>
            <a:r>
              <a:rPr b="0" i="0" lang="en-US" sz="1200" u="none" cap="none" strike="noStrike">
                <a:solidFill>
                  <a:srgbClr val="5B6B7F"/>
                </a:solidFill>
                <a:latin typeface="Calibri"/>
                <a:ea typeface="Calibri"/>
                <a:cs typeface="Calibri"/>
                <a:sym typeface="Calibri"/>
              </a:rPr>
              <a:t>Inference at full national volume (default model)</a:t>
            </a:r>
            <a:endParaRPr b="0" i="0" sz="1200" u="none" cap="none" strike="noStrike">
              <a:solidFill>
                <a:schemeClr val="dk1"/>
              </a:solidFill>
              <a:latin typeface="Calibri"/>
              <a:ea typeface="Calibri"/>
              <a:cs typeface="Calibri"/>
              <a:sym typeface="Calibri"/>
            </a:endParaRPr>
          </a:p>
        </p:txBody>
      </p:sp>
      <p:sp>
        <p:nvSpPr>
          <p:cNvPr id="724" name="Google Shape;724;p23"/>
          <p:cNvSpPr/>
          <p:nvPr/>
        </p:nvSpPr>
        <p:spPr>
          <a:xfrm>
            <a:off x="6400800" y="3063240"/>
            <a:ext cx="5120640" cy="96012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23"/>
          <p:cNvSpPr/>
          <p:nvPr/>
        </p:nvSpPr>
        <p:spPr>
          <a:xfrm>
            <a:off x="6400800" y="3063240"/>
            <a:ext cx="91440" cy="960120"/>
          </a:xfrm>
          <a:prstGeom prst="rect">
            <a:avLst/>
          </a:prstGeom>
          <a:solidFill>
            <a:srgbClr val="1580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23"/>
          <p:cNvSpPr/>
          <p:nvPr/>
        </p:nvSpPr>
        <p:spPr>
          <a:xfrm>
            <a:off x="6675120" y="3172968"/>
            <a:ext cx="46634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803D"/>
              </a:buClr>
              <a:buSzPts val="2300"/>
              <a:buFont typeface="Georgia"/>
              <a:buNone/>
            </a:pPr>
            <a:r>
              <a:rPr b="1" i="0" lang="en-US" sz="2300" u="none" cap="none" strike="noStrike">
                <a:solidFill>
                  <a:srgbClr val="15803D"/>
                </a:solidFill>
                <a:latin typeface="Georgia"/>
                <a:ea typeface="Georgia"/>
                <a:cs typeface="Georgia"/>
                <a:sym typeface="Georgia"/>
              </a:rPr>
              <a:t>$690k–$960k / yr</a:t>
            </a:r>
            <a:endParaRPr b="0" i="0" sz="2300" u="none" cap="none" strike="noStrike">
              <a:solidFill>
                <a:schemeClr val="dk1"/>
              </a:solidFill>
              <a:latin typeface="Calibri"/>
              <a:ea typeface="Calibri"/>
              <a:cs typeface="Calibri"/>
              <a:sym typeface="Calibri"/>
            </a:endParaRPr>
          </a:p>
        </p:txBody>
      </p:sp>
      <p:sp>
        <p:nvSpPr>
          <p:cNvPr id="727" name="Google Shape;727;p23"/>
          <p:cNvSpPr/>
          <p:nvPr/>
        </p:nvSpPr>
        <p:spPr>
          <a:xfrm>
            <a:off x="6675120" y="3648456"/>
            <a:ext cx="4663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200"/>
              <a:buFont typeface="Calibri"/>
              <a:buNone/>
            </a:pPr>
            <a:r>
              <a:rPr b="0" i="0" lang="en-US" sz="1200" u="none" cap="none" strike="noStrike">
                <a:solidFill>
                  <a:srgbClr val="5B6B7F"/>
                </a:solidFill>
                <a:latin typeface="Calibri"/>
                <a:ea typeface="Calibri"/>
                <a:cs typeface="Calibri"/>
                <a:sym typeface="Calibri"/>
              </a:rPr>
              <a:t>Agent labour saved — about 7 agents’ capacity freed</a:t>
            </a:r>
            <a:endParaRPr b="0" i="0" sz="1200" u="none" cap="none" strike="noStrike">
              <a:solidFill>
                <a:schemeClr val="dk1"/>
              </a:solidFill>
              <a:latin typeface="Calibri"/>
              <a:ea typeface="Calibri"/>
              <a:cs typeface="Calibri"/>
              <a:sym typeface="Calibri"/>
            </a:endParaRPr>
          </a:p>
        </p:txBody>
      </p:sp>
      <p:sp>
        <p:nvSpPr>
          <p:cNvPr id="728" name="Google Shape;728;p23"/>
          <p:cNvSpPr/>
          <p:nvPr/>
        </p:nvSpPr>
        <p:spPr>
          <a:xfrm>
            <a:off x="6400800" y="4160520"/>
            <a:ext cx="5120640" cy="96012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23"/>
          <p:cNvSpPr/>
          <p:nvPr/>
        </p:nvSpPr>
        <p:spPr>
          <a:xfrm>
            <a:off x="6400800" y="4160520"/>
            <a:ext cx="91440" cy="960120"/>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23"/>
          <p:cNvSpPr/>
          <p:nvPr/>
        </p:nvSpPr>
        <p:spPr>
          <a:xfrm>
            <a:off x="6675120" y="4270248"/>
            <a:ext cx="46634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A5E"/>
              </a:buClr>
              <a:buSzPts val="2300"/>
              <a:buFont typeface="Georgia"/>
              <a:buNone/>
            </a:pPr>
            <a:r>
              <a:rPr b="1" i="0" lang="en-US" sz="2300" u="none" cap="none" strike="noStrike">
                <a:solidFill>
                  <a:srgbClr val="1C3A5E"/>
                </a:solidFill>
                <a:latin typeface="Georgia"/>
                <a:ea typeface="Georgia"/>
                <a:cs typeface="Georgia"/>
                <a:sym typeface="Georgia"/>
              </a:rPr>
              <a:t>&lt; 1%</a:t>
            </a:r>
            <a:endParaRPr b="0" i="0" sz="2300" u="none" cap="none" strike="noStrike">
              <a:solidFill>
                <a:schemeClr val="dk1"/>
              </a:solidFill>
              <a:latin typeface="Calibri"/>
              <a:ea typeface="Calibri"/>
              <a:cs typeface="Calibri"/>
              <a:sym typeface="Calibri"/>
            </a:endParaRPr>
          </a:p>
        </p:txBody>
      </p:sp>
      <p:sp>
        <p:nvSpPr>
          <p:cNvPr id="731" name="Google Shape;731;p23"/>
          <p:cNvSpPr/>
          <p:nvPr/>
        </p:nvSpPr>
        <p:spPr>
          <a:xfrm>
            <a:off x="6675120" y="4745736"/>
            <a:ext cx="4663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200"/>
              <a:buFont typeface="Calibri"/>
              <a:buNone/>
            </a:pPr>
            <a:r>
              <a:rPr b="0" i="0" lang="en-US" sz="1200" u="none" cap="none" strike="noStrike">
                <a:solidFill>
                  <a:srgbClr val="5B6B7F"/>
                </a:solidFill>
                <a:latin typeface="Calibri"/>
                <a:ea typeface="Calibri"/>
                <a:cs typeface="Calibri"/>
                <a:sym typeface="Calibri"/>
              </a:rPr>
              <a:t>Operating cost as a share of the benefit</a:t>
            </a:r>
            <a:endParaRPr b="0" i="0" sz="1200" u="none" cap="none" strike="noStrike">
              <a:solidFill>
                <a:schemeClr val="dk1"/>
              </a:solidFill>
              <a:latin typeface="Calibri"/>
              <a:ea typeface="Calibri"/>
              <a:cs typeface="Calibri"/>
              <a:sym typeface="Calibri"/>
            </a:endParaRPr>
          </a:p>
        </p:txBody>
      </p:sp>
      <p:sp>
        <p:nvSpPr>
          <p:cNvPr id="732" name="Google Shape;732;p23"/>
          <p:cNvSpPr/>
          <p:nvPr/>
        </p:nvSpPr>
        <p:spPr>
          <a:xfrm>
            <a:off x="685800" y="5623560"/>
            <a:ext cx="10789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8A8"/>
              </a:buClr>
              <a:buSzPts val="1150"/>
              <a:buFont typeface="Calibri"/>
              <a:buNone/>
            </a:pPr>
            <a:r>
              <a:rPr b="0" i="1" lang="en-US" sz="1150" u="none" cap="none" strike="noStrike">
                <a:solidFill>
                  <a:srgbClr val="8A98A8"/>
                </a:solidFill>
                <a:latin typeface="Calibri"/>
                <a:ea typeface="Calibri"/>
                <a:cs typeface="Calibri"/>
                <a:sym typeface="Calibri"/>
              </a:rPr>
              <a:t>Realized savings depend on adoption, accuracy, and the agency’s auto-clear policy.</a:t>
            </a:r>
            <a:endParaRPr b="0" i="0" sz="1150" u="none" cap="none" strike="noStrike">
              <a:solidFill>
                <a:schemeClr val="dk1"/>
              </a:solidFill>
              <a:latin typeface="Calibri"/>
              <a:ea typeface="Calibri"/>
              <a:cs typeface="Calibri"/>
              <a:sym typeface="Calibri"/>
            </a:endParaRPr>
          </a:p>
        </p:txBody>
      </p:sp>
      <p:sp>
        <p:nvSpPr>
          <p:cNvPr id="733" name="Google Shape;733;p23"/>
          <p:cNvSpPr/>
          <p:nvPr/>
        </p:nvSpPr>
        <p:spPr>
          <a:xfrm>
            <a:off x="685800" y="6446520"/>
            <a:ext cx="6400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AI Label Verification · Approach &amp; Design</a:t>
            </a:r>
            <a:endParaRPr b="0" i="0" sz="900" u="none" cap="none" strike="noStrike">
              <a:solidFill>
                <a:schemeClr val="dk1"/>
              </a:solidFill>
              <a:latin typeface="Calibri"/>
              <a:ea typeface="Calibri"/>
              <a:cs typeface="Calibri"/>
              <a:sym typeface="Calibri"/>
            </a:endParaRPr>
          </a:p>
        </p:txBody>
      </p:sp>
      <p:sp>
        <p:nvSpPr>
          <p:cNvPr id="734" name="Google Shape;734;p23"/>
          <p:cNvSpPr/>
          <p:nvPr/>
        </p:nvSpPr>
        <p:spPr>
          <a:xfrm>
            <a:off x="11185855" y="6446520"/>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739" name="Shape 739"/>
        <p:cNvGrpSpPr/>
        <p:nvPr/>
      </p:nvGrpSpPr>
      <p:grpSpPr>
        <a:xfrm>
          <a:off x="0" y="0"/>
          <a:ext cx="0" cy="0"/>
          <a:chOff x="0" y="0"/>
          <a:chExt cx="0" cy="0"/>
        </a:xfrm>
      </p:grpSpPr>
      <p:sp>
        <p:nvSpPr>
          <p:cNvPr id="740" name="Google Shape;740;p24"/>
          <p:cNvSpPr/>
          <p:nvPr/>
        </p:nvSpPr>
        <p:spPr>
          <a:xfrm>
            <a:off x="685800" y="457200"/>
            <a:ext cx="107899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63EB"/>
              </a:buClr>
              <a:buSzPts val="1200"/>
              <a:buFont typeface="Calibri"/>
              <a:buNone/>
            </a:pPr>
            <a:r>
              <a:rPr b="1" i="0" lang="en-US" sz="1200" u="none" cap="none" strike="noStrike">
                <a:solidFill>
                  <a:srgbClr val="2563EB"/>
                </a:solidFill>
                <a:latin typeface="Calibri"/>
                <a:ea typeface="Calibri"/>
                <a:cs typeface="Calibri"/>
                <a:sym typeface="Calibri"/>
              </a:rPr>
              <a:t>SCOPE &amp; ROADMAP</a:t>
            </a:r>
            <a:endParaRPr b="0" i="0" sz="1200" u="none" cap="none" strike="noStrike">
              <a:solidFill>
                <a:schemeClr val="dk1"/>
              </a:solidFill>
              <a:latin typeface="Calibri"/>
              <a:ea typeface="Calibri"/>
              <a:cs typeface="Calibri"/>
              <a:sym typeface="Calibri"/>
            </a:endParaRPr>
          </a:p>
        </p:txBody>
      </p:sp>
      <p:sp>
        <p:nvSpPr>
          <p:cNvPr id="741" name="Google Shape;741;p24"/>
          <p:cNvSpPr/>
          <p:nvPr/>
        </p:nvSpPr>
        <p:spPr>
          <a:xfrm>
            <a:off x="685800" y="749808"/>
            <a:ext cx="107899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Georgia"/>
              <a:buNone/>
            </a:pPr>
            <a:r>
              <a:rPr b="1" i="0" lang="en-US" sz="3200" u="none" cap="none" strike="noStrike">
                <a:solidFill>
                  <a:srgbClr val="0F172A"/>
                </a:solidFill>
                <a:latin typeface="Georgia"/>
                <a:ea typeface="Georgia"/>
                <a:cs typeface="Georgia"/>
                <a:sym typeface="Georgia"/>
              </a:rPr>
              <a:t>Honest boundaries, a credible path</a:t>
            </a:r>
            <a:endParaRPr b="0" i="0" sz="3200" u="none" cap="none" strike="noStrike">
              <a:solidFill>
                <a:schemeClr val="dk1"/>
              </a:solidFill>
              <a:latin typeface="Calibri"/>
              <a:ea typeface="Calibri"/>
              <a:cs typeface="Calibri"/>
              <a:sym typeface="Calibri"/>
            </a:endParaRPr>
          </a:p>
        </p:txBody>
      </p:sp>
      <p:sp>
        <p:nvSpPr>
          <p:cNvPr id="742" name="Google Shape;742;p24"/>
          <p:cNvSpPr/>
          <p:nvPr/>
        </p:nvSpPr>
        <p:spPr>
          <a:xfrm>
            <a:off x="685800" y="1874520"/>
            <a:ext cx="3383280" cy="356616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24"/>
          <p:cNvSpPr/>
          <p:nvPr/>
        </p:nvSpPr>
        <p:spPr>
          <a:xfrm>
            <a:off x="685800" y="1874520"/>
            <a:ext cx="3383280" cy="109728"/>
          </a:xfrm>
          <a:prstGeom prst="rect">
            <a:avLst/>
          </a:prstGeom>
          <a:solidFill>
            <a:srgbClr val="1580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24"/>
          <p:cNvSpPr/>
          <p:nvPr/>
        </p:nvSpPr>
        <p:spPr>
          <a:xfrm>
            <a:off x="960120" y="2121408"/>
            <a:ext cx="2834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803D"/>
              </a:buClr>
              <a:buSzPts val="1600"/>
              <a:buFont typeface="Georgia"/>
              <a:buNone/>
            </a:pPr>
            <a:r>
              <a:rPr b="1" i="0" lang="en-US" sz="1600" u="none" cap="none" strike="noStrike">
                <a:solidFill>
                  <a:srgbClr val="15803D"/>
                </a:solidFill>
                <a:latin typeface="Georgia"/>
                <a:ea typeface="Georgia"/>
                <a:cs typeface="Georgia"/>
                <a:sym typeface="Georgia"/>
              </a:rPr>
              <a:t>NOW · Prototype</a:t>
            </a:r>
            <a:endParaRPr b="0" i="0" sz="1600" u="none" cap="none" strike="noStrike">
              <a:solidFill>
                <a:schemeClr val="dk1"/>
              </a:solidFill>
              <a:latin typeface="Calibri"/>
              <a:ea typeface="Calibri"/>
              <a:cs typeface="Calibri"/>
              <a:sym typeface="Calibri"/>
            </a:endParaRPr>
          </a:p>
        </p:txBody>
      </p:sp>
      <p:sp>
        <p:nvSpPr>
          <p:cNvPr id="745" name="Google Shape;745;p24"/>
          <p:cNvSpPr/>
          <p:nvPr/>
        </p:nvSpPr>
        <p:spPr>
          <a:xfrm>
            <a:off x="960120" y="2724912"/>
            <a:ext cx="2880360" cy="594360"/>
          </a:xfrm>
          <a:prstGeom prst="rect">
            <a:avLst/>
          </a:prstGeom>
          <a:noFill/>
          <a:ln>
            <a:noFill/>
          </a:ln>
        </p:spPr>
        <p:txBody>
          <a:bodyPr anchorCtr="0" anchor="ctr" bIns="0" lIns="0" spcFirstLastPara="1" rIns="0" wrap="square" tIns="0">
            <a:noAutofit/>
          </a:bodyPr>
          <a:lstStyle/>
          <a:p>
            <a:pPr indent="-165100" lvl="0" marL="165100" marR="0" rtl="0" algn="l">
              <a:lnSpc>
                <a:spcPct val="100000"/>
              </a:lnSpc>
              <a:spcBef>
                <a:spcPts val="0"/>
              </a:spcBef>
              <a:spcAft>
                <a:spcPts val="0"/>
              </a:spcAft>
              <a:buClr>
                <a:srgbClr val="0F172A"/>
              </a:buClr>
              <a:buSzPts val="1300"/>
              <a:buFont typeface="Calibri"/>
              <a:buChar char="•"/>
            </a:pPr>
            <a:r>
              <a:rPr b="0" i="0" lang="en-US" sz="1300" u="none" cap="none" strike="noStrike">
                <a:solidFill>
                  <a:srgbClr val="0F172A"/>
                </a:solidFill>
                <a:latin typeface="Calibri"/>
                <a:ea typeface="Calibri"/>
                <a:cs typeface="Calibri"/>
                <a:sym typeface="Calibri"/>
              </a:rPr>
              <a:t>Verify flow + three-lane triage</a:t>
            </a:r>
            <a:endParaRPr b="0" i="0" sz="1300" u="none" cap="none" strike="noStrike">
              <a:solidFill>
                <a:schemeClr val="dk1"/>
              </a:solidFill>
              <a:latin typeface="Calibri"/>
              <a:ea typeface="Calibri"/>
              <a:cs typeface="Calibri"/>
              <a:sym typeface="Calibri"/>
            </a:endParaRPr>
          </a:p>
        </p:txBody>
      </p:sp>
      <p:sp>
        <p:nvSpPr>
          <p:cNvPr id="746" name="Google Shape;746;p24"/>
          <p:cNvSpPr/>
          <p:nvPr/>
        </p:nvSpPr>
        <p:spPr>
          <a:xfrm>
            <a:off x="960120" y="3383280"/>
            <a:ext cx="2880360" cy="594360"/>
          </a:xfrm>
          <a:prstGeom prst="rect">
            <a:avLst/>
          </a:prstGeom>
          <a:noFill/>
          <a:ln>
            <a:noFill/>
          </a:ln>
        </p:spPr>
        <p:txBody>
          <a:bodyPr anchorCtr="0" anchor="ctr" bIns="0" lIns="0" spcFirstLastPara="1" rIns="0" wrap="square" tIns="0">
            <a:noAutofit/>
          </a:bodyPr>
          <a:lstStyle/>
          <a:p>
            <a:pPr indent="-165100" lvl="0" marL="165100" marR="0" rtl="0" algn="l">
              <a:lnSpc>
                <a:spcPct val="100000"/>
              </a:lnSpc>
              <a:spcBef>
                <a:spcPts val="0"/>
              </a:spcBef>
              <a:spcAft>
                <a:spcPts val="0"/>
              </a:spcAft>
              <a:buClr>
                <a:srgbClr val="0F172A"/>
              </a:buClr>
              <a:buSzPts val="1300"/>
              <a:buFont typeface="Calibri"/>
              <a:buChar char="•"/>
            </a:pPr>
            <a:r>
              <a:rPr b="0" i="0" lang="en-US" sz="1300" u="none" cap="none" strike="noStrike">
                <a:solidFill>
                  <a:srgbClr val="0F172A"/>
                </a:solidFill>
                <a:latin typeface="Calibri"/>
                <a:ea typeface="Calibri"/>
                <a:cs typeface="Calibri"/>
                <a:sym typeface="Calibri"/>
              </a:rPr>
              <a:t>Operations, agent &amp; admin dashboards</a:t>
            </a:r>
            <a:endParaRPr b="0" i="0" sz="1300" u="none" cap="none" strike="noStrike">
              <a:solidFill>
                <a:schemeClr val="dk1"/>
              </a:solidFill>
              <a:latin typeface="Calibri"/>
              <a:ea typeface="Calibri"/>
              <a:cs typeface="Calibri"/>
              <a:sym typeface="Calibri"/>
            </a:endParaRPr>
          </a:p>
        </p:txBody>
      </p:sp>
      <p:sp>
        <p:nvSpPr>
          <p:cNvPr id="747" name="Google Shape;747;p24"/>
          <p:cNvSpPr/>
          <p:nvPr/>
        </p:nvSpPr>
        <p:spPr>
          <a:xfrm>
            <a:off x="960120" y="4041648"/>
            <a:ext cx="2880360" cy="594360"/>
          </a:xfrm>
          <a:prstGeom prst="rect">
            <a:avLst/>
          </a:prstGeom>
          <a:noFill/>
          <a:ln>
            <a:noFill/>
          </a:ln>
        </p:spPr>
        <p:txBody>
          <a:bodyPr anchorCtr="0" anchor="ctr" bIns="0" lIns="0" spcFirstLastPara="1" rIns="0" wrap="square" tIns="0">
            <a:noAutofit/>
          </a:bodyPr>
          <a:lstStyle/>
          <a:p>
            <a:pPr indent="-165100" lvl="0" marL="165100" marR="0" rtl="0" algn="l">
              <a:lnSpc>
                <a:spcPct val="100000"/>
              </a:lnSpc>
              <a:spcBef>
                <a:spcPts val="0"/>
              </a:spcBef>
              <a:spcAft>
                <a:spcPts val="0"/>
              </a:spcAft>
              <a:buClr>
                <a:srgbClr val="0F172A"/>
              </a:buClr>
              <a:buSzPts val="1300"/>
              <a:buFont typeface="Calibri"/>
              <a:buChar char="•"/>
            </a:pPr>
            <a:r>
              <a:rPr b="0" i="0" lang="en-US" sz="1300" u="none" cap="none" strike="noStrike">
                <a:solidFill>
                  <a:srgbClr val="0F172A"/>
                </a:solidFill>
                <a:latin typeface="Calibri"/>
                <a:ea typeface="Calibri"/>
                <a:cs typeface="Calibri"/>
                <a:sym typeface="Calibri"/>
              </a:rPr>
              <a:t>Specialists, assistant &amp; knowledge base</a:t>
            </a:r>
            <a:endParaRPr b="0" i="0" sz="1300" u="none" cap="none" strike="noStrike">
              <a:solidFill>
                <a:schemeClr val="dk1"/>
              </a:solidFill>
              <a:latin typeface="Calibri"/>
              <a:ea typeface="Calibri"/>
              <a:cs typeface="Calibri"/>
              <a:sym typeface="Calibri"/>
            </a:endParaRPr>
          </a:p>
        </p:txBody>
      </p:sp>
      <p:sp>
        <p:nvSpPr>
          <p:cNvPr id="748" name="Google Shape;748;p24"/>
          <p:cNvSpPr/>
          <p:nvPr/>
        </p:nvSpPr>
        <p:spPr>
          <a:xfrm>
            <a:off x="960120" y="4700016"/>
            <a:ext cx="2880360" cy="594360"/>
          </a:xfrm>
          <a:prstGeom prst="rect">
            <a:avLst/>
          </a:prstGeom>
          <a:noFill/>
          <a:ln>
            <a:noFill/>
          </a:ln>
        </p:spPr>
        <p:txBody>
          <a:bodyPr anchorCtr="0" anchor="ctr" bIns="0" lIns="0" spcFirstLastPara="1" rIns="0" wrap="square" tIns="0">
            <a:noAutofit/>
          </a:bodyPr>
          <a:lstStyle/>
          <a:p>
            <a:pPr indent="-165100" lvl="0" marL="165100" marR="0" rtl="0" algn="l">
              <a:lnSpc>
                <a:spcPct val="100000"/>
              </a:lnSpc>
              <a:spcBef>
                <a:spcPts val="0"/>
              </a:spcBef>
              <a:spcAft>
                <a:spcPts val="0"/>
              </a:spcAft>
              <a:buClr>
                <a:srgbClr val="0F172A"/>
              </a:buClr>
              <a:buSzPts val="1300"/>
              <a:buFont typeface="Calibri"/>
              <a:buChar char="•"/>
            </a:pPr>
            <a:r>
              <a:rPr b="0" i="0" lang="en-US" sz="1300" u="none" cap="none" strike="noStrike">
                <a:solidFill>
                  <a:srgbClr val="0F172A"/>
                </a:solidFill>
                <a:latin typeface="Calibri"/>
                <a:ea typeface="Calibri"/>
                <a:cs typeface="Calibri"/>
                <a:sym typeface="Calibri"/>
              </a:rPr>
              <a:t>Standalone — nothing stored</a:t>
            </a:r>
            <a:endParaRPr b="0" i="0" sz="1300" u="none" cap="none" strike="noStrike">
              <a:solidFill>
                <a:schemeClr val="dk1"/>
              </a:solidFill>
              <a:latin typeface="Calibri"/>
              <a:ea typeface="Calibri"/>
              <a:cs typeface="Calibri"/>
              <a:sym typeface="Calibri"/>
            </a:endParaRPr>
          </a:p>
        </p:txBody>
      </p:sp>
      <p:sp>
        <p:nvSpPr>
          <p:cNvPr id="749" name="Google Shape;749;p24"/>
          <p:cNvSpPr/>
          <p:nvPr/>
        </p:nvSpPr>
        <p:spPr>
          <a:xfrm>
            <a:off x="4297680" y="1874520"/>
            <a:ext cx="3383280" cy="356616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4"/>
          <p:cNvSpPr/>
          <p:nvPr/>
        </p:nvSpPr>
        <p:spPr>
          <a:xfrm>
            <a:off x="4297680" y="1874520"/>
            <a:ext cx="3383280" cy="109728"/>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24"/>
          <p:cNvSpPr/>
          <p:nvPr/>
        </p:nvSpPr>
        <p:spPr>
          <a:xfrm>
            <a:off x="4572000" y="2121408"/>
            <a:ext cx="2834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600"/>
              <a:buFont typeface="Georgia"/>
              <a:buNone/>
            </a:pPr>
            <a:r>
              <a:rPr b="1" i="0" lang="en-US" sz="1600" u="none" cap="none" strike="noStrike">
                <a:solidFill>
                  <a:srgbClr val="2563EB"/>
                </a:solidFill>
                <a:latin typeface="Georgia"/>
                <a:ea typeface="Georgia"/>
                <a:cs typeface="Georgia"/>
                <a:sym typeface="Georgia"/>
              </a:rPr>
              <a:t>NEXT</a:t>
            </a:r>
            <a:endParaRPr b="0" i="0" sz="1600" u="none" cap="none" strike="noStrike">
              <a:solidFill>
                <a:schemeClr val="dk1"/>
              </a:solidFill>
              <a:latin typeface="Calibri"/>
              <a:ea typeface="Calibri"/>
              <a:cs typeface="Calibri"/>
              <a:sym typeface="Calibri"/>
            </a:endParaRPr>
          </a:p>
        </p:txBody>
      </p:sp>
      <p:sp>
        <p:nvSpPr>
          <p:cNvPr id="752" name="Google Shape;752;p24"/>
          <p:cNvSpPr/>
          <p:nvPr/>
        </p:nvSpPr>
        <p:spPr>
          <a:xfrm>
            <a:off x="4572000" y="2724912"/>
            <a:ext cx="2880360" cy="594360"/>
          </a:xfrm>
          <a:prstGeom prst="rect">
            <a:avLst/>
          </a:prstGeom>
          <a:noFill/>
          <a:ln>
            <a:noFill/>
          </a:ln>
        </p:spPr>
        <p:txBody>
          <a:bodyPr anchorCtr="0" anchor="ctr" bIns="0" lIns="0" spcFirstLastPara="1" rIns="0" wrap="square" tIns="0">
            <a:noAutofit/>
          </a:bodyPr>
          <a:lstStyle/>
          <a:p>
            <a:pPr indent="-165100" lvl="0" marL="165100" marR="0" rtl="0" algn="l">
              <a:lnSpc>
                <a:spcPct val="100000"/>
              </a:lnSpc>
              <a:spcBef>
                <a:spcPts val="0"/>
              </a:spcBef>
              <a:spcAft>
                <a:spcPts val="0"/>
              </a:spcAft>
              <a:buClr>
                <a:srgbClr val="0F172A"/>
              </a:buClr>
              <a:buSzPts val="1300"/>
              <a:buFont typeface="Calibri"/>
              <a:buChar char="•"/>
            </a:pPr>
            <a:r>
              <a:rPr b="0" i="0" lang="en-US" sz="1300" u="none" cap="none" strike="noStrike">
                <a:solidFill>
                  <a:srgbClr val="0F172A"/>
                </a:solidFill>
                <a:latin typeface="Calibri"/>
                <a:ea typeface="Calibri"/>
                <a:cs typeface="Calibri"/>
                <a:sym typeface="Calibri"/>
              </a:rPr>
              <a:t>Batch handling at peak season</a:t>
            </a:r>
            <a:endParaRPr b="0" i="0" sz="1300" u="none" cap="none" strike="noStrike">
              <a:solidFill>
                <a:schemeClr val="dk1"/>
              </a:solidFill>
              <a:latin typeface="Calibri"/>
              <a:ea typeface="Calibri"/>
              <a:cs typeface="Calibri"/>
              <a:sym typeface="Calibri"/>
            </a:endParaRPr>
          </a:p>
        </p:txBody>
      </p:sp>
      <p:sp>
        <p:nvSpPr>
          <p:cNvPr id="753" name="Google Shape;753;p24"/>
          <p:cNvSpPr/>
          <p:nvPr/>
        </p:nvSpPr>
        <p:spPr>
          <a:xfrm>
            <a:off x="4572000" y="3383280"/>
            <a:ext cx="2880360" cy="594360"/>
          </a:xfrm>
          <a:prstGeom prst="rect">
            <a:avLst/>
          </a:prstGeom>
          <a:noFill/>
          <a:ln>
            <a:noFill/>
          </a:ln>
        </p:spPr>
        <p:txBody>
          <a:bodyPr anchorCtr="0" anchor="ctr" bIns="0" lIns="0" spcFirstLastPara="1" rIns="0" wrap="square" tIns="0">
            <a:noAutofit/>
          </a:bodyPr>
          <a:lstStyle/>
          <a:p>
            <a:pPr indent="-165100" lvl="0" marL="165100" marR="0" rtl="0" algn="l">
              <a:lnSpc>
                <a:spcPct val="100000"/>
              </a:lnSpc>
              <a:spcBef>
                <a:spcPts val="0"/>
              </a:spcBef>
              <a:spcAft>
                <a:spcPts val="0"/>
              </a:spcAft>
              <a:buClr>
                <a:srgbClr val="0F172A"/>
              </a:buClr>
              <a:buSzPts val="1300"/>
              <a:buFont typeface="Calibri"/>
              <a:buChar char="•"/>
            </a:pPr>
            <a:r>
              <a:rPr b="0" i="0" lang="en-US" sz="1300" u="none" cap="none" strike="noStrike">
                <a:solidFill>
                  <a:srgbClr val="0F172A"/>
                </a:solidFill>
                <a:latin typeface="Calibri"/>
                <a:ea typeface="Calibri"/>
                <a:cs typeface="Calibri"/>
                <a:sym typeface="Calibri"/>
              </a:rPr>
              <a:t>Imperfect-image robustness</a:t>
            </a:r>
            <a:endParaRPr b="0" i="0" sz="1300" u="none" cap="none" strike="noStrike">
              <a:solidFill>
                <a:schemeClr val="dk1"/>
              </a:solidFill>
              <a:latin typeface="Calibri"/>
              <a:ea typeface="Calibri"/>
              <a:cs typeface="Calibri"/>
              <a:sym typeface="Calibri"/>
            </a:endParaRPr>
          </a:p>
        </p:txBody>
      </p:sp>
      <p:sp>
        <p:nvSpPr>
          <p:cNvPr id="754" name="Google Shape;754;p24"/>
          <p:cNvSpPr/>
          <p:nvPr/>
        </p:nvSpPr>
        <p:spPr>
          <a:xfrm>
            <a:off x="4572000" y="4041648"/>
            <a:ext cx="2880360" cy="594360"/>
          </a:xfrm>
          <a:prstGeom prst="rect">
            <a:avLst/>
          </a:prstGeom>
          <a:noFill/>
          <a:ln>
            <a:noFill/>
          </a:ln>
        </p:spPr>
        <p:txBody>
          <a:bodyPr anchorCtr="0" anchor="ctr" bIns="0" lIns="0" spcFirstLastPara="1" rIns="0" wrap="square" tIns="0">
            <a:noAutofit/>
          </a:bodyPr>
          <a:lstStyle/>
          <a:p>
            <a:pPr indent="-165100" lvl="0" marL="165100" marR="0" rtl="0" algn="l">
              <a:lnSpc>
                <a:spcPct val="100000"/>
              </a:lnSpc>
              <a:spcBef>
                <a:spcPts val="0"/>
              </a:spcBef>
              <a:spcAft>
                <a:spcPts val="0"/>
              </a:spcAft>
              <a:buClr>
                <a:srgbClr val="0F172A"/>
              </a:buClr>
              <a:buSzPts val="1300"/>
              <a:buFont typeface="Calibri"/>
              <a:buChar char="•"/>
            </a:pPr>
            <a:r>
              <a:rPr b="0" i="0" lang="en-US" sz="1300" u="none" cap="none" strike="noStrike">
                <a:solidFill>
                  <a:srgbClr val="0F172A"/>
                </a:solidFill>
                <a:latin typeface="Calibri"/>
                <a:ea typeface="Calibri"/>
                <a:cs typeface="Calibri"/>
                <a:sym typeface="Calibri"/>
              </a:rPr>
              <a:t>Latency hardening to &lt;5s</a:t>
            </a:r>
            <a:endParaRPr b="0" i="0" sz="1300" u="none" cap="none" strike="noStrike">
              <a:solidFill>
                <a:schemeClr val="dk1"/>
              </a:solidFill>
              <a:latin typeface="Calibri"/>
              <a:ea typeface="Calibri"/>
              <a:cs typeface="Calibri"/>
              <a:sym typeface="Calibri"/>
            </a:endParaRPr>
          </a:p>
        </p:txBody>
      </p:sp>
      <p:sp>
        <p:nvSpPr>
          <p:cNvPr id="755" name="Google Shape;755;p24"/>
          <p:cNvSpPr/>
          <p:nvPr/>
        </p:nvSpPr>
        <p:spPr>
          <a:xfrm>
            <a:off x="4572000" y="4700016"/>
            <a:ext cx="2880360" cy="594360"/>
          </a:xfrm>
          <a:prstGeom prst="rect">
            <a:avLst/>
          </a:prstGeom>
          <a:noFill/>
          <a:ln>
            <a:noFill/>
          </a:ln>
        </p:spPr>
        <p:txBody>
          <a:bodyPr anchorCtr="0" anchor="ctr" bIns="0" lIns="0" spcFirstLastPara="1" rIns="0" wrap="square" tIns="0">
            <a:noAutofit/>
          </a:bodyPr>
          <a:lstStyle/>
          <a:p>
            <a:pPr indent="-165100" lvl="0" marL="165100" marR="0" rtl="0" algn="l">
              <a:lnSpc>
                <a:spcPct val="100000"/>
              </a:lnSpc>
              <a:spcBef>
                <a:spcPts val="0"/>
              </a:spcBef>
              <a:spcAft>
                <a:spcPts val="0"/>
              </a:spcAft>
              <a:buClr>
                <a:srgbClr val="0F172A"/>
              </a:buClr>
              <a:buSzPts val="1300"/>
              <a:buFont typeface="Calibri"/>
              <a:buChar char="•"/>
            </a:pPr>
            <a:r>
              <a:rPr b="0" i="0" lang="en-US" sz="1300" u="none" cap="none" strike="noStrike">
                <a:solidFill>
                  <a:srgbClr val="0F172A"/>
                </a:solidFill>
                <a:latin typeface="Calibri"/>
                <a:ea typeface="Calibri"/>
                <a:cs typeface="Calibri"/>
                <a:sym typeface="Calibri"/>
              </a:rPr>
              <a:t>Evals &amp; observability harness</a:t>
            </a:r>
            <a:endParaRPr b="0" i="0" sz="1300" u="none" cap="none" strike="noStrike">
              <a:solidFill>
                <a:schemeClr val="dk1"/>
              </a:solidFill>
              <a:latin typeface="Calibri"/>
              <a:ea typeface="Calibri"/>
              <a:cs typeface="Calibri"/>
              <a:sym typeface="Calibri"/>
            </a:endParaRPr>
          </a:p>
        </p:txBody>
      </p:sp>
      <p:sp>
        <p:nvSpPr>
          <p:cNvPr id="756" name="Google Shape;756;p24"/>
          <p:cNvSpPr/>
          <p:nvPr/>
        </p:nvSpPr>
        <p:spPr>
          <a:xfrm>
            <a:off x="7909560" y="1874520"/>
            <a:ext cx="3383280" cy="3566160"/>
          </a:xfrm>
          <a:prstGeom prst="rect">
            <a:avLst/>
          </a:prstGeom>
          <a:solidFill>
            <a:srgbClr val="FFFFFF"/>
          </a:solidFill>
          <a:ln cap="flat" cmpd="sng" w="12700">
            <a:solidFill>
              <a:srgbClr val="E3E8EF"/>
            </a:solidFill>
            <a:prstDash val="solid"/>
            <a:round/>
            <a:headEnd len="sm" w="sm" type="none"/>
            <a:tailEnd len="sm" w="sm" type="none"/>
          </a:ln>
          <a:effectLst>
            <a:outerShdw blurRad="114300" rotWithShape="0" algn="bl" dir="8100000" dist="38100">
              <a:srgbClr val="7B8794">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24"/>
          <p:cNvSpPr/>
          <p:nvPr/>
        </p:nvSpPr>
        <p:spPr>
          <a:xfrm>
            <a:off x="7909560" y="1874520"/>
            <a:ext cx="3383280" cy="109728"/>
          </a:xfrm>
          <a:prstGeom prst="rect">
            <a:avLst/>
          </a:prstGeom>
          <a:solidFill>
            <a:srgbClr val="1C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24"/>
          <p:cNvSpPr/>
          <p:nvPr/>
        </p:nvSpPr>
        <p:spPr>
          <a:xfrm>
            <a:off x="8183880" y="2121408"/>
            <a:ext cx="2834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A5E"/>
              </a:buClr>
              <a:buSzPts val="1600"/>
              <a:buFont typeface="Georgia"/>
              <a:buNone/>
            </a:pPr>
            <a:r>
              <a:rPr b="1" i="0" lang="en-US" sz="1600" u="none" cap="none" strike="noStrike">
                <a:solidFill>
                  <a:srgbClr val="1C3A5E"/>
                </a:solidFill>
                <a:latin typeface="Georgia"/>
                <a:ea typeface="Georgia"/>
                <a:cs typeface="Georgia"/>
                <a:sym typeface="Georgia"/>
              </a:rPr>
              <a:t>LATER · Production</a:t>
            </a:r>
            <a:endParaRPr b="0" i="0" sz="1600" u="none" cap="none" strike="noStrike">
              <a:solidFill>
                <a:schemeClr val="dk1"/>
              </a:solidFill>
              <a:latin typeface="Calibri"/>
              <a:ea typeface="Calibri"/>
              <a:cs typeface="Calibri"/>
              <a:sym typeface="Calibri"/>
            </a:endParaRPr>
          </a:p>
        </p:txBody>
      </p:sp>
      <p:sp>
        <p:nvSpPr>
          <p:cNvPr id="759" name="Google Shape;759;p24"/>
          <p:cNvSpPr/>
          <p:nvPr/>
        </p:nvSpPr>
        <p:spPr>
          <a:xfrm>
            <a:off x="8183880" y="2724912"/>
            <a:ext cx="2880360" cy="594360"/>
          </a:xfrm>
          <a:prstGeom prst="rect">
            <a:avLst/>
          </a:prstGeom>
          <a:noFill/>
          <a:ln>
            <a:noFill/>
          </a:ln>
        </p:spPr>
        <p:txBody>
          <a:bodyPr anchorCtr="0" anchor="ctr" bIns="0" lIns="0" spcFirstLastPara="1" rIns="0" wrap="square" tIns="0">
            <a:noAutofit/>
          </a:bodyPr>
          <a:lstStyle/>
          <a:p>
            <a:pPr indent="-165100" lvl="0" marL="165100" marR="0" rtl="0" algn="l">
              <a:lnSpc>
                <a:spcPct val="100000"/>
              </a:lnSpc>
              <a:spcBef>
                <a:spcPts val="0"/>
              </a:spcBef>
              <a:spcAft>
                <a:spcPts val="0"/>
              </a:spcAft>
              <a:buClr>
                <a:srgbClr val="0F172A"/>
              </a:buClr>
              <a:buSzPts val="1300"/>
              <a:buFont typeface="Calibri"/>
              <a:buChar char="•"/>
            </a:pPr>
            <a:r>
              <a:rPr b="0" i="0" lang="en-US" sz="1300" u="none" cap="none" strike="noStrike">
                <a:solidFill>
                  <a:srgbClr val="0F172A"/>
                </a:solidFill>
                <a:latin typeface="Calibri"/>
                <a:ea typeface="Calibri"/>
                <a:cs typeface="Calibri"/>
                <a:sym typeface="Calibri"/>
              </a:rPr>
              <a:t>In-boundary model on Azure</a:t>
            </a:r>
            <a:endParaRPr b="0" i="0" sz="1300" u="none" cap="none" strike="noStrike">
              <a:solidFill>
                <a:schemeClr val="dk1"/>
              </a:solidFill>
              <a:latin typeface="Calibri"/>
              <a:ea typeface="Calibri"/>
              <a:cs typeface="Calibri"/>
              <a:sym typeface="Calibri"/>
            </a:endParaRPr>
          </a:p>
        </p:txBody>
      </p:sp>
      <p:sp>
        <p:nvSpPr>
          <p:cNvPr id="760" name="Google Shape;760;p24"/>
          <p:cNvSpPr/>
          <p:nvPr/>
        </p:nvSpPr>
        <p:spPr>
          <a:xfrm>
            <a:off x="8183880" y="3383280"/>
            <a:ext cx="2880360" cy="594360"/>
          </a:xfrm>
          <a:prstGeom prst="rect">
            <a:avLst/>
          </a:prstGeom>
          <a:noFill/>
          <a:ln>
            <a:noFill/>
          </a:ln>
        </p:spPr>
        <p:txBody>
          <a:bodyPr anchorCtr="0" anchor="ctr" bIns="0" lIns="0" spcFirstLastPara="1" rIns="0" wrap="square" tIns="0">
            <a:noAutofit/>
          </a:bodyPr>
          <a:lstStyle/>
          <a:p>
            <a:pPr indent="-165100" lvl="0" marL="165100" marR="0" rtl="0" algn="l">
              <a:lnSpc>
                <a:spcPct val="100000"/>
              </a:lnSpc>
              <a:spcBef>
                <a:spcPts val="0"/>
              </a:spcBef>
              <a:spcAft>
                <a:spcPts val="0"/>
              </a:spcAft>
              <a:buClr>
                <a:srgbClr val="0F172A"/>
              </a:buClr>
              <a:buSzPts val="1300"/>
              <a:buFont typeface="Calibri"/>
              <a:buChar char="•"/>
            </a:pPr>
            <a:r>
              <a:rPr b="0" i="0" lang="en-US" sz="1300" u="none" cap="none" strike="noStrike">
                <a:solidFill>
                  <a:srgbClr val="0F172A"/>
                </a:solidFill>
                <a:latin typeface="Calibri"/>
                <a:ea typeface="Calibri"/>
                <a:cs typeface="Calibri"/>
                <a:sym typeface="Calibri"/>
              </a:rPr>
              <a:t>COLA ingestion + write-back</a:t>
            </a:r>
            <a:endParaRPr b="0" i="0" sz="1300" u="none" cap="none" strike="noStrike">
              <a:solidFill>
                <a:schemeClr val="dk1"/>
              </a:solidFill>
              <a:latin typeface="Calibri"/>
              <a:ea typeface="Calibri"/>
              <a:cs typeface="Calibri"/>
              <a:sym typeface="Calibri"/>
            </a:endParaRPr>
          </a:p>
        </p:txBody>
      </p:sp>
      <p:sp>
        <p:nvSpPr>
          <p:cNvPr id="761" name="Google Shape;761;p24"/>
          <p:cNvSpPr/>
          <p:nvPr/>
        </p:nvSpPr>
        <p:spPr>
          <a:xfrm>
            <a:off x="8183880" y="4041648"/>
            <a:ext cx="2880360" cy="594360"/>
          </a:xfrm>
          <a:prstGeom prst="rect">
            <a:avLst/>
          </a:prstGeom>
          <a:noFill/>
          <a:ln>
            <a:noFill/>
          </a:ln>
        </p:spPr>
        <p:txBody>
          <a:bodyPr anchorCtr="0" anchor="ctr" bIns="0" lIns="0" spcFirstLastPara="1" rIns="0" wrap="square" tIns="0">
            <a:noAutofit/>
          </a:bodyPr>
          <a:lstStyle/>
          <a:p>
            <a:pPr indent="-165100" lvl="0" marL="165100" marR="0" rtl="0" algn="l">
              <a:lnSpc>
                <a:spcPct val="100000"/>
              </a:lnSpc>
              <a:spcBef>
                <a:spcPts val="0"/>
              </a:spcBef>
              <a:spcAft>
                <a:spcPts val="0"/>
              </a:spcAft>
              <a:buClr>
                <a:srgbClr val="0F172A"/>
              </a:buClr>
              <a:buSzPts val="1300"/>
              <a:buFont typeface="Calibri"/>
              <a:buChar char="•"/>
            </a:pPr>
            <a:r>
              <a:rPr b="0" i="0" lang="en-US" sz="1300" u="none" cap="none" strike="noStrike">
                <a:solidFill>
                  <a:srgbClr val="0F172A"/>
                </a:solidFill>
                <a:latin typeface="Calibri"/>
                <a:ea typeface="Calibri"/>
                <a:cs typeface="Calibri"/>
                <a:sym typeface="Calibri"/>
              </a:rPr>
              <a:t>Auth, roles, audit, datastore</a:t>
            </a:r>
            <a:endParaRPr b="0" i="0" sz="1300" u="none" cap="none" strike="noStrike">
              <a:solidFill>
                <a:schemeClr val="dk1"/>
              </a:solidFill>
              <a:latin typeface="Calibri"/>
              <a:ea typeface="Calibri"/>
              <a:cs typeface="Calibri"/>
              <a:sym typeface="Calibri"/>
            </a:endParaRPr>
          </a:p>
        </p:txBody>
      </p:sp>
      <p:sp>
        <p:nvSpPr>
          <p:cNvPr id="762" name="Google Shape;762;p24"/>
          <p:cNvSpPr/>
          <p:nvPr/>
        </p:nvSpPr>
        <p:spPr>
          <a:xfrm>
            <a:off x="8183880" y="4700016"/>
            <a:ext cx="2880360" cy="594360"/>
          </a:xfrm>
          <a:prstGeom prst="rect">
            <a:avLst/>
          </a:prstGeom>
          <a:noFill/>
          <a:ln>
            <a:noFill/>
          </a:ln>
        </p:spPr>
        <p:txBody>
          <a:bodyPr anchorCtr="0" anchor="ctr" bIns="0" lIns="0" spcFirstLastPara="1" rIns="0" wrap="square" tIns="0">
            <a:noAutofit/>
          </a:bodyPr>
          <a:lstStyle/>
          <a:p>
            <a:pPr indent="-165100" lvl="0" marL="165100" marR="0" rtl="0" algn="l">
              <a:lnSpc>
                <a:spcPct val="100000"/>
              </a:lnSpc>
              <a:spcBef>
                <a:spcPts val="0"/>
              </a:spcBef>
              <a:spcAft>
                <a:spcPts val="0"/>
              </a:spcAft>
              <a:buClr>
                <a:srgbClr val="0F172A"/>
              </a:buClr>
              <a:buSzPts val="1300"/>
              <a:buFont typeface="Calibri"/>
              <a:buChar char="•"/>
            </a:pPr>
            <a:r>
              <a:rPr b="0" i="0" lang="en-US" sz="1300" u="none" cap="none" strike="noStrike">
                <a:solidFill>
                  <a:srgbClr val="0F172A"/>
                </a:solidFill>
                <a:latin typeface="Calibri"/>
                <a:ea typeface="Calibri"/>
                <a:cs typeface="Calibri"/>
                <a:sym typeface="Calibri"/>
              </a:rPr>
              <a:t>Self-hosted observability + analytics</a:t>
            </a:r>
            <a:endParaRPr b="0" i="0" sz="1300" u="none" cap="none" strike="noStrike">
              <a:solidFill>
                <a:schemeClr val="dk1"/>
              </a:solidFill>
              <a:latin typeface="Calibri"/>
              <a:ea typeface="Calibri"/>
              <a:cs typeface="Calibri"/>
              <a:sym typeface="Calibri"/>
            </a:endParaRPr>
          </a:p>
        </p:txBody>
      </p:sp>
      <p:sp>
        <p:nvSpPr>
          <p:cNvPr id="763" name="Google Shape;763;p24"/>
          <p:cNvSpPr/>
          <p:nvPr/>
        </p:nvSpPr>
        <p:spPr>
          <a:xfrm>
            <a:off x="685800" y="6446520"/>
            <a:ext cx="6400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AI Label Verification · Approach &amp; Design</a:t>
            </a:r>
            <a:endParaRPr b="0" i="0" sz="900" u="none" cap="none" strike="noStrike">
              <a:solidFill>
                <a:schemeClr val="dk1"/>
              </a:solidFill>
              <a:latin typeface="Calibri"/>
              <a:ea typeface="Calibri"/>
              <a:cs typeface="Calibri"/>
              <a:sym typeface="Calibri"/>
            </a:endParaRPr>
          </a:p>
        </p:txBody>
      </p:sp>
      <p:sp>
        <p:nvSpPr>
          <p:cNvPr id="764" name="Google Shape;764;p24"/>
          <p:cNvSpPr/>
          <p:nvPr/>
        </p:nvSpPr>
        <p:spPr>
          <a:xfrm>
            <a:off x="11185855" y="6446520"/>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A98A8"/>
              </a:buClr>
              <a:buSzPts val="900"/>
              <a:buFont typeface="Calibri"/>
              <a:buNone/>
            </a:pPr>
            <a:r>
              <a:rPr b="0" i="0" lang="en-US" sz="900" u="none" cap="none" strike="noStrike">
                <a:solidFill>
                  <a:srgbClr val="8A98A8"/>
                </a:solidFill>
                <a:latin typeface="Calibri"/>
                <a:ea typeface="Calibri"/>
                <a:cs typeface="Calibri"/>
                <a:sym typeface="Calibri"/>
              </a:rPr>
              <a:t>22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233B"/>
        </a:solidFill>
      </p:bgPr>
    </p:bg>
    <p:spTree>
      <p:nvGrpSpPr>
        <p:cNvPr id="769" name="Shape 769"/>
        <p:cNvGrpSpPr/>
        <p:nvPr/>
      </p:nvGrpSpPr>
      <p:grpSpPr>
        <a:xfrm>
          <a:off x="0" y="0"/>
          <a:ext cx="0" cy="0"/>
          <a:chOff x="0" y="0"/>
          <a:chExt cx="0" cy="0"/>
        </a:xfrm>
      </p:grpSpPr>
      <p:sp>
        <p:nvSpPr>
          <p:cNvPr id="770" name="Google Shape;770;p25"/>
          <p:cNvSpPr/>
          <p:nvPr/>
        </p:nvSpPr>
        <p:spPr>
          <a:xfrm>
            <a:off x="0" y="0"/>
            <a:ext cx="256032" cy="6858000"/>
          </a:xfrm>
          <a:prstGeom prst="rect">
            <a:avLst/>
          </a:prstGeom>
          <a:solidFill>
            <a:srgbClr val="1580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25"/>
          <p:cNvSpPr/>
          <p:nvPr/>
        </p:nvSpPr>
        <p:spPr>
          <a:xfrm>
            <a:off x="868680" y="2011680"/>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4CE"/>
              </a:buClr>
              <a:buSzPts val="1300"/>
              <a:buFont typeface="Calibri"/>
              <a:buNone/>
            </a:pPr>
            <a:r>
              <a:rPr b="1" i="0" lang="en-US" sz="1300" u="none" cap="none" strike="noStrike">
                <a:solidFill>
                  <a:srgbClr val="9FB4CE"/>
                </a:solidFill>
                <a:latin typeface="Calibri"/>
                <a:ea typeface="Calibri"/>
                <a:cs typeface="Calibri"/>
                <a:sym typeface="Calibri"/>
              </a:rPr>
              <a:t>IN ONE SENTENCE</a:t>
            </a:r>
            <a:endParaRPr b="0" i="0" sz="1300" u="none" cap="none" strike="noStrike">
              <a:solidFill>
                <a:schemeClr val="dk1"/>
              </a:solidFill>
              <a:latin typeface="Calibri"/>
              <a:ea typeface="Calibri"/>
              <a:cs typeface="Calibri"/>
              <a:sym typeface="Calibri"/>
            </a:endParaRPr>
          </a:p>
        </p:txBody>
      </p:sp>
      <p:sp>
        <p:nvSpPr>
          <p:cNvPr id="772" name="Google Shape;772;p25"/>
          <p:cNvSpPr/>
          <p:nvPr/>
        </p:nvSpPr>
        <p:spPr>
          <a:xfrm>
            <a:off x="850392" y="2468880"/>
            <a:ext cx="10424160" cy="17373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FFFFFF"/>
              </a:buClr>
              <a:buSzPts val="3300"/>
              <a:buFont typeface="Georgia"/>
              <a:buNone/>
            </a:pPr>
            <a:r>
              <a:rPr b="1" i="0" lang="en-US" sz="3300" u="none" cap="none" strike="noStrike">
                <a:solidFill>
                  <a:srgbClr val="FFFFFF"/>
                </a:solidFill>
                <a:latin typeface="Georgia"/>
                <a:ea typeface="Georgia"/>
                <a:cs typeface="Georgia"/>
                <a:sym typeface="Georgia"/>
              </a:rPr>
              <a:t>A second set of eyes that does the boring matching in seconds — so agents focus on judgment.</a:t>
            </a:r>
            <a:endParaRPr b="0" i="0" sz="3300" u="none" cap="none" strike="noStrike">
              <a:solidFill>
                <a:schemeClr val="dk1"/>
              </a:solidFill>
              <a:latin typeface="Calibri"/>
              <a:ea typeface="Calibri"/>
              <a:cs typeface="Calibri"/>
              <a:sym typeface="Calibri"/>
            </a:endParaRPr>
          </a:p>
        </p:txBody>
      </p:sp>
      <p:sp>
        <p:nvSpPr>
          <p:cNvPr id="773" name="Google Shape;773;p25"/>
          <p:cNvSpPr/>
          <p:nvPr/>
        </p:nvSpPr>
        <p:spPr>
          <a:xfrm>
            <a:off x="868680" y="4572000"/>
            <a:ext cx="10058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803D"/>
              </a:buClr>
              <a:buSzPts val="1500"/>
              <a:buFont typeface="Calibri"/>
              <a:buNone/>
            </a:pPr>
            <a:r>
              <a:rPr b="1" i="0" lang="en-US" sz="1500" u="none" cap="none" strike="noStrike">
                <a:solidFill>
                  <a:srgbClr val="15803D"/>
                </a:solidFill>
                <a:latin typeface="Calibri"/>
                <a:ea typeface="Calibri"/>
                <a:cs typeface="Calibri"/>
                <a:sym typeface="Calibri"/>
              </a:rPr>
              <a:t>Build first:  </a:t>
            </a:r>
            <a:r>
              <a:rPr b="0" i="0" lang="en-US" sz="1500" u="none" cap="none" strike="noStrike">
                <a:solidFill>
                  <a:srgbClr val="CBD8E8"/>
                </a:solidFill>
                <a:latin typeface="Calibri"/>
                <a:ea typeface="Calibri"/>
                <a:cs typeface="Calibri"/>
                <a:sym typeface="Calibri"/>
              </a:rPr>
              <a:t>the core single-application verify flow — then batch and imperfect-image handling.</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