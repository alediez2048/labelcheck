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year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Operating cost</c:v>
                  </c:pt>
                  <c:pt idx="1">
                    <c:v>Labour saved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825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640080"/>
            <a:ext cx="310896" cy="3108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8796528" y="640080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Shape 3"/>
          <p:cNvSpPr/>
          <p:nvPr/>
        </p:nvSpPr>
        <p:spPr>
          <a:xfrm>
            <a:off x="9363456" y="640080"/>
            <a:ext cx="310896" cy="3108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· CERTIFICATE OF LABEL 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Alcohol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Verification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that a label matches its application — in seconds, at agency scale.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Design</a:t>
            </a:r>
            <a:pPr indent="0" marL="0">
              <a:buNone/>
            </a:pPr>
            <a:r>
              <a:rPr lang="en-US" sz="14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Alex  ·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Skilled agents, buried in routine matching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91440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applications reviewed per year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874520"/>
            <a:ext cx="91440" cy="18288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handling the entire queue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09560" y="18745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09560" y="1874520"/>
            <a:ext cx="91440" cy="18288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sec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3880" y="3017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bar — or the tool goes unused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manual.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eyeballs the label artwork against the typed application, field by field. Roughly half the day is routine matching, not judgment — and the prior scanning vendor was abandoned at 30 to 40 seconds per label.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people doing the work told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91440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· Deputy Director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04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~5 seconds or agents abandon it. Peak-season batches of 200–300 are a real bottleneck.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166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783080"/>
            <a:ext cx="91440" cy="18288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404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proof-of-concept, no COLA integration. The firewall blocks external ML endpoints.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5166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840480"/>
            <a:ext cx="91440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· Senior agent (28 yrs)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62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is real. ‘STONE’S THROW’ and ‘Stone’s Throw’ are the same product.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166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840480"/>
            <a:ext cx="91440" cy="18288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· Junior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462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warning must be exact — caps and bold. Photos are often imperfect.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the grind, not the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66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5166360" cy="1097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and approval are fused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field by eye, every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day on routine matching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the cases that need judgment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166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828800"/>
            <a:ext cx="5166360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84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395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matches; the agent judges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every application at intake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confidence into three lanes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resolves the exceptions, owns the 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keeps the decision and the legal accountability.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queue, three lanes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is verified the moment it arrives and sorted by confidence. The agent works a pre-sorted queue.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83280" cy="2697480"/>
          </a:xfrm>
          <a:prstGeom prst="rect">
            <a:avLst/>
          </a:prstGeom>
          <a:solidFill>
            <a:srgbClr val="E8F6EE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60320"/>
            <a:ext cx="685800" cy="6858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agrees. Bulk-approve in one click.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383280" cy="2697480"/>
          </a:xfrm>
          <a:prstGeom prst="rect">
            <a:avLst/>
          </a:prstGeom>
          <a:solidFill>
            <a:srgbClr val="FAEAE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560320"/>
            <a:ext cx="685800" cy="6858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4068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4068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disagrees — flagged with the exact field.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2286000"/>
            <a:ext cx="3383280" cy="2697480"/>
          </a:xfrm>
          <a:prstGeom prst="rect">
            <a:avLst/>
          </a:prstGeom>
          <a:solidFill>
            <a:srgbClr val="FBF1E0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56032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5256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or a near-miss. Sent to a human.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spends time only in the second and third lanes — that is the time saved.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reads. The code decides.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379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transcribes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8541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label text from every face; it renders no verdicts.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980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does the matching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455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rules — brand &amp; type fuzzy, ABV &amp; contents normalized — in inspectable, testable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58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computed, not claimed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0565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match margin and legibility — never the model’s self-reported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4160520" cy="3291840"/>
          </a:xfrm>
          <a:prstGeom prst="rect">
            <a:avLst/>
          </a:prstGeom>
          <a:solidFill>
            <a:srgbClr val="12233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1828800"/>
            <a:ext cx="4160520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414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Warning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80960" y="2944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 any face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34472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wording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39502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‘GOVERNMENT WARNING:’ in ALL CAPS — strict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4453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is best-effort → routed to a human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application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COLAs Online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99716" y="2313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9172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02052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12" name="Text 10"/>
          <p:cNvSpPr/>
          <p:nvPr/>
        </p:nvSpPr>
        <p:spPr>
          <a:xfrm>
            <a:off x="2702052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83764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83764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label vs 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33088" y="2313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52544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35424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17136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17136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three lanes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35424" y="3849624"/>
            <a:ext cx="137160" cy="1371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3813048"/>
            <a:ext cx="1147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35424" y="4215384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4178808"/>
            <a:ext cx="1147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35424" y="4581144"/>
            <a:ext cx="137160" cy="1371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4544568"/>
            <a:ext cx="1147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6460" y="2313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85916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68796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30" name="Text 28"/>
          <p:cNvSpPr/>
          <p:nvPr/>
        </p:nvSpPr>
        <p:spPr>
          <a:xfrm>
            <a:off x="6368796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0508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handles 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0508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0508" y="3794760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0508" y="3794760"/>
            <a:ext cx="64008" cy="4937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Text 33"/>
          <p:cNvSpPr/>
          <p:nvPr/>
        </p:nvSpPr>
        <p:spPr>
          <a:xfrm>
            <a:off x="6487668" y="3794760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· matches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50508" y="4379976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0508" y="4379976"/>
            <a:ext cx="64008" cy="4937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6487668" y="4379976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· exceptions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99832" y="2313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19288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02168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42" name="Text 40"/>
          <p:cNvSpPr/>
          <p:nvPr/>
        </p:nvSpPr>
        <p:spPr>
          <a:xfrm>
            <a:off x="8202168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83880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83880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exception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83880" y="3794760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83880" y="3794760"/>
            <a:ext cx="64008" cy="4937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3794760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COLA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83880" y="4379976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83880" y="4379976"/>
            <a:ext cx="64008" cy="4937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4379976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correction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33204" y="23134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852660" y="2057400"/>
            <a:ext cx="16504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035540" y="2276856"/>
            <a:ext cx="438912" cy="438912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54" name="Text 52"/>
          <p:cNvSpPr/>
          <p:nvPr/>
        </p:nvSpPr>
        <p:spPr>
          <a:xfrm>
            <a:off x="10035540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017252" y="2843784"/>
            <a:ext cx="1339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Ending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017252" y="3300984"/>
            <a:ext cx="1339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017252" y="3794760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17252" y="3794760"/>
            <a:ext cx="64008" cy="4937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9" name="Text 57"/>
          <p:cNvSpPr/>
          <p:nvPr/>
        </p:nvSpPr>
        <p:spPr>
          <a:xfrm>
            <a:off x="10154412" y="3794760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issued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017252" y="4379976"/>
            <a:ext cx="133959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17252" y="4379976"/>
            <a:ext cx="64008" cy="49377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2" name="Text 60"/>
          <p:cNvSpPr/>
          <p:nvPr/>
        </p:nvSpPr>
        <p:spPr>
          <a:xfrm>
            <a:off x="10154412" y="4379976"/>
            <a:ext cx="12298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Auto-rejected ≥30d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800" y="55321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clears the clean majority in bulk; specialist agents handle only their beverage type's exceptions. Rejection is automatic when a 30-day correction window lapses — there is no manual reject.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smart inbox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 exceptions in your queue, pulled from your specialty's pool.”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see the cases that need a human.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next exception from your pool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493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vs label, side by side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599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Approve, or Return for correction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6268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colour + icon + text, large targets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937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057400"/>
            <a:ext cx="4480560" cy="640080"/>
          </a:xfrm>
          <a:prstGeom prst="rect">
            <a:avLst/>
          </a:prstGeom>
          <a:solidFill>
            <a:srgbClr val="EEF3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pulled from your pool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738360" y="22128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73836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926080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2926080"/>
            <a:ext cx="73152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Mist Vodka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ABV: form 40% vs label 45%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87000" y="31272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A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31272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flag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377647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776472"/>
            <a:ext cx="73152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867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Ridge Reserve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951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not in all caps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287000" y="397764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A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39776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flag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4626864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4626864"/>
            <a:ext cx="73152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718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1907 Lager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95160" y="5010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too blurry to read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287000" y="482803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48280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review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ADMIN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Operations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11183112" cy="365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36192"/>
            <a:ext cx="118872" cy="118872"/>
          </a:xfrm>
          <a:prstGeom prst="ellipse">
            <a:avLst/>
          </a:prstGeom>
          <a:solidFill>
            <a:srgbClr val="E2625C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536192"/>
            <a:ext cx="118872" cy="118872"/>
          </a:xfrm>
          <a:prstGeom prst="ellipse">
            <a:avLst/>
          </a:prstGeom>
          <a:solidFill>
            <a:srgbClr val="E2B05C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536192"/>
            <a:ext cx="118872" cy="118872"/>
          </a:xfrm>
          <a:prstGeom prst="ellipse">
            <a:avLst/>
          </a:prstGeom>
          <a:solidFill>
            <a:srgbClr val="5CB87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53896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labelcheck.ttb.gov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2240280" cy="47091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4767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496312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496312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963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18488" y="24963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" y="2980944"/>
            <a:ext cx="1984248" cy="402336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9319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925312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925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59070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99232" y="1947672"/>
            <a:ext cx="1915668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039112"/>
            <a:ext cx="17327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0" y="2221992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96612" y="1947672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70932" y="1947672"/>
            <a:ext cx="1915668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0660" y="2039112"/>
            <a:ext cx="17327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80660" y="2221992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068312" y="1947672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42632" y="1947672"/>
            <a:ext cx="1915668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039112"/>
            <a:ext cx="17327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52360" y="2221992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240012" y="1947672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514332" y="1947672"/>
            <a:ext cx="1915668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4060" y="2039112"/>
            <a:ext cx="17327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24060" y="2221992"/>
            <a:ext cx="1732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2999232" y="2999232"/>
            <a:ext cx="40782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63824" y="310896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approval pool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63824" y="3456432"/>
            <a:ext cx="3749040" cy="566928"/>
          </a:xfrm>
          <a:prstGeom prst="rect">
            <a:avLst/>
          </a:prstGeom>
          <a:solidFill>
            <a:srgbClr val="E8F6EE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45643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passed every check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59552" y="356616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46" name="Text 44"/>
          <p:cNvSpPr/>
          <p:nvPr/>
        </p:nvSpPr>
        <p:spPr>
          <a:xfrm>
            <a:off x="5559552" y="35661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420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73552" y="418795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Tom Distillery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73552" y="438912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Bourbon · 750 mL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17336" y="42245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17336" y="4224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73552" y="464515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Branch Gin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73552" y="484632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· 750 mL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17336" y="46817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73552" y="510235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 Hollow Cream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73552" y="530352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Liqueur · 750 mL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17336" y="51389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17336" y="5138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73552" y="554126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+ 417 more clean applications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351776" y="2999232"/>
            <a:ext cx="40782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16368" y="310896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distribution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516368" y="310896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exceptions across the team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16368" y="3456432"/>
            <a:ext cx="374904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62672" y="3456432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Pool · 24 waiting to be pulled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626096" y="4096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Park  </a:t>
            </a:r>
            <a:pPr indent="0" marL="0">
              <a:buNone/>
            </a:pPr>
            <a:r>
              <a:rPr lang="en-US" sz="8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272016" y="4169664"/>
            <a:ext cx="1472184" cy="14630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7" name="Shape 65"/>
          <p:cNvSpPr/>
          <p:nvPr/>
        </p:nvSpPr>
        <p:spPr>
          <a:xfrm>
            <a:off x="9272016" y="4169664"/>
            <a:ext cx="1329715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Text 66"/>
          <p:cNvSpPr/>
          <p:nvPr/>
        </p:nvSpPr>
        <p:spPr>
          <a:xfrm>
            <a:off x="10881360" y="4096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626096" y="4480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Morrison  </a:t>
            </a:r>
            <a:pPr indent="0" marL="0">
              <a:buNone/>
            </a:pPr>
            <a:r>
              <a:rPr lang="en-US" sz="8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272016" y="4553712"/>
            <a:ext cx="1472184" cy="14630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1" name="Shape 69"/>
          <p:cNvSpPr/>
          <p:nvPr/>
        </p:nvSpPr>
        <p:spPr>
          <a:xfrm>
            <a:off x="9272016" y="4553712"/>
            <a:ext cx="1472184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10881360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626096" y="48646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Lee  </a:t>
            </a:r>
            <a:pPr indent="0" marL="0">
              <a:buNone/>
            </a:pPr>
            <a:r>
              <a:rPr lang="en-US" sz="8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272016" y="4937760"/>
            <a:ext cx="1472184" cy="14630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5" name="Shape 73"/>
          <p:cNvSpPr/>
          <p:nvPr/>
        </p:nvSpPr>
        <p:spPr>
          <a:xfrm>
            <a:off x="9272016" y="4937760"/>
            <a:ext cx="1234735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74"/>
          <p:cNvSpPr/>
          <p:nvPr/>
        </p:nvSpPr>
        <p:spPr>
          <a:xfrm>
            <a:off x="10881360" y="4864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7626096" y="52486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Ruiz  </a:t>
            </a:r>
            <a:pPr indent="0" marL="0">
              <a:buNone/>
            </a:pPr>
            <a:r>
              <a:rPr lang="en-US" sz="8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272016" y="5321808"/>
            <a:ext cx="1472184" cy="14630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9" name="Shape 77"/>
          <p:cNvSpPr/>
          <p:nvPr/>
        </p:nvSpPr>
        <p:spPr>
          <a:xfrm>
            <a:off x="9272016" y="5321808"/>
            <a:ext cx="1424694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Text 78"/>
          <p:cNvSpPr/>
          <p:nvPr/>
        </p:nvSpPr>
        <p:spPr>
          <a:xfrm>
            <a:off x="10881360" y="5248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AGENT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agent's queue — pulled from the pool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11183112" cy="365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36192"/>
            <a:ext cx="118872" cy="118872"/>
          </a:xfrm>
          <a:prstGeom prst="ellipse">
            <a:avLst/>
          </a:prstGeom>
          <a:solidFill>
            <a:srgbClr val="E2625C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536192"/>
            <a:ext cx="118872" cy="118872"/>
          </a:xfrm>
          <a:prstGeom prst="ellipse">
            <a:avLst/>
          </a:prstGeom>
          <a:solidFill>
            <a:srgbClr val="E2B05C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536192"/>
            <a:ext cx="118872" cy="118872"/>
          </a:xfrm>
          <a:prstGeom prst="ellipse">
            <a:avLst/>
          </a:prstGeom>
          <a:solidFill>
            <a:srgbClr val="5CB87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53896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labelcheck.ttb.gov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2240280" cy="47091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4767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496312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18488" y="2496312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963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18488" y="24963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" y="2980944"/>
            <a:ext cx="1984248" cy="402336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Queue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Stats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9319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925312"/>
            <a:ext cx="365760" cy="3657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925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59070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Park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99232" y="1947672"/>
            <a:ext cx="843076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075688"/>
            <a:ext cx="6236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applications you pulled from the shared review pool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still waiting in the pool. Pull the next when you finish.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4692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next from pool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99232" y="2907792"/>
            <a:ext cx="8430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CLAIMED EXCEPTIONS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99232" y="3227832"/>
            <a:ext cx="8430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9232" y="3227832"/>
            <a:ext cx="64008" cy="5120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3227832" y="32826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Mist Vodka  </a:t>
            </a:r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Vodka · HM-26-0810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96912" y="3227832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content: form 40% vs label 45%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58400" y="33467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A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Mismatch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99232" y="3794760"/>
            <a:ext cx="8430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99232" y="3794760"/>
            <a:ext cx="64008" cy="5120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3227832" y="3849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Ridge Reserve  </a:t>
            </a:r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Rye Whiskey · CR-26-0655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96912" y="379476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warning heading not in all caps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058400" y="391363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A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0" y="3913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Mismatch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99232" y="4361688"/>
            <a:ext cx="8430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99232" y="4361688"/>
            <a:ext cx="64008" cy="5120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3227832" y="44165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Pale Ale  </a:t>
            </a:r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 Beverage · CP-26-1402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96912" y="436168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contents: form 12 fl oz vs label 16 fl oz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058400" y="448056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A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4480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Mismatch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99232" y="4928616"/>
            <a:ext cx="8430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99232" y="4928616"/>
            <a:ext cx="64008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3227832" y="4983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1907 Lager  </a:t>
            </a:r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 Beverage · PG-26-0298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296912" y="492861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too blurry to read — request a better photo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058400" y="504748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0" y="50474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Review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99232" y="5495544"/>
            <a:ext cx="84307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99232" y="5495544"/>
            <a:ext cx="64008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6" name="Text 54"/>
          <p:cNvSpPr/>
          <p:nvPr/>
        </p:nvSpPr>
        <p:spPr>
          <a:xfrm>
            <a:off x="3227832" y="55504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Dunmore Single Malt  </a:t>
            </a:r>
            <a:pPr indent="0" marL="0">
              <a:buNone/>
            </a:pPr>
            <a:r>
              <a:rPr lang="en-US" sz="9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Whisky · DM-26-0744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296912" y="549554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near-miss — ‘Dunmore’ vs ‘Dun More’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058400" y="5614416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0" y="5614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Specialists, an assistant, a managed knowledge 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3383280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Beverage specialists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route to the agent who specializes in that label type — wine, distilled spirits, or malt beverage — with overflow so nothing stalls. Specialists read their own type faster and more accurately.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2011680"/>
            <a:ext cx="33832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assistant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15468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bottom-right helper that answers questions, onboards new agents, and summarizes each user's own role-scoped numbers. It explains and summarizes; it never decides or changes records.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201168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09560" y="2011680"/>
            <a:ext cx="3383280" cy="109728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knowledge 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315468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upload the documents the assistant is grounded in — chunked, embedded, and indexed — so it can cite only approved sources. Observability measures whether answers stay grounded.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builds on the same access scoping and the same self-hostable, in-boundary AI stack.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THE TTB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applications come from, where decisions 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40280"/>
            <a:ext cx="2377440" cy="9144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via COLAs Online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27248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11880" y="224028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240280"/>
            <a:ext cx="23774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COLAs Online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07608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92240" y="224028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240280"/>
            <a:ext cx="2377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triage · agent decides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87968" y="2651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72600" y="224028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2240280"/>
            <a:ext cx="23774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COLAs Online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applicant · publishes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11480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EEF3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5196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In-boundary by design.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 reads applications from and writes dispositions back to COLAs Online, all inside the agency’s Azure boundary — never the public internet.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no email: COLAs Online owns all applicant notification and Public Registry publishing.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boring, appropriately scoped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99232" y="19659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05272" y="19659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97880" y="196596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9788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9659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03920" y="196596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035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behind a swappable adapter  ·  mock adapter for offline dev &amp; tests  ·  a thin work router for the exception pool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EAF0FB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82219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3685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end-to-end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17320" y="40142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one repo — Next.js front and back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85800" y="4544568"/>
            <a:ext cx="548640" cy="548640"/>
          </a:xfrm>
          <a:prstGeom prst="ellipse">
            <a:avLst/>
          </a:prstGeom>
          <a:solidFill>
            <a:srgbClr val="EAF0FB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6344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173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(default)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417320" y="48554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Accuracy-safe, swappable by config; one call per application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385816"/>
            <a:ext cx="548640" cy="548640"/>
          </a:xfrm>
          <a:prstGeom prst="ellipse">
            <a:avLst/>
          </a:prstGeom>
          <a:solidFill>
            <a:srgbClr val="EAF0FB"/>
          </a:solidFill>
          <a:ln w="12700">
            <a:solidFill>
              <a:srgbClr val="E3E8E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504688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17320" y="5367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JSONB (production)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417320" y="5696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persists nothing; one always-warm container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accountability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743200"/>
            <a:ext cx="2286000" cy="914400"/>
          </a:xfrm>
          <a:prstGeom prst="rect">
            <a:avLst/>
          </a:prstGeom>
          <a:solidFill>
            <a:srgbClr val="12233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37560" y="3200400"/>
            <a:ext cx="640080" cy="-850392"/>
          </a:xfrm>
          <a:prstGeom prst="line">
            <a:avLst/>
          </a:prstGeom>
          <a:noFill/>
          <a:ln w="19050">
            <a:solidFill>
              <a:srgbClr val="8A9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196596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3200400"/>
            <a:ext cx="640080" cy="384048"/>
          </a:xfrm>
          <a:prstGeom prst="line">
            <a:avLst/>
          </a:prstGeom>
          <a:noFill/>
          <a:ln w="19050">
            <a:solidFill>
              <a:srgbClr val="8A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776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3200400"/>
            <a:ext cx="640080" cy="1618488"/>
          </a:xfrm>
          <a:prstGeom prst="line">
            <a:avLst/>
          </a:prstGeom>
          <a:noFill/>
          <a:ln w="19050">
            <a:solidFill>
              <a:srgbClr val="8A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443484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77640" y="4434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in the prototype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06640" y="23591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PII; IT’s instruction — nothing is stored.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JSONB; images in object storage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06640" y="34564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where it matters, flexibility where it helps.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disposition &amp; audit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06640" y="4553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unalterable record — the property a regulatory system most needs.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we built within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latency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acceptance bar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760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AA, older users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87452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2103120"/>
            <a:ext cx="640080" cy="640080"/>
          </a:xfrm>
          <a:prstGeom prst="ellipse">
            <a:avLst/>
          </a:prstGeom>
          <a:solidFill>
            <a:srgbClr val="1C3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In-boundary model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550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blocks external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187452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52560" y="210312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2258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stored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525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by design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" y="388620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0584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as testable acceptance criteria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005840" y="44348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registry pair → all green   ·   ABV mismatch → flagged on ABV   ·   title-case warning → flagged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‘STONE’S THROW’ vs ‘Stone’s Throw’ → match   ·   blurry image → needs-a-better-image, not an error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one a real trade-off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7899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703320"/>
                <a:gridCol w="3703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accepted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reads, code decides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Judgment stays testable &amp; tunable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glue code than letting the model judge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computed in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self-reported confidence is miscalibrated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it from match margin + legibility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Full-resolution 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the tiny government-warning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tokens &amp; latency than downscaling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Pull-based exception 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Self-balances; only exceptions are routed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specialized push assignment by 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persistence (prototype)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PII; IT required nothing stored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state lost on restart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ADRs in the design docs.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pays for itself, many times over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9202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thousands per year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0" y="196596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965960"/>
            <a:ext cx="91440" cy="960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075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~$3,800 / yr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675120" y="2551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at full national volume (default model)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306324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3063240"/>
            <a:ext cx="91440" cy="960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172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$690k–$960k / yr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675120" y="36484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labour saved — about 7 agents’ capacity freed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416052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4160520"/>
            <a:ext cx="91440" cy="9601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4270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675120" y="47457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 as a share of the benefit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savings depend on adoption, accuracy, and the agency’s auto-clear policy.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boundaries, a credible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3383280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· Prototype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249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flow + three-lane triage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agent &amp; admin dashboards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041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Specialists, assistant &amp; knowledge 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700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nothing stored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74520"/>
            <a:ext cx="33832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7249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handling at peak season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Imperfect-image robustness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4041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hardening to &lt;5s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700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&amp; observability harness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09560" y="187452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7B879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09560" y="1874520"/>
            <a:ext cx="3383280" cy="109728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 · Production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27249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In-boundary model on Azure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383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ingestion + write-back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40416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audit, datastore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4700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observability +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Verification · Approach &amp;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" y="24688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set of eyes that does the boring matching in seconds — so agents focus on judgment.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first:  </a:t>
            </a:r>
            <a:pPr indent="0" marL="0">
              <a:buNone/>
            </a:pPr>
            <a:r>
              <a:rPr lang="en-US" sz="15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single-application verify flow — then batch and imperfect-image handling.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Alcohol Label Verification</dc:title>
  <dc:subject>PptxGenJS Presentation</dc:subject>
  <dc:creator>Alex</dc:creator>
  <cp:lastModifiedBy>Alex</cp:lastModifiedBy>
  <cp:revision>1</cp:revision>
  <dcterms:created xsi:type="dcterms:W3CDTF">2026-06-12T16:56:49Z</dcterms:created>
  <dcterms:modified xsi:type="dcterms:W3CDTF">2026-06-12T16:56:49Z</dcterms:modified>
</cp:coreProperties>
</file>